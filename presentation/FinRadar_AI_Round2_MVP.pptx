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1675"/>
  <p:notesSz cx="6858000" cy="12191675"/>
  <p:embeddedFontLst>
    <p:embeddedFont>
      <p:font typeface="Alegreya SemiBold"/>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gQQrl5WN66aK+W95IO2vg2Z+s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AlegreyaSemiBold-regular.fntdata"/><Relationship Id="rId14" Type="http://schemas.openxmlformats.org/officeDocument/2006/relationships/slide" Target="slides/slide10.xml"/><Relationship Id="rId17" Type="http://schemas.openxmlformats.org/officeDocument/2006/relationships/font" Target="fonts/AlegreyaSemiBold-italic.fntdata"/><Relationship Id="rId16" Type="http://schemas.openxmlformats.org/officeDocument/2006/relationships/font" Target="fonts/AlegreyaSemiBold-bold.fntdata"/><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font" Target="fonts/AlegreyaSemiBold-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about 30 seconds.</a:t>
            </a:r>
            <a:br>
              <a:rPr lang="en-US"/>
            </a:br>
            <a:br>
              <a:rPr lang="en-US"/>
            </a:br>
            <a:r>
              <a:rPr lang="en-US"/>
              <a:t>Good morning Chleo. Today I am proposing FinRadar AI: an AI-assisted financial-news intelligence solution for your analyst team. The key principle is simple: AI assists, humans decide. I will focus on the business problem, the working MVP, the evidence, the risks, and the controlled pilot decision I recommend.</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about 1 minute.</a:t>
            </a:r>
            <a:br>
              <a:rPr lang="en-US"/>
            </a:br>
            <a:br>
              <a:rPr lang="en-US"/>
            </a:br>
            <a:r>
              <a:rPr lang="en-US"/>
              <a:t>Chleo, the problem is not that your analysts cannot find news. They already have access to feeds and market tools. The problem is that every article still needs human triage: what company is involved, what is the topic, what is the sentiment, does it create regulatory or legal risk, and does it require immediate attention. This consumes time, creates inconsistency, and can make important risk signals easier to miss.</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about 1 minute.</a:t>
            </a:r>
            <a:br>
              <a:rPr lang="en-US"/>
            </a:br>
            <a:br>
              <a:rPr lang="en-US"/>
            </a:br>
            <a:r>
              <a:rPr lang="en-US"/>
              <a:t>The solution I am proposing is an intelligence layer. FinRadar does not need to replace your current portal or market-data subscriptions. It can sit between the public news feed and analyst review. It uses natural-language analysis to classify and summarise news, then deterministic rules determine whether something should be escalated. This is designed to directly address transparency: the output fields are visible, the routing rule is visible, and the analyst stays in control.</a:t>
            </a:r>
            <a:endParaRPr/>
          </a:p>
        </p:txBody>
      </p:sp>
      <p:sp>
        <p:nvSpPr>
          <p:cNvPr id="61" name="Google Shape;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about 2 minutes including the recording.</a:t>
            </a:r>
            <a:br>
              <a:rPr lang="en-US"/>
            </a:br>
            <a:br>
              <a:rPr lang="en-US"/>
            </a:br>
            <a:r>
              <a:rPr lang="en-US"/>
              <a:t>This is where I play or refer to the n8n recording. I show the whole workflow, point to the input, open the GPT-5 Mini analysis node, show the structured output, then open the IF node. The key message for Chleo is transparency: the AI produces the classification, but the routing logic is explicit. Round 1 proved feasibility. Round 2 turned that proof into a working analyst-facing MVP.</a:t>
            </a:r>
            <a:endParaRPr/>
          </a:p>
        </p:txBody>
      </p:sp>
      <p:sp>
        <p:nvSpPr>
          <p:cNvPr id="96" name="Google Shape;9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about 1 minute.</a:t>
            </a:r>
            <a:br>
              <a:rPr lang="en-US"/>
            </a:br>
            <a:br>
              <a:rPr lang="en-US"/>
            </a:br>
            <a:r>
              <a:rPr lang="en-US"/>
              <a:t>Chleo, the financial case is intentionally presented as a planning estimate. The base case estimates around 47.5 thousand euros in annual value, with about 20.1 thousand euros upfront and 8.8 thousand euros in ongoing annual cost. That gives a 64.4 percent estimated 12-month ROI, 206 percent over 36 months, and a break-even point around 6.2 months. These are not realised savings. The pilot would validate the time saved and the reliability of the workflow.</a:t>
            </a:r>
            <a:endParaRPr/>
          </a:p>
        </p:txBody>
      </p:sp>
      <p:sp>
        <p:nvSpPr>
          <p:cNvPr id="121" name="Google Shape;12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about 1 minute.</a:t>
            </a:r>
            <a:br>
              <a:rPr lang="en-US"/>
            </a:br>
            <a:br>
              <a:rPr lang="en-US"/>
            </a:br>
            <a:r>
              <a:rPr lang="en-US"/>
              <a:t>The main risks are not ignored. First, AI output can be wrong, so high-risk outputs require human review and deterministic routing. Second, the compliance position could change if the scope expands to client portfolios or personalised advice, so the pilot must keep a clear scope. Third, external APIs can fail, so the MVP includes a manual fallback, while production would require stronger vendor controls and monitoring. These risks are manageable, but not if we skip governance.</a:t>
            </a:r>
            <a:endParaRPr/>
          </a:p>
        </p:txBody>
      </p:sp>
      <p:sp>
        <p:nvSpPr>
          <p:cNvPr id="152" name="Google Shape;15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about 1 minute.</a:t>
            </a:r>
            <a:br>
              <a:rPr lang="en-US"/>
            </a:br>
            <a:br>
              <a:rPr lang="en-US"/>
            </a:br>
            <a:r>
              <a:rPr lang="en-US"/>
              <a:t>For the legal and compliance audience, the key point is scope. Under its current intended purpose, FinRadar is assessed as non-high-risk because it supports news triage and human review rather than making autonomous financial decisions. For GDPR, the system uses public financial information, but public news can still contain personal data, so the documentation covers data flows, legal basis, retention, rights and providers. This is a preliminary capstone assessment, not a legal certification, and production would require formal review.</a:t>
            </a:r>
            <a:endParaRPr/>
          </a:p>
        </p:txBody>
      </p:sp>
      <p:sp>
        <p:nvSpPr>
          <p:cNvPr id="184" name="Google Shape;18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about 1 minute.</a:t>
            </a:r>
            <a:br>
              <a:rPr lang="en-US"/>
            </a:br>
            <a:br>
              <a:rPr lang="en-US"/>
            </a:br>
            <a:r>
              <a:rPr lang="en-US"/>
              <a:t>Strategically, I would not recommend jumping into full production. The right path is POC, working MVP, 60-day analyst pilot, then a production decision. The pilot should have measurable greenlight criteria: time saved, priority and risk accuracy, escalation reliability, processing reliability, and zero critical compliance incidents. Commercially, this could start as an internal tool and later become a SaaS or managed service for investment research teams.</a:t>
            </a:r>
            <a:endParaRPr/>
          </a:p>
        </p:txBody>
      </p:sp>
      <p:sp>
        <p:nvSpPr>
          <p:cNvPr id="208" name="Google Shape;20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about 1 to 2 minutes.</a:t>
            </a:r>
            <a:br>
              <a:rPr lang="en-US"/>
            </a:br>
            <a:br>
              <a:rPr lang="en-US"/>
            </a:br>
            <a:r>
              <a:rPr lang="en-US"/>
              <a:t>This is the MVP demo slide. I should show live news retrieval, then article selection, then the structured AI result. If time is tight, I can use these screenshots instead of a live run. Chleo, this shows the upgrade from POC to product. The analyst searches a ticker, chooses which article to review, and then explicitly runs AI analysis. The evaluation results are also important: business area, priority, risk type, escalation and consistency all support a controlled pilot. Strict target accuracy is lower due to exact string matching, so I present this honestly as pilot evidence, not a production guarantee.</a:t>
            </a:r>
            <a:endParaRPr/>
          </a:p>
        </p:txBody>
      </p:sp>
      <p:sp>
        <p:nvSpPr>
          <p:cNvPr id="241" name="Google Shape;24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about 30 seconds.</a:t>
            </a:r>
            <a:br>
              <a:rPr lang="en-US"/>
            </a:br>
            <a:br>
              <a:rPr lang="en-US"/>
            </a:br>
            <a:r>
              <a:rPr lang="en-US"/>
              <a:t>Chleo, my recommendation is clear: proceed to a controlled 60-day analyst pilot, not autonomous production deployment. FinRadar can reduce repetitive triage and improve visibility of potentially important risk information, but the pilot should validate ROI, accuracy, operational adoption and compliance controls before any full rollout. The principle remains: AI assists, humans decide.</a:t>
            </a:r>
            <a:endParaRPr/>
          </a:p>
        </p:txBody>
      </p:sp>
      <p:sp>
        <p:nvSpPr>
          <p:cNvPr id="274" name="Google Shape;27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4.png"/><Relationship Id="rId6" Type="http://schemas.openxmlformats.org/officeDocument/2006/relationships/image" Target="../media/image25.png"/><Relationship Id="rId7"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15" name="Shape 15"/>
        <p:cNvGrpSpPr/>
        <p:nvPr/>
      </p:nvGrpSpPr>
      <p:grpSpPr>
        <a:xfrm>
          <a:off x="0" y="0"/>
          <a:ext cx="0" cy="0"/>
          <a:chOff x="0" y="0"/>
          <a:chExt cx="0" cy="0"/>
        </a:xfrm>
      </p:grpSpPr>
      <p:sp>
        <p:nvSpPr>
          <p:cNvPr id="16" name="Google Shape;16;p1"/>
          <p:cNvSpPr/>
          <p:nvPr/>
        </p:nvSpPr>
        <p:spPr>
          <a:xfrm>
            <a:off x="530350" y="438887"/>
            <a:ext cx="1015200" cy="492300"/>
          </a:xfrm>
          <a:prstGeom prst="roundRect">
            <a:avLst>
              <a:gd fmla="val 15385" name="adj"/>
            </a:avLst>
          </a:prstGeom>
          <a:solidFill>
            <a:srgbClr val="071B27">
              <a:alpha val="94902"/>
            </a:srgbClr>
          </a:solidFill>
          <a:ln cap="flat" cmpd="sng" w="9525">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603500" y="489191"/>
            <a:ext cx="759600" cy="3657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1D7F7"/>
              </a:buClr>
              <a:buSzPts val="640"/>
              <a:buFont typeface="Arial"/>
              <a:buNone/>
            </a:pPr>
            <a:r>
              <a:rPr b="1" i="0" lang="en-US" sz="640" u="none" cap="none" strike="noStrike">
                <a:solidFill>
                  <a:srgbClr val="31D7F7"/>
                </a:solidFill>
                <a:latin typeface="Arial"/>
                <a:ea typeface="Arial"/>
                <a:cs typeface="Arial"/>
                <a:sym typeface="Arial"/>
              </a:rPr>
              <a:t>ROUND 2</a:t>
            </a:r>
            <a:endParaRPr b="0" i="0" sz="640" u="none" cap="none" strike="noStrike">
              <a:solidFill>
                <a:schemeClr val="dk1"/>
              </a:solidFill>
              <a:latin typeface="Arial"/>
              <a:ea typeface="Arial"/>
              <a:cs typeface="Arial"/>
              <a:sym typeface="Arial"/>
            </a:endParaRPr>
          </a:p>
        </p:txBody>
      </p:sp>
      <p:sp>
        <p:nvSpPr>
          <p:cNvPr id="18" name="Google Shape;18;p1"/>
          <p:cNvSpPr/>
          <p:nvPr/>
        </p:nvSpPr>
        <p:spPr>
          <a:xfrm>
            <a:off x="530352" y="1417320"/>
            <a:ext cx="4480560" cy="5486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3800"/>
              <a:buFont typeface="Arial"/>
              <a:buNone/>
            </a:pPr>
            <a:r>
              <a:rPr i="0" lang="en-US" sz="6000" u="none" cap="none" strike="noStrike">
                <a:solidFill>
                  <a:srgbClr val="F4FAFF"/>
                </a:solidFill>
                <a:latin typeface="Alegreya SemiBold"/>
                <a:ea typeface="Alegreya SemiBold"/>
                <a:cs typeface="Alegreya SemiBold"/>
                <a:sym typeface="Alegreya SemiBold"/>
              </a:rPr>
              <a:t>FinRadar AI</a:t>
            </a:r>
            <a:endParaRPr i="0" sz="6000" u="none" cap="none" strike="noStrike">
              <a:solidFill>
                <a:schemeClr val="dk1"/>
              </a:solidFill>
              <a:latin typeface="Alegreya SemiBold"/>
              <a:ea typeface="Alegreya SemiBold"/>
              <a:cs typeface="Alegreya SemiBold"/>
              <a:sym typeface="Alegreya SemiBold"/>
            </a:endParaRPr>
          </a:p>
        </p:txBody>
      </p:sp>
      <p:cxnSp>
        <p:nvCxnSpPr>
          <p:cNvPr id="19" name="Google Shape;19;p1"/>
          <p:cNvCxnSpPr/>
          <p:nvPr/>
        </p:nvCxnSpPr>
        <p:spPr>
          <a:xfrm>
            <a:off x="530352" y="2148840"/>
            <a:ext cx="640080" cy="0"/>
          </a:xfrm>
          <a:prstGeom prst="straightConnector1">
            <a:avLst/>
          </a:prstGeom>
          <a:noFill/>
          <a:ln cap="flat" cmpd="sng" w="38100">
            <a:solidFill>
              <a:srgbClr val="31D7F7"/>
            </a:solidFill>
            <a:prstDash val="solid"/>
            <a:round/>
            <a:headEnd len="sm" w="sm" type="none"/>
            <a:tailEnd len="sm" w="sm" type="none"/>
          </a:ln>
        </p:spPr>
      </p:cxnSp>
      <p:sp>
        <p:nvSpPr>
          <p:cNvPr id="20" name="Google Shape;20;p1"/>
          <p:cNvSpPr/>
          <p:nvPr/>
        </p:nvSpPr>
        <p:spPr>
          <a:xfrm>
            <a:off x="530352" y="2359152"/>
            <a:ext cx="457200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550"/>
              <a:buFont typeface="Arial"/>
              <a:buNone/>
            </a:pPr>
            <a:r>
              <a:rPr i="0" lang="en-US" sz="1550" u="none" cap="none" strike="noStrike">
                <a:solidFill>
                  <a:srgbClr val="A7BED1"/>
                </a:solidFill>
                <a:latin typeface="Alegreya SemiBold"/>
                <a:ea typeface="Alegreya SemiBold"/>
                <a:cs typeface="Alegreya SemiBold"/>
                <a:sym typeface="Alegreya SemiBold"/>
              </a:rPr>
              <a:t>Financial News Intelligence for Analysts</a:t>
            </a:r>
            <a:endParaRPr i="0" sz="1550" u="none" cap="none" strike="noStrike">
              <a:solidFill>
                <a:schemeClr val="dk1"/>
              </a:solidFill>
              <a:latin typeface="Alegreya SemiBold"/>
              <a:ea typeface="Alegreya SemiBold"/>
              <a:cs typeface="Alegreya SemiBold"/>
              <a:sym typeface="Alegreya SemiBold"/>
            </a:endParaRPr>
          </a:p>
        </p:txBody>
      </p:sp>
      <p:sp>
        <p:nvSpPr>
          <p:cNvPr id="21" name="Google Shape;21;p1"/>
          <p:cNvSpPr/>
          <p:nvPr/>
        </p:nvSpPr>
        <p:spPr>
          <a:xfrm>
            <a:off x="530350" y="4413094"/>
            <a:ext cx="3017400" cy="585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150"/>
              <a:buFont typeface="Arial"/>
              <a:buNone/>
            </a:pPr>
            <a:r>
              <a:rPr b="0" i="0" lang="en-US" sz="1800" u="none" cap="none" strike="noStrike">
                <a:solidFill>
                  <a:srgbClr val="A7BED1"/>
                </a:solidFill>
                <a:latin typeface="Arial"/>
                <a:ea typeface="Arial"/>
                <a:cs typeface="Arial"/>
                <a:sym typeface="Arial"/>
              </a:rPr>
              <a:t>Prepared by Parisa Dehghani</a:t>
            </a:r>
            <a:endParaRPr b="0" i="0" sz="1800" u="none" cap="none" strike="noStrike">
              <a:solidFill>
                <a:schemeClr val="dk1"/>
              </a:solidFill>
              <a:latin typeface="Arial"/>
              <a:ea typeface="Arial"/>
              <a:cs typeface="Arial"/>
              <a:sym typeface="Arial"/>
            </a:endParaRPr>
          </a:p>
        </p:txBody>
      </p:sp>
      <p:sp>
        <p:nvSpPr>
          <p:cNvPr id="22" name="Google Shape;22;p1"/>
          <p:cNvSpPr/>
          <p:nvPr/>
        </p:nvSpPr>
        <p:spPr>
          <a:xfrm>
            <a:off x="530350" y="4374351"/>
            <a:ext cx="3749100" cy="1203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150"/>
              <a:buFont typeface="Arial"/>
              <a:buNone/>
            </a:pPr>
            <a:r>
              <a:rPr lang="en-US" sz="1600">
                <a:solidFill>
                  <a:srgbClr val="A7BED1"/>
                </a:solidFill>
                <a:latin typeface="Alegreya SemiBold"/>
                <a:ea typeface="Alegreya SemiBold"/>
                <a:cs typeface="Alegreya SemiBold"/>
                <a:sym typeface="Alegreya SemiBold"/>
              </a:rPr>
              <a:t> </a:t>
            </a:r>
            <a:r>
              <a:rPr i="0" lang="en-US" sz="1600" u="none" cap="none" strike="noStrike">
                <a:solidFill>
                  <a:srgbClr val="A7BED1"/>
                </a:solidFill>
                <a:latin typeface="Alegreya SemiBold"/>
                <a:ea typeface="Alegreya SemiBold"/>
                <a:cs typeface="Alegreya SemiBold"/>
                <a:sym typeface="Alegreya SemiBold"/>
              </a:rPr>
              <a:t>For Chleo and the decision panel</a:t>
            </a:r>
            <a:endParaRPr i="0" sz="1600" u="none" cap="none" strike="noStrike">
              <a:solidFill>
                <a:schemeClr val="dk1"/>
              </a:solidFill>
              <a:latin typeface="Alegreya SemiBold"/>
              <a:ea typeface="Alegreya SemiBold"/>
              <a:cs typeface="Alegreya SemiBold"/>
              <a:sym typeface="Alegreya SemiBold"/>
            </a:endParaRPr>
          </a:p>
        </p:txBody>
      </p:sp>
      <p:sp>
        <p:nvSpPr>
          <p:cNvPr id="23" name="Google Shape;23;p1"/>
          <p:cNvSpPr/>
          <p:nvPr/>
        </p:nvSpPr>
        <p:spPr>
          <a:xfrm>
            <a:off x="530352" y="5824728"/>
            <a:ext cx="4663440" cy="3657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1900"/>
              <a:buFont typeface="Arial"/>
              <a:buNone/>
            </a:pPr>
            <a:r>
              <a:rPr b="1" i="0" lang="en-US" sz="1900" u="none" cap="none" strike="noStrike">
                <a:solidFill>
                  <a:srgbClr val="31D7F7"/>
                </a:solidFill>
                <a:latin typeface="Arial"/>
                <a:ea typeface="Arial"/>
                <a:cs typeface="Arial"/>
                <a:sym typeface="Arial"/>
              </a:rPr>
              <a:t>AI Assists - Humans Decide</a:t>
            </a:r>
            <a:endParaRPr b="0" i="0" sz="1900" u="none" cap="none" strike="noStrike">
              <a:solidFill>
                <a:schemeClr val="dk1"/>
              </a:solidFill>
              <a:latin typeface="Arial"/>
              <a:ea typeface="Arial"/>
              <a:cs typeface="Arial"/>
              <a:sym typeface="Arial"/>
            </a:endParaRPr>
          </a:p>
        </p:txBody>
      </p:sp>
      <p:sp>
        <p:nvSpPr>
          <p:cNvPr id="24" name="Google Shape;24;p1"/>
          <p:cNvSpPr/>
          <p:nvPr/>
        </p:nvSpPr>
        <p:spPr>
          <a:xfrm>
            <a:off x="5806440" y="731520"/>
            <a:ext cx="5440680" cy="5166360"/>
          </a:xfrm>
          <a:prstGeom prst="roundRect">
            <a:avLst>
              <a:gd fmla="val 1416" name="adj"/>
            </a:avLst>
          </a:prstGeom>
          <a:solidFill>
            <a:srgbClr val="0A2230">
              <a:alpha val="98039"/>
            </a:srgbClr>
          </a:solidFill>
          <a:ln cap="flat" cmpd="sng" w="12700">
            <a:solidFill>
              <a:srgbClr val="0E4558"/>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finradar_logo_transparent.png" id="25" name="Google Shape;25;p1"/>
          <p:cNvPicPr preferRelativeResize="0"/>
          <p:nvPr/>
        </p:nvPicPr>
        <p:blipFill rotWithShape="1">
          <a:blip r:embed="rId3">
            <a:alphaModFix/>
          </a:blip>
          <a:srcRect b="0" l="0" r="0" t="0"/>
          <a:stretch/>
        </p:blipFill>
        <p:spPr>
          <a:xfrm>
            <a:off x="6446520" y="1078992"/>
            <a:ext cx="4114800" cy="4114800"/>
          </a:xfrm>
          <a:prstGeom prst="rect">
            <a:avLst/>
          </a:prstGeom>
          <a:noFill/>
          <a:ln>
            <a:noFill/>
          </a:ln>
        </p:spPr>
      </p:pic>
      <p:sp>
        <p:nvSpPr>
          <p:cNvPr id="26" name="Google Shape;26;p1"/>
          <p:cNvSpPr/>
          <p:nvPr/>
        </p:nvSpPr>
        <p:spPr>
          <a:xfrm>
            <a:off x="6080760" y="5321808"/>
            <a:ext cx="4892040" cy="2560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A7BED1"/>
              </a:buClr>
              <a:buSzPts val="1150"/>
              <a:buFont typeface="Arial"/>
              <a:buNone/>
            </a:pPr>
            <a:r>
              <a:rPr b="0" i="0" lang="en-US" sz="1150" u="none" cap="none" strike="noStrike">
                <a:solidFill>
                  <a:srgbClr val="A7BED1"/>
                </a:solidFill>
                <a:latin typeface="Arial"/>
                <a:ea typeface="Arial"/>
                <a:cs typeface="Arial"/>
                <a:sym typeface="Arial"/>
              </a:rPr>
              <a:t>Use case: Financial News Triage &amp; Risk / Regulatory Alerting</a:t>
            </a:r>
            <a:endParaRPr b="0" i="0" sz="1150" u="none" cap="none" strike="noStrike">
              <a:solidFill>
                <a:schemeClr val="dk1"/>
              </a:solidFill>
              <a:latin typeface="Arial"/>
              <a:ea typeface="Arial"/>
              <a:cs typeface="Arial"/>
              <a:sym typeface="Arial"/>
            </a:endParaRPr>
          </a:p>
        </p:txBody>
      </p:sp>
      <p:cxnSp>
        <p:nvCxnSpPr>
          <p:cNvPr id="27" name="Google Shape;27;p1"/>
          <p:cNvCxnSpPr/>
          <p:nvPr/>
        </p:nvCxnSpPr>
        <p:spPr>
          <a:xfrm>
            <a:off x="530352" y="6473952"/>
            <a:ext cx="11219688" cy="0"/>
          </a:xfrm>
          <a:prstGeom prst="straightConnector1">
            <a:avLst/>
          </a:prstGeom>
          <a:noFill/>
          <a:ln cap="flat" cmpd="sng" w="12700">
            <a:solidFill>
              <a:srgbClr val="173545"/>
            </a:solidFill>
            <a:prstDash val="solid"/>
            <a:round/>
            <a:headEnd len="sm" w="sm" type="none"/>
            <a:tailEnd len="sm" w="sm" type="none"/>
          </a:ln>
        </p:spPr>
      </p:cxnSp>
      <p:sp>
        <p:nvSpPr>
          <p:cNvPr id="28" name="Google Shape;28;p1"/>
          <p:cNvSpPr/>
          <p:nvPr/>
        </p:nvSpPr>
        <p:spPr>
          <a:xfrm>
            <a:off x="530352" y="6528816"/>
            <a:ext cx="1737360" cy="1645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6899D"/>
              </a:buClr>
              <a:buSzPts val="850"/>
              <a:buFont typeface="Arial"/>
              <a:buNone/>
            </a:pPr>
            <a:r>
              <a:rPr b="0" i="0" lang="en-US" sz="850" u="none" cap="none" strike="noStrike">
                <a:solidFill>
                  <a:srgbClr val="66899D"/>
                </a:solidFill>
                <a:latin typeface="Arial"/>
                <a:ea typeface="Arial"/>
                <a:cs typeface="Arial"/>
                <a:sym typeface="Arial"/>
              </a:rPr>
              <a:t>Capstone Round 2</a:t>
            </a:r>
            <a:endParaRPr b="0" i="0" sz="850" u="none" cap="none" strike="noStrike">
              <a:solidFill>
                <a:schemeClr val="dk1"/>
              </a:solidFill>
              <a:latin typeface="Arial"/>
              <a:ea typeface="Arial"/>
              <a:cs typeface="Arial"/>
              <a:sym typeface="Arial"/>
            </a:endParaRPr>
          </a:p>
        </p:txBody>
      </p:sp>
      <p:sp>
        <p:nvSpPr>
          <p:cNvPr id="29" name="Google Shape;29;p1"/>
          <p:cNvSpPr/>
          <p:nvPr/>
        </p:nvSpPr>
        <p:spPr>
          <a:xfrm>
            <a:off x="11475720" y="6528816"/>
            <a:ext cx="320040" cy="164592"/>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66899D"/>
              </a:buClr>
              <a:buSzPts val="850"/>
              <a:buFont typeface="Arial"/>
              <a:buNone/>
            </a:pPr>
            <a:r>
              <a:rPr b="0" i="0" lang="en-US" sz="850" u="none" cap="none" strike="noStrike">
                <a:solidFill>
                  <a:srgbClr val="66899D"/>
                </a:solidFill>
                <a:latin typeface="Arial"/>
                <a:ea typeface="Arial"/>
                <a:cs typeface="Arial"/>
                <a:sym typeface="Arial"/>
              </a:rPr>
              <a:t>01</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34" name="Shape 34"/>
        <p:cNvGrpSpPr/>
        <p:nvPr/>
      </p:nvGrpSpPr>
      <p:grpSpPr>
        <a:xfrm>
          <a:off x="0" y="0"/>
          <a:ext cx="0" cy="0"/>
          <a:chOff x="0" y="0"/>
          <a:chExt cx="0" cy="0"/>
        </a:xfrm>
      </p:grpSpPr>
      <p:pic>
        <p:nvPicPr>
          <p:cNvPr descr="/mnt/data/finradar_logo_watermark_dark.png" id="35" name="Google Shape;35;p2"/>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36" name="Google Shape;36;p2"/>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950"/>
              <a:buFont typeface="Arial"/>
              <a:buNone/>
            </a:pPr>
            <a:r>
              <a:rPr b="1" i="0" lang="en-US" sz="950" u="none" cap="none" strike="noStrike">
                <a:solidFill>
                  <a:srgbClr val="31D7F7"/>
                </a:solidFill>
                <a:latin typeface="Arial"/>
                <a:ea typeface="Arial"/>
                <a:cs typeface="Arial"/>
                <a:sym typeface="Arial"/>
              </a:rPr>
              <a:t>FinRadar AI | Round 2</a:t>
            </a:r>
            <a:endParaRPr b="0" i="0" sz="950" u="none" cap="none" strike="noStrike">
              <a:solidFill>
                <a:schemeClr val="dk1"/>
              </a:solidFill>
              <a:latin typeface="Arial"/>
              <a:ea typeface="Arial"/>
              <a:cs typeface="Arial"/>
              <a:sym typeface="Arial"/>
            </a:endParaRPr>
          </a:p>
        </p:txBody>
      </p:sp>
      <p:pic>
        <p:nvPicPr>
          <p:cNvPr descr="/mnt/data/ironhack-logo.png" id="37" name="Google Shape;37;p2"/>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38" name="Google Shape;38;p2"/>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39" name="Google Shape;39;p2"/>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spcBef>
                <a:spcPts val="0"/>
              </a:spcBef>
              <a:spcAft>
                <a:spcPts val="0"/>
              </a:spcAft>
              <a:buClr>
                <a:srgbClr val="A7BED1"/>
              </a:buClr>
              <a:buSzPts val="900"/>
              <a:buFont typeface="Arial"/>
              <a:buNone/>
            </a:pPr>
            <a:r>
              <a:rPr b="0" i="0" lang="en-US" sz="900" u="none" cap="none" strike="noStrike">
                <a:solidFill>
                  <a:srgbClr val="A7BED1"/>
                </a:solidFill>
                <a:latin typeface="Arial"/>
                <a:ea typeface="Arial"/>
                <a:cs typeface="Arial"/>
                <a:sym typeface="Arial"/>
              </a:rPr>
              <a:t>AI Assists - Humans Decide</a:t>
            </a:r>
            <a:endParaRPr b="0" i="0" sz="900" u="none" cap="none" strike="noStrike">
              <a:solidFill>
                <a:schemeClr val="dk1"/>
              </a:solidFill>
              <a:latin typeface="Arial"/>
              <a:ea typeface="Arial"/>
              <a:cs typeface="Arial"/>
              <a:sym typeface="Arial"/>
            </a:endParaRPr>
          </a:p>
        </p:txBody>
      </p:sp>
      <p:sp>
        <p:nvSpPr>
          <p:cNvPr id="40" name="Google Shape;40;p2"/>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spcBef>
                <a:spcPts val="0"/>
              </a:spcBef>
              <a:spcAft>
                <a:spcPts val="0"/>
              </a:spcAft>
              <a:buClr>
                <a:srgbClr val="A7BED1"/>
              </a:buClr>
              <a:buSzPts val="900"/>
              <a:buFont typeface="Arial"/>
              <a:buNone/>
            </a:pPr>
            <a:r>
              <a:rPr b="0" i="0" lang="en-US" sz="900" u="none" cap="none" strike="noStrike">
                <a:solidFill>
                  <a:srgbClr val="A7BED1"/>
                </a:solidFill>
                <a:latin typeface="Arial"/>
                <a:ea typeface="Arial"/>
                <a:cs typeface="Arial"/>
                <a:sym typeface="Arial"/>
              </a:rPr>
              <a:t>02</a:t>
            </a:r>
            <a:endParaRPr b="0" i="0" sz="900" u="none" cap="none" strike="noStrike">
              <a:solidFill>
                <a:schemeClr val="dk1"/>
              </a:solidFill>
              <a:latin typeface="Arial"/>
              <a:ea typeface="Arial"/>
              <a:cs typeface="Arial"/>
              <a:sym typeface="Arial"/>
            </a:endParaRPr>
          </a:p>
        </p:txBody>
      </p:sp>
      <p:sp>
        <p:nvSpPr>
          <p:cNvPr id="41" name="Google Shape;41;p2"/>
          <p:cNvSpPr/>
          <p:nvPr/>
        </p:nvSpPr>
        <p:spPr>
          <a:xfrm>
            <a:off x="647925" y="868674"/>
            <a:ext cx="9300900" cy="822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3000"/>
              <a:buFont typeface="Arial"/>
              <a:buNone/>
            </a:pPr>
            <a:r>
              <a:rPr b="1" i="0" lang="en-US" sz="3000" u="none" cap="none" strike="noStrike">
                <a:solidFill>
                  <a:srgbClr val="F4FAFF"/>
                </a:solidFill>
                <a:latin typeface="Arial"/>
                <a:ea typeface="Arial"/>
                <a:cs typeface="Arial"/>
                <a:sym typeface="Arial"/>
              </a:rPr>
              <a:t>The Problem: access to news is not the same as understanding</a:t>
            </a:r>
            <a:endParaRPr b="0" i="0" sz="3000" u="none" cap="none" strike="noStrike">
              <a:solidFill>
                <a:schemeClr val="dk1"/>
              </a:solidFill>
              <a:latin typeface="Arial"/>
              <a:ea typeface="Arial"/>
              <a:cs typeface="Arial"/>
              <a:sym typeface="Arial"/>
            </a:endParaRPr>
          </a:p>
        </p:txBody>
      </p:sp>
      <p:cxnSp>
        <p:nvCxnSpPr>
          <p:cNvPr id="42" name="Google Shape;42;p2"/>
          <p:cNvCxnSpPr/>
          <p:nvPr/>
        </p:nvCxnSpPr>
        <p:spPr>
          <a:xfrm>
            <a:off x="2487168" y="2834640"/>
            <a:ext cx="758952" cy="0"/>
          </a:xfrm>
          <a:prstGeom prst="straightConnector1">
            <a:avLst/>
          </a:prstGeom>
          <a:noFill/>
          <a:ln cap="flat" cmpd="sng" w="26650">
            <a:solidFill>
              <a:srgbClr val="1B83F6"/>
            </a:solidFill>
            <a:prstDash val="solid"/>
            <a:round/>
            <a:headEnd len="sm" w="sm" type="none"/>
            <a:tailEnd len="med" w="med" type="triangle"/>
          </a:ln>
        </p:spPr>
      </p:cxnSp>
      <p:cxnSp>
        <p:nvCxnSpPr>
          <p:cNvPr id="43" name="Google Shape;43;p2"/>
          <p:cNvCxnSpPr/>
          <p:nvPr/>
        </p:nvCxnSpPr>
        <p:spPr>
          <a:xfrm>
            <a:off x="4992624" y="2834640"/>
            <a:ext cx="768096" cy="0"/>
          </a:xfrm>
          <a:prstGeom prst="straightConnector1">
            <a:avLst/>
          </a:prstGeom>
          <a:noFill/>
          <a:ln cap="flat" cmpd="sng" w="26650">
            <a:solidFill>
              <a:srgbClr val="1B83F6"/>
            </a:solidFill>
            <a:prstDash val="solid"/>
            <a:round/>
            <a:headEnd len="sm" w="sm" type="none"/>
            <a:tailEnd len="med" w="med" type="triangle"/>
          </a:ln>
        </p:spPr>
      </p:cxnSp>
      <p:cxnSp>
        <p:nvCxnSpPr>
          <p:cNvPr id="44" name="Google Shape;44;p2"/>
          <p:cNvCxnSpPr/>
          <p:nvPr/>
        </p:nvCxnSpPr>
        <p:spPr>
          <a:xfrm>
            <a:off x="7571232" y="2834640"/>
            <a:ext cx="768096" cy="0"/>
          </a:xfrm>
          <a:prstGeom prst="straightConnector1">
            <a:avLst/>
          </a:prstGeom>
          <a:noFill/>
          <a:ln cap="flat" cmpd="sng" w="26650">
            <a:solidFill>
              <a:srgbClr val="FF5A64"/>
            </a:solidFill>
            <a:prstDash val="solid"/>
            <a:round/>
            <a:headEnd len="sm" w="sm" type="none"/>
            <a:tailEnd len="med" w="med" type="triangle"/>
          </a:ln>
        </p:spPr>
      </p:cxnSp>
      <p:sp>
        <p:nvSpPr>
          <p:cNvPr id="45" name="Google Shape;45;p2"/>
          <p:cNvSpPr/>
          <p:nvPr/>
        </p:nvSpPr>
        <p:spPr>
          <a:xfrm>
            <a:off x="713232" y="2423160"/>
            <a:ext cx="1783080" cy="822960"/>
          </a:xfrm>
          <a:prstGeom prst="roundRect">
            <a:avLst>
              <a:gd fmla="val 6667" name="adj"/>
            </a:avLst>
          </a:prstGeom>
          <a:solidFill>
            <a:srgbClr val="0E3144"/>
          </a:solidFill>
          <a:ln cap="flat" cmpd="sng" w="13950">
            <a:solidFill>
              <a:srgbClr val="1B8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786384" y="2514600"/>
            <a:ext cx="1636776" cy="64008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4FAFF"/>
              </a:buClr>
              <a:buSzPts val="1400"/>
              <a:buFont typeface="Arial"/>
              <a:buNone/>
            </a:pPr>
            <a:r>
              <a:rPr b="1" i="0" lang="en-US" sz="1400" u="none" cap="none" strike="noStrike">
                <a:solidFill>
                  <a:srgbClr val="F4FAFF"/>
                </a:solidFill>
                <a:latin typeface="Arial"/>
                <a:ea typeface="Arial"/>
                <a:cs typeface="Arial"/>
                <a:sym typeface="Arial"/>
              </a:rPr>
              <a:t>News</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4FAFF"/>
              </a:buClr>
              <a:buSzPts val="1400"/>
              <a:buFont typeface="Arial"/>
              <a:buNone/>
            </a:pPr>
            <a:r>
              <a:rPr b="1" i="0" lang="en-US" sz="1400" u="none" cap="none" strike="noStrike">
                <a:solidFill>
                  <a:srgbClr val="F4FAFF"/>
                </a:solidFill>
                <a:latin typeface="Arial"/>
                <a:ea typeface="Arial"/>
                <a:cs typeface="Arial"/>
                <a:sym typeface="Arial"/>
              </a:rPr>
              <a:t>overload</a:t>
            </a:r>
            <a:endParaRPr b="0" i="0" sz="1400" u="none" cap="none" strike="noStrike">
              <a:solidFill>
                <a:schemeClr val="dk1"/>
              </a:solidFill>
              <a:latin typeface="Arial"/>
              <a:ea typeface="Arial"/>
              <a:cs typeface="Arial"/>
              <a:sym typeface="Arial"/>
            </a:endParaRPr>
          </a:p>
        </p:txBody>
      </p:sp>
      <p:sp>
        <p:nvSpPr>
          <p:cNvPr id="47" name="Google Shape;47;p2"/>
          <p:cNvSpPr/>
          <p:nvPr/>
        </p:nvSpPr>
        <p:spPr>
          <a:xfrm>
            <a:off x="3291840" y="2423160"/>
            <a:ext cx="1783080" cy="822960"/>
          </a:xfrm>
          <a:prstGeom prst="roundRect">
            <a:avLst>
              <a:gd fmla="val 6667" name="adj"/>
            </a:avLst>
          </a:prstGeom>
          <a:solidFill>
            <a:srgbClr val="0A2230"/>
          </a:solidFill>
          <a:ln cap="flat" cmpd="sng" w="13950">
            <a:solidFill>
              <a:srgbClr val="2749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364992" y="2514600"/>
            <a:ext cx="1636776" cy="64008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4FAFF"/>
              </a:buClr>
              <a:buSzPts val="1400"/>
              <a:buFont typeface="Arial"/>
              <a:buNone/>
            </a:pPr>
            <a:r>
              <a:rPr b="1" i="0" lang="en-US" sz="1400" u="none" cap="none" strike="noStrike">
                <a:solidFill>
                  <a:srgbClr val="F4FAFF"/>
                </a:solidFill>
                <a:latin typeface="Arial"/>
                <a:ea typeface="Arial"/>
                <a:cs typeface="Arial"/>
                <a:sym typeface="Arial"/>
              </a:rPr>
              <a:t>Manual</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4FAFF"/>
              </a:buClr>
              <a:buSzPts val="1400"/>
              <a:buFont typeface="Arial"/>
              <a:buNone/>
            </a:pPr>
            <a:r>
              <a:rPr b="1" i="0" lang="en-US" sz="1400" u="none" cap="none" strike="noStrike">
                <a:solidFill>
                  <a:srgbClr val="F4FAFF"/>
                </a:solidFill>
                <a:latin typeface="Arial"/>
                <a:ea typeface="Arial"/>
                <a:cs typeface="Arial"/>
                <a:sym typeface="Arial"/>
              </a:rPr>
              <a:t>triage</a:t>
            </a:r>
            <a:endParaRPr b="0" i="0" sz="1400" u="none" cap="none" strike="noStrike">
              <a:solidFill>
                <a:schemeClr val="dk1"/>
              </a:solidFill>
              <a:latin typeface="Arial"/>
              <a:ea typeface="Arial"/>
              <a:cs typeface="Arial"/>
              <a:sym typeface="Arial"/>
            </a:endParaRPr>
          </a:p>
        </p:txBody>
      </p:sp>
      <p:sp>
        <p:nvSpPr>
          <p:cNvPr id="49" name="Google Shape;49;p2"/>
          <p:cNvSpPr/>
          <p:nvPr/>
        </p:nvSpPr>
        <p:spPr>
          <a:xfrm>
            <a:off x="5806440" y="2423160"/>
            <a:ext cx="1828800" cy="822960"/>
          </a:xfrm>
          <a:prstGeom prst="roundRect">
            <a:avLst>
              <a:gd fmla="val 6667" name="adj"/>
            </a:avLst>
          </a:prstGeom>
          <a:solidFill>
            <a:srgbClr val="2C2614"/>
          </a:solidFill>
          <a:ln cap="flat" cmpd="sng" w="13950">
            <a:solidFill>
              <a:srgbClr val="F6B8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5879592" y="2514600"/>
            <a:ext cx="1682496" cy="64008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4FAFF"/>
              </a:buClr>
              <a:buSzPts val="1320"/>
              <a:buFont typeface="Arial"/>
              <a:buNone/>
            </a:pPr>
            <a:r>
              <a:rPr b="1" i="0" lang="en-US" sz="1320" u="none" cap="none" strike="noStrike">
                <a:solidFill>
                  <a:srgbClr val="F4FAFF"/>
                </a:solidFill>
                <a:latin typeface="Arial"/>
                <a:ea typeface="Arial"/>
                <a:cs typeface="Arial"/>
                <a:sym typeface="Arial"/>
              </a:rPr>
              <a:t>Inconsistent</a:t>
            </a:r>
            <a:endParaRPr b="0" i="0" sz="132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4FAFF"/>
              </a:buClr>
              <a:buSzPts val="1320"/>
              <a:buFont typeface="Arial"/>
              <a:buNone/>
            </a:pPr>
            <a:r>
              <a:rPr b="1" i="0" lang="en-US" sz="1320" u="none" cap="none" strike="noStrike">
                <a:solidFill>
                  <a:srgbClr val="F4FAFF"/>
                </a:solidFill>
                <a:latin typeface="Arial"/>
                <a:ea typeface="Arial"/>
                <a:cs typeface="Arial"/>
                <a:sym typeface="Arial"/>
              </a:rPr>
              <a:t>priority</a:t>
            </a:r>
            <a:endParaRPr b="0" i="0" sz="1320" u="none" cap="none" strike="noStrike">
              <a:solidFill>
                <a:schemeClr val="dk1"/>
              </a:solidFill>
              <a:latin typeface="Arial"/>
              <a:ea typeface="Arial"/>
              <a:cs typeface="Arial"/>
              <a:sym typeface="Arial"/>
            </a:endParaRPr>
          </a:p>
        </p:txBody>
      </p:sp>
      <p:sp>
        <p:nvSpPr>
          <p:cNvPr id="51" name="Google Shape;51;p2"/>
          <p:cNvSpPr/>
          <p:nvPr/>
        </p:nvSpPr>
        <p:spPr>
          <a:xfrm>
            <a:off x="8394192" y="2423160"/>
            <a:ext cx="1874520" cy="822960"/>
          </a:xfrm>
          <a:prstGeom prst="roundRect">
            <a:avLst>
              <a:gd fmla="val 6667" name="adj"/>
            </a:avLst>
          </a:prstGeom>
          <a:solidFill>
            <a:srgbClr val="351720"/>
          </a:solidFill>
          <a:ln cap="flat" cmpd="sng" w="13950">
            <a:solidFill>
              <a:srgbClr val="FF5A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8467344" y="2514600"/>
            <a:ext cx="1728216" cy="64008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4FAFF"/>
              </a:buClr>
              <a:buSzPts val="1350"/>
              <a:buFont typeface="Arial"/>
              <a:buNone/>
            </a:pPr>
            <a:r>
              <a:rPr b="1" i="0" lang="en-US" sz="1350" u="none" cap="none" strike="noStrike">
                <a:solidFill>
                  <a:srgbClr val="F4FAFF"/>
                </a:solidFill>
                <a:latin typeface="Arial"/>
                <a:ea typeface="Arial"/>
                <a:cs typeface="Arial"/>
                <a:sym typeface="Arial"/>
              </a:rPr>
              <a:t>Missed risk</a:t>
            </a:r>
            <a:endParaRPr b="0" i="0" sz="13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4FAFF"/>
              </a:buClr>
              <a:buSzPts val="1350"/>
              <a:buFont typeface="Arial"/>
              <a:buNone/>
            </a:pPr>
            <a:r>
              <a:rPr b="1" i="0" lang="en-US" sz="1350" u="none" cap="none" strike="noStrike">
                <a:solidFill>
                  <a:srgbClr val="F4FAFF"/>
                </a:solidFill>
                <a:latin typeface="Arial"/>
                <a:ea typeface="Arial"/>
                <a:cs typeface="Arial"/>
                <a:sym typeface="Arial"/>
              </a:rPr>
              <a:t>signals</a:t>
            </a:r>
            <a:endParaRPr b="0" i="0" sz="1350" u="none" cap="none" strike="noStrike">
              <a:solidFill>
                <a:schemeClr val="dk1"/>
              </a:solidFill>
              <a:latin typeface="Arial"/>
              <a:ea typeface="Arial"/>
              <a:cs typeface="Arial"/>
              <a:sym typeface="Arial"/>
            </a:endParaRPr>
          </a:p>
        </p:txBody>
      </p:sp>
      <p:sp>
        <p:nvSpPr>
          <p:cNvPr id="53" name="Google Shape;53;p2"/>
          <p:cNvSpPr/>
          <p:nvPr/>
        </p:nvSpPr>
        <p:spPr>
          <a:xfrm>
            <a:off x="777240" y="3977640"/>
            <a:ext cx="2148840" cy="868680"/>
          </a:xfrm>
          <a:prstGeom prst="rect">
            <a:avLst/>
          </a:prstGeom>
          <a:solidFill>
            <a:srgbClr val="0C2A3A"/>
          </a:solidFill>
          <a:ln cap="flat" cmpd="sng" w="12700">
            <a:solidFill>
              <a:srgbClr val="1B83F6"/>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spcBef>
                <a:spcPts val="0"/>
              </a:spcBef>
              <a:spcAft>
                <a:spcPts val="0"/>
              </a:spcAft>
              <a:buClr>
                <a:srgbClr val="1B83F6"/>
              </a:buClr>
              <a:buSzPts val="1130"/>
              <a:buFont typeface="Arial"/>
              <a:buNone/>
            </a:pPr>
            <a:r>
              <a:rPr b="1" i="0" lang="en-US" sz="1130" u="none" cap="none" strike="noStrike">
                <a:solidFill>
                  <a:srgbClr val="1B83F6"/>
                </a:solidFill>
                <a:latin typeface="Arial"/>
                <a:ea typeface="Arial"/>
                <a:cs typeface="Arial"/>
                <a:sym typeface="Arial"/>
              </a:rPr>
              <a:t>Time</a:t>
            </a:r>
            <a:endParaRPr b="0" i="0" sz="113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B83F6"/>
              </a:buClr>
              <a:buSzPts val="1130"/>
              <a:buFont typeface="Arial"/>
              <a:buNone/>
            </a:pPr>
            <a:r>
              <a:rPr b="1" i="0" lang="en-US" sz="1130" u="none" cap="none" strike="noStrike">
                <a:solidFill>
                  <a:srgbClr val="1B83F6"/>
                </a:solidFill>
                <a:latin typeface="Arial"/>
                <a:ea typeface="Arial"/>
                <a:cs typeface="Arial"/>
                <a:sym typeface="Arial"/>
              </a:rPr>
              <a:t>repetitive review</a:t>
            </a:r>
            <a:endParaRPr b="0" i="0" sz="1130" u="none" cap="none" strike="noStrike">
              <a:solidFill>
                <a:schemeClr val="dk1"/>
              </a:solidFill>
              <a:latin typeface="Arial"/>
              <a:ea typeface="Arial"/>
              <a:cs typeface="Arial"/>
              <a:sym typeface="Arial"/>
            </a:endParaRPr>
          </a:p>
        </p:txBody>
      </p:sp>
      <p:sp>
        <p:nvSpPr>
          <p:cNvPr id="54" name="Google Shape;54;p2"/>
          <p:cNvSpPr/>
          <p:nvPr/>
        </p:nvSpPr>
        <p:spPr>
          <a:xfrm>
            <a:off x="3246120" y="3977640"/>
            <a:ext cx="2148840" cy="868680"/>
          </a:xfrm>
          <a:prstGeom prst="rect">
            <a:avLst/>
          </a:prstGeom>
          <a:solidFill>
            <a:srgbClr val="0C2A3A"/>
          </a:solidFill>
          <a:ln cap="flat" cmpd="sng" w="12700">
            <a:solidFill>
              <a:srgbClr val="00C5B4"/>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spcBef>
                <a:spcPts val="0"/>
              </a:spcBef>
              <a:spcAft>
                <a:spcPts val="0"/>
              </a:spcAft>
              <a:buClr>
                <a:srgbClr val="00C5B4"/>
              </a:buClr>
              <a:buSzPts val="1130"/>
              <a:buFont typeface="Arial"/>
              <a:buNone/>
            </a:pPr>
            <a:r>
              <a:rPr b="1" i="0" lang="en-US" sz="1130" u="none" cap="none" strike="noStrike">
                <a:solidFill>
                  <a:srgbClr val="00C5B4"/>
                </a:solidFill>
                <a:latin typeface="Arial"/>
                <a:ea typeface="Arial"/>
                <a:cs typeface="Arial"/>
                <a:sym typeface="Arial"/>
              </a:rPr>
              <a:t>Quality</a:t>
            </a:r>
            <a:endParaRPr b="0" i="0" sz="113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00C5B4"/>
              </a:buClr>
              <a:buSzPts val="1130"/>
              <a:buFont typeface="Arial"/>
              <a:buNone/>
            </a:pPr>
            <a:r>
              <a:rPr b="1" i="0" lang="en-US" sz="1130" u="none" cap="none" strike="noStrike">
                <a:solidFill>
                  <a:srgbClr val="00C5B4"/>
                </a:solidFill>
                <a:latin typeface="Arial"/>
                <a:ea typeface="Arial"/>
                <a:cs typeface="Arial"/>
                <a:sym typeface="Arial"/>
              </a:rPr>
              <a:t>inconsistent tagging</a:t>
            </a:r>
            <a:endParaRPr b="0" i="0" sz="1130" u="none" cap="none" strike="noStrike">
              <a:solidFill>
                <a:schemeClr val="dk1"/>
              </a:solidFill>
              <a:latin typeface="Arial"/>
              <a:ea typeface="Arial"/>
              <a:cs typeface="Arial"/>
              <a:sym typeface="Arial"/>
            </a:endParaRPr>
          </a:p>
        </p:txBody>
      </p:sp>
      <p:sp>
        <p:nvSpPr>
          <p:cNvPr id="55" name="Google Shape;55;p2"/>
          <p:cNvSpPr/>
          <p:nvPr/>
        </p:nvSpPr>
        <p:spPr>
          <a:xfrm>
            <a:off x="5715000" y="3977640"/>
            <a:ext cx="2148840" cy="868680"/>
          </a:xfrm>
          <a:prstGeom prst="rect">
            <a:avLst/>
          </a:prstGeom>
          <a:solidFill>
            <a:srgbClr val="0C2A3A"/>
          </a:solidFill>
          <a:ln cap="flat" cmpd="sng" w="12700">
            <a:solidFill>
              <a:srgbClr val="FF5A64"/>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spcBef>
                <a:spcPts val="0"/>
              </a:spcBef>
              <a:spcAft>
                <a:spcPts val="0"/>
              </a:spcAft>
              <a:buClr>
                <a:srgbClr val="FF5A64"/>
              </a:buClr>
              <a:buSzPts val="1130"/>
              <a:buFont typeface="Arial"/>
              <a:buNone/>
            </a:pPr>
            <a:r>
              <a:rPr b="1" i="0" lang="en-US" sz="1130" u="none" cap="none" strike="noStrike">
                <a:solidFill>
                  <a:srgbClr val="FF5A64"/>
                </a:solidFill>
                <a:latin typeface="Arial"/>
                <a:ea typeface="Arial"/>
                <a:cs typeface="Arial"/>
                <a:sym typeface="Arial"/>
              </a:rPr>
              <a:t>Risk</a:t>
            </a:r>
            <a:endParaRPr b="0" i="0" sz="113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F5A64"/>
              </a:buClr>
              <a:buSzPts val="1130"/>
              <a:buFont typeface="Arial"/>
              <a:buNone/>
            </a:pPr>
            <a:r>
              <a:rPr b="1" i="0" lang="en-US" sz="1130" u="none" cap="none" strike="noStrike">
                <a:solidFill>
                  <a:srgbClr val="FF5A64"/>
                </a:solidFill>
                <a:latin typeface="Arial"/>
                <a:ea typeface="Arial"/>
                <a:cs typeface="Arial"/>
                <a:sym typeface="Arial"/>
              </a:rPr>
              <a:t>signals can be missed</a:t>
            </a:r>
            <a:endParaRPr b="0" i="0" sz="1130" u="none" cap="none" strike="noStrike">
              <a:solidFill>
                <a:schemeClr val="dk1"/>
              </a:solidFill>
              <a:latin typeface="Arial"/>
              <a:ea typeface="Arial"/>
              <a:cs typeface="Arial"/>
              <a:sym typeface="Arial"/>
            </a:endParaRPr>
          </a:p>
        </p:txBody>
      </p:sp>
      <p:sp>
        <p:nvSpPr>
          <p:cNvPr id="56" name="Google Shape;56;p2"/>
          <p:cNvSpPr/>
          <p:nvPr/>
        </p:nvSpPr>
        <p:spPr>
          <a:xfrm>
            <a:off x="8183880" y="3977640"/>
            <a:ext cx="2148840" cy="868680"/>
          </a:xfrm>
          <a:prstGeom prst="rect">
            <a:avLst/>
          </a:prstGeom>
          <a:solidFill>
            <a:srgbClr val="0C2A3A"/>
          </a:solidFill>
          <a:ln cap="flat" cmpd="sng" w="12700">
            <a:solidFill>
              <a:srgbClr val="6F6AF8"/>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spcBef>
                <a:spcPts val="0"/>
              </a:spcBef>
              <a:spcAft>
                <a:spcPts val="0"/>
              </a:spcAft>
              <a:buClr>
                <a:srgbClr val="6F6AF8"/>
              </a:buClr>
              <a:buSzPts val="1130"/>
              <a:buFont typeface="Arial"/>
              <a:buNone/>
            </a:pPr>
            <a:r>
              <a:rPr b="1" i="0" lang="en-US" sz="1130" u="none" cap="none" strike="noStrike">
                <a:solidFill>
                  <a:srgbClr val="6F6AF8"/>
                </a:solidFill>
                <a:latin typeface="Arial"/>
                <a:ea typeface="Arial"/>
                <a:cs typeface="Arial"/>
                <a:sym typeface="Arial"/>
              </a:rPr>
              <a:t>Trust</a:t>
            </a:r>
            <a:endParaRPr b="0" i="0" sz="113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6F6AF8"/>
              </a:buClr>
              <a:buSzPts val="1130"/>
              <a:buFont typeface="Arial"/>
              <a:buNone/>
            </a:pPr>
            <a:r>
              <a:rPr b="1" i="0" lang="en-US" sz="1130" u="none" cap="none" strike="noStrike">
                <a:solidFill>
                  <a:srgbClr val="6F6AF8"/>
                </a:solidFill>
                <a:latin typeface="Arial"/>
                <a:ea typeface="Arial"/>
                <a:cs typeface="Arial"/>
                <a:sym typeface="Arial"/>
              </a:rPr>
              <a:t>AI must be transparent</a:t>
            </a:r>
            <a:endParaRPr b="0" i="0" sz="1130" u="none" cap="none" strike="noStrike">
              <a:solidFill>
                <a:schemeClr val="dk1"/>
              </a:solidFill>
              <a:latin typeface="Arial"/>
              <a:ea typeface="Arial"/>
              <a:cs typeface="Arial"/>
              <a:sym typeface="Arial"/>
            </a:endParaRPr>
          </a:p>
        </p:txBody>
      </p:sp>
      <p:sp>
        <p:nvSpPr>
          <p:cNvPr id="57" name="Google Shape;57;p2"/>
          <p:cNvSpPr/>
          <p:nvPr/>
        </p:nvSpPr>
        <p:spPr>
          <a:xfrm>
            <a:off x="1078992" y="5669280"/>
            <a:ext cx="9829800" cy="228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31D7F7"/>
              </a:buClr>
              <a:buSzPts val="1350"/>
              <a:buFont typeface="Arial"/>
              <a:buNone/>
            </a:pPr>
            <a:r>
              <a:rPr b="1" i="0" lang="en-US" sz="1350" u="none" cap="none" strike="noStrike">
                <a:solidFill>
                  <a:srgbClr val="31D7F7"/>
                </a:solidFill>
                <a:latin typeface="Arial"/>
                <a:ea typeface="Arial"/>
                <a:cs typeface="Arial"/>
                <a:sym typeface="Arial"/>
              </a:rPr>
              <a:t>Why it persists: financial news is unstructured, fast-moving and context-heavy — exactly where assisted classification can help.</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62" name="Shape 62"/>
        <p:cNvGrpSpPr/>
        <p:nvPr/>
      </p:nvGrpSpPr>
      <p:grpSpPr>
        <a:xfrm>
          <a:off x="0" y="0"/>
          <a:ext cx="0" cy="0"/>
          <a:chOff x="0" y="0"/>
          <a:chExt cx="0" cy="0"/>
        </a:xfrm>
      </p:grpSpPr>
      <p:pic>
        <p:nvPicPr>
          <p:cNvPr descr="/mnt/data/finradar_logo_watermark_dark.png" id="63" name="Google Shape;63;p3"/>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64" name="Google Shape;64;p3"/>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950"/>
              <a:buFont typeface="Arial"/>
              <a:buNone/>
            </a:pPr>
            <a:r>
              <a:rPr b="1" i="0" lang="en-US" sz="950" u="none" cap="none" strike="noStrike">
                <a:solidFill>
                  <a:srgbClr val="31D7F7"/>
                </a:solidFill>
                <a:latin typeface="Arial"/>
                <a:ea typeface="Arial"/>
                <a:cs typeface="Arial"/>
                <a:sym typeface="Arial"/>
              </a:rPr>
              <a:t>FinRadar AI | Round 2</a:t>
            </a:r>
            <a:endParaRPr b="0" i="0" sz="950" u="none" cap="none" strike="noStrike">
              <a:solidFill>
                <a:schemeClr val="dk1"/>
              </a:solidFill>
              <a:latin typeface="Arial"/>
              <a:ea typeface="Arial"/>
              <a:cs typeface="Arial"/>
              <a:sym typeface="Arial"/>
            </a:endParaRPr>
          </a:p>
        </p:txBody>
      </p:sp>
      <p:pic>
        <p:nvPicPr>
          <p:cNvPr descr="/mnt/data/ironhack-logo.png" id="65" name="Google Shape;65;p3"/>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66" name="Google Shape;66;p3"/>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67" name="Google Shape;67;p3"/>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spcBef>
                <a:spcPts val="0"/>
              </a:spcBef>
              <a:spcAft>
                <a:spcPts val="0"/>
              </a:spcAft>
              <a:buClr>
                <a:srgbClr val="A7BED1"/>
              </a:buClr>
              <a:buSzPts val="900"/>
              <a:buFont typeface="Arial"/>
              <a:buNone/>
            </a:pPr>
            <a:r>
              <a:rPr b="0" i="0" lang="en-US" sz="900" u="none" cap="none" strike="noStrike">
                <a:solidFill>
                  <a:srgbClr val="A7BED1"/>
                </a:solidFill>
                <a:latin typeface="Arial"/>
                <a:ea typeface="Arial"/>
                <a:cs typeface="Arial"/>
                <a:sym typeface="Arial"/>
              </a:rPr>
              <a:t>AI Assists - Humans Decide</a:t>
            </a:r>
            <a:endParaRPr b="0" i="0" sz="900" u="none" cap="none" strike="noStrike">
              <a:solidFill>
                <a:schemeClr val="dk1"/>
              </a:solidFill>
              <a:latin typeface="Arial"/>
              <a:ea typeface="Arial"/>
              <a:cs typeface="Arial"/>
              <a:sym typeface="Arial"/>
            </a:endParaRPr>
          </a:p>
        </p:txBody>
      </p:sp>
      <p:sp>
        <p:nvSpPr>
          <p:cNvPr id="68" name="Google Shape;68;p3"/>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spcBef>
                <a:spcPts val="0"/>
              </a:spcBef>
              <a:spcAft>
                <a:spcPts val="0"/>
              </a:spcAft>
              <a:buClr>
                <a:srgbClr val="A7BED1"/>
              </a:buClr>
              <a:buSzPts val="900"/>
              <a:buFont typeface="Arial"/>
              <a:buNone/>
            </a:pPr>
            <a:r>
              <a:rPr b="0" i="0" lang="en-US" sz="900" u="none" cap="none" strike="noStrike">
                <a:solidFill>
                  <a:srgbClr val="A7BED1"/>
                </a:solidFill>
                <a:latin typeface="Arial"/>
                <a:ea typeface="Arial"/>
                <a:cs typeface="Arial"/>
                <a:sym typeface="Arial"/>
              </a:rPr>
              <a:t>03</a:t>
            </a:r>
            <a:endParaRPr b="0" i="0" sz="900" u="none" cap="none" strike="noStrike">
              <a:solidFill>
                <a:schemeClr val="dk1"/>
              </a:solidFill>
              <a:latin typeface="Arial"/>
              <a:ea typeface="Arial"/>
              <a:cs typeface="Arial"/>
              <a:sym typeface="Arial"/>
            </a:endParaRPr>
          </a:p>
        </p:txBody>
      </p:sp>
      <p:sp>
        <p:nvSpPr>
          <p:cNvPr id="69" name="Google Shape;69;p3"/>
          <p:cNvSpPr/>
          <p:nvPr/>
        </p:nvSpPr>
        <p:spPr>
          <a:xfrm>
            <a:off x="685800" y="749800"/>
            <a:ext cx="9720000" cy="751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2700"/>
              <a:buFont typeface="Arial"/>
              <a:buNone/>
            </a:pPr>
            <a:r>
              <a:rPr b="1" i="0" lang="en-US" sz="2700" u="none" cap="none" strike="noStrike">
                <a:solidFill>
                  <a:srgbClr val="F4FAFF"/>
                </a:solidFill>
                <a:latin typeface="Arial"/>
                <a:ea typeface="Arial"/>
                <a:cs typeface="Arial"/>
                <a:sym typeface="Arial"/>
              </a:rPr>
              <a:t>The Proposed AI Solution: </a:t>
            </a:r>
            <a:endParaRPr b="1" i="0" sz="2700" u="none" cap="none" strike="noStrike">
              <a:solidFill>
                <a:srgbClr val="F4FAFF"/>
              </a:solidFill>
              <a:latin typeface="Arial"/>
              <a:ea typeface="Arial"/>
              <a:cs typeface="Arial"/>
              <a:sym typeface="Arial"/>
            </a:endParaRPr>
          </a:p>
          <a:p>
            <a:pPr indent="0" lvl="0" marL="0" marR="0" rtl="0" algn="l">
              <a:spcBef>
                <a:spcPts val="0"/>
              </a:spcBef>
              <a:spcAft>
                <a:spcPts val="0"/>
              </a:spcAft>
              <a:buClr>
                <a:srgbClr val="F4FAFF"/>
              </a:buClr>
              <a:buSzPts val="2700"/>
              <a:buFont typeface="Arial"/>
              <a:buNone/>
            </a:pPr>
            <a:r>
              <a:rPr b="1" i="0" lang="en-US" sz="2700" u="none" cap="none" strike="noStrike">
                <a:solidFill>
                  <a:srgbClr val="F4FAFF"/>
                </a:solidFill>
                <a:latin typeface="Arial"/>
                <a:ea typeface="Arial"/>
                <a:cs typeface="Arial"/>
                <a:sym typeface="Arial"/>
              </a:rPr>
              <a:t>an intelligence layer, not a replacement</a:t>
            </a:r>
            <a:endParaRPr b="0" i="0" sz="2700" u="none" cap="none" strike="noStrike">
              <a:solidFill>
                <a:schemeClr val="dk1"/>
              </a:solidFill>
              <a:latin typeface="Arial"/>
              <a:ea typeface="Arial"/>
              <a:cs typeface="Arial"/>
              <a:sym typeface="Arial"/>
            </a:endParaRPr>
          </a:p>
        </p:txBody>
      </p:sp>
      <p:sp>
        <p:nvSpPr>
          <p:cNvPr id="70" name="Google Shape;70;p3"/>
          <p:cNvSpPr/>
          <p:nvPr/>
        </p:nvSpPr>
        <p:spPr>
          <a:xfrm>
            <a:off x="685800" y="1612925"/>
            <a:ext cx="7086600" cy="320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420"/>
              <a:buFont typeface="Arial"/>
              <a:buNone/>
            </a:pPr>
            <a:r>
              <a:rPr b="0" i="0" lang="en-US" sz="1420" u="none" cap="none" strike="noStrike">
                <a:solidFill>
                  <a:srgbClr val="A7BED1"/>
                </a:solidFill>
                <a:latin typeface="Arial"/>
                <a:ea typeface="Arial"/>
                <a:cs typeface="Arial"/>
                <a:sym typeface="Arial"/>
              </a:rPr>
              <a:t>FinRadar sits between public news feeds and human analyst review.</a:t>
            </a:r>
            <a:endParaRPr b="0" i="0" sz="1420" u="none" cap="none" strike="noStrike">
              <a:solidFill>
                <a:schemeClr val="dk1"/>
              </a:solidFill>
              <a:latin typeface="Arial"/>
              <a:ea typeface="Arial"/>
              <a:cs typeface="Arial"/>
              <a:sym typeface="Arial"/>
            </a:endParaRPr>
          </a:p>
        </p:txBody>
      </p:sp>
      <p:sp>
        <p:nvSpPr>
          <p:cNvPr id="71" name="Google Shape;71;p3"/>
          <p:cNvSpPr/>
          <p:nvPr/>
        </p:nvSpPr>
        <p:spPr>
          <a:xfrm>
            <a:off x="722375" y="2044375"/>
            <a:ext cx="7507200" cy="255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320"/>
              <a:buFont typeface="Arial"/>
              <a:buNone/>
            </a:pPr>
            <a:r>
              <a:rPr b="0" i="0" lang="en-US" sz="1320" u="none" cap="none" strike="noStrike">
                <a:solidFill>
                  <a:srgbClr val="A7BED1"/>
                </a:solidFill>
                <a:latin typeface="Arial"/>
                <a:ea typeface="Arial"/>
                <a:cs typeface="Arial"/>
                <a:sym typeface="Arial"/>
              </a:rPr>
              <a:t>Capabilities: NLP classification, summarisation, risk tagging and deterministic escalation.</a:t>
            </a:r>
            <a:endParaRPr b="0" i="0" sz="1320" u="none" cap="none" strike="noStrike">
              <a:solidFill>
                <a:schemeClr val="dk1"/>
              </a:solidFill>
              <a:latin typeface="Arial"/>
              <a:ea typeface="Arial"/>
              <a:cs typeface="Arial"/>
              <a:sym typeface="Arial"/>
            </a:endParaRPr>
          </a:p>
        </p:txBody>
      </p:sp>
      <p:cxnSp>
        <p:nvCxnSpPr>
          <p:cNvPr id="72" name="Google Shape;72;p3"/>
          <p:cNvCxnSpPr/>
          <p:nvPr/>
        </p:nvCxnSpPr>
        <p:spPr>
          <a:xfrm>
            <a:off x="1691640" y="2907792"/>
            <a:ext cx="704088" cy="0"/>
          </a:xfrm>
          <a:prstGeom prst="straightConnector1">
            <a:avLst/>
          </a:prstGeom>
          <a:noFill/>
          <a:ln cap="flat" cmpd="sng" w="25400">
            <a:solidFill>
              <a:srgbClr val="1B83F6"/>
            </a:solidFill>
            <a:prstDash val="solid"/>
            <a:round/>
            <a:headEnd len="sm" w="sm" type="none"/>
            <a:tailEnd len="med" w="med" type="triangle"/>
          </a:ln>
        </p:spPr>
      </p:cxnSp>
      <p:cxnSp>
        <p:nvCxnSpPr>
          <p:cNvPr id="73" name="Google Shape;73;p3"/>
          <p:cNvCxnSpPr/>
          <p:nvPr/>
        </p:nvCxnSpPr>
        <p:spPr>
          <a:xfrm>
            <a:off x="3794760" y="2907792"/>
            <a:ext cx="704088" cy="0"/>
          </a:xfrm>
          <a:prstGeom prst="straightConnector1">
            <a:avLst/>
          </a:prstGeom>
          <a:noFill/>
          <a:ln cap="flat" cmpd="sng" w="25400">
            <a:solidFill>
              <a:srgbClr val="1B83F6"/>
            </a:solidFill>
            <a:prstDash val="solid"/>
            <a:round/>
            <a:headEnd len="sm" w="sm" type="none"/>
            <a:tailEnd len="med" w="med" type="triangle"/>
          </a:ln>
        </p:spPr>
      </p:cxnSp>
      <p:cxnSp>
        <p:nvCxnSpPr>
          <p:cNvPr id="74" name="Google Shape;74;p3"/>
          <p:cNvCxnSpPr/>
          <p:nvPr/>
        </p:nvCxnSpPr>
        <p:spPr>
          <a:xfrm>
            <a:off x="5852160" y="2907792"/>
            <a:ext cx="713232" cy="0"/>
          </a:xfrm>
          <a:prstGeom prst="straightConnector1">
            <a:avLst/>
          </a:prstGeom>
          <a:noFill/>
          <a:ln cap="flat" cmpd="sng" w="25400">
            <a:solidFill>
              <a:srgbClr val="1B83F6"/>
            </a:solidFill>
            <a:prstDash val="solid"/>
            <a:round/>
            <a:headEnd len="sm" w="sm" type="none"/>
            <a:tailEnd len="med" w="med" type="triangle"/>
          </a:ln>
        </p:spPr>
      </p:cxnSp>
      <p:cxnSp>
        <p:nvCxnSpPr>
          <p:cNvPr id="75" name="Google Shape;75;p3"/>
          <p:cNvCxnSpPr/>
          <p:nvPr/>
        </p:nvCxnSpPr>
        <p:spPr>
          <a:xfrm>
            <a:off x="7882128" y="2907792"/>
            <a:ext cx="713232" cy="0"/>
          </a:xfrm>
          <a:prstGeom prst="straightConnector1">
            <a:avLst/>
          </a:prstGeom>
          <a:noFill/>
          <a:ln cap="flat" cmpd="sng" w="25400">
            <a:solidFill>
              <a:srgbClr val="1B83F6"/>
            </a:solidFill>
            <a:prstDash val="solid"/>
            <a:round/>
            <a:headEnd len="sm" w="sm" type="none"/>
            <a:tailEnd len="med" w="med" type="triangle"/>
          </a:ln>
        </p:spPr>
      </p:cxnSp>
      <p:sp>
        <p:nvSpPr>
          <p:cNvPr id="76" name="Google Shape;76;p3"/>
          <p:cNvSpPr/>
          <p:nvPr/>
        </p:nvSpPr>
        <p:spPr>
          <a:xfrm>
            <a:off x="685800" y="2487168"/>
            <a:ext cx="1143000" cy="841248"/>
          </a:xfrm>
          <a:prstGeom prst="roundRect">
            <a:avLst>
              <a:gd fmla="val 6522" name="adj"/>
            </a:avLst>
          </a:prstGeom>
          <a:solidFill>
            <a:srgbClr val="0C3045"/>
          </a:solidFill>
          <a:ln cap="flat" cmpd="sng" w="13950">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758952" y="2578608"/>
            <a:ext cx="996696" cy="658368"/>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Public</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News</a:t>
            </a:r>
            <a:endParaRPr b="0" i="0" sz="1300" u="none" cap="none" strike="noStrike">
              <a:solidFill>
                <a:schemeClr val="dk1"/>
              </a:solidFill>
              <a:latin typeface="Arial"/>
              <a:ea typeface="Arial"/>
              <a:cs typeface="Arial"/>
              <a:sym typeface="Arial"/>
            </a:endParaRPr>
          </a:p>
        </p:txBody>
      </p:sp>
      <p:sp>
        <p:nvSpPr>
          <p:cNvPr id="78" name="Google Shape;78;p3"/>
          <p:cNvSpPr/>
          <p:nvPr/>
        </p:nvSpPr>
        <p:spPr>
          <a:xfrm>
            <a:off x="2560320" y="2487168"/>
            <a:ext cx="1371600" cy="841248"/>
          </a:xfrm>
          <a:prstGeom prst="roundRect">
            <a:avLst>
              <a:gd fmla="val 6522" name="adj"/>
            </a:avLst>
          </a:prstGeom>
          <a:solidFill>
            <a:srgbClr val="0C3045"/>
          </a:solidFill>
          <a:ln cap="flat" cmpd="sng" w="13950">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2633472" y="2578608"/>
            <a:ext cx="1225296" cy="658368"/>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FinRadar</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Interface</a:t>
            </a:r>
            <a:endParaRPr b="0" i="0" sz="1300" u="none" cap="none" strike="noStrike">
              <a:solidFill>
                <a:schemeClr val="dk1"/>
              </a:solidFill>
              <a:latin typeface="Arial"/>
              <a:ea typeface="Arial"/>
              <a:cs typeface="Arial"/>
              <a:sym typeface="Arial"/>
            </a:endParaRPr>
          </a:p>
        </p:txBody>
      </p:sp>
      <p:sp>
        <p:nvSpPr>
          <p:cNvPr id="80" name="Google Shape;80;p3"/>
          <p:cNvSpPr/>
          <p:nvPr/>
        </p:nvSpPr>
        <p:spPr>
          <a:xfrm>
            <a:off x="4617720" y="2487168"/>
            <a:ext cx="1371600" cy="841248"/>
          </a:xfrm>
          <a:prstGeom prst="roundRect">
            <a:avLst>
              <a:gd fmla="val 6522" name="adj"/>
            </a:avLst>
          </a:prstGeom>
          <a:solidFill>
            <a:srgbClr val="0C3045"/>
          </a:solidFill>
          <a:ln cap="flat" cmpd="sng" w="13950">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4690872" y="2578608"/>
            <a:ext cx="1225296" cy="658368"/>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4FAFF"/>
              </a:buClr>
              <a:buSzPts val="1200"/>
              <a:buFont typeface="Arial"/>
              <a:buNone/>
            </a:pPr>
            <a:r>
              <a:rPr b="1" i="0" lang="en-US" sz="1200" u="none" cap="none" strike="noStrike">
                <a:solidFill>
                  <a:srgbClr val="F4FAFF"/>
                </a:solidFill>
                <a:latin typeface="Arial"/>
                <a:ea typeface="Arial"/>
                <a:cs typeface="Arial"/>
                <a:sym typeface="Arial"/>
              </a:rPr>
              <a:t>GPT-5 Mini</a:t>
            </a:r>
            <a:endParaRPr b="0" i="0" sz="12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4FAFF"/>
              </a:buClr>
              <a:buSzPts val="1200"/>
              <a:buFont typeface="Arial"/>
              <a:buNone/>
            </a:pPr>
            <a:r>
              <a:rPr b="1" i="0" lang="en-US" sz="1200" u="none" cap="none" strike="noStrike">
                <a:solidFill>
                  <a:srgbClr val="F4FAFF"/>
                </a:solidFill>
                <a:latin typeface="Arial"/>
                <a:ea typeface="Arial"/>
                <a:cs typeface="Arial"/>
                <a:sym typeface="Arial"/>
              </a:rPr>
              <a:t>Structured AI</a:t>
            </a:r>
            <a:endParaRPr b="0" i="0" sz="1200" u="none" cap="none" strike="noStrike">
              <a:solidFill>
                <a:schemeClr val="dk1"/>
              </a:solidFill>
              <a:latin typeface="Arial"/>
              <a:ea typeface="Arial"/>
              <a:cs typeface="Arial"/>
              <a:sym typeface="Arial"/>
            </a:endParaRPr>
          </a:p>
        </p:txBody>
      </p:sp>
      <p:sp>
        <p:nvSpPr>
          <p:cNvPr id="82" name="Google Shape;82;p3"/>
          <p:cNvSpPr/>
          <p:nvPr/>
        </p:nvSpPr>
        <p:spPr>
          <a:xfrm>
            <a:off x="6720840" y="2487168"/>
            <a:ext cx="1234440" cy="841248"/>
          </a:xfrm>
          <a:prstGeom prst="roundRect">
            <a:avLst>
              <a:gd fmla="val 6522" name="adj"/>
            </a:avLst>
          </a:prstGeom>
          <a:solidFill>
            <a:srgbClr val="113A2B"/>
          </a:solidFill>
          <a:ln cap="flat" cmpd="sng" w="13950">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6793992" y="2578608"/>
            <a:ext cx="1088136" cy="658368"/>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Explicit</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Rules</a:t>
            </a:r>
            <a:endParaRPr b="0" i="0" sz="1300" u="none" cap="none" strike="noStrike">
              <a:solidFill>
                <a:schemeClr val="dk1"/>
              </a:solidFill>
              <a:latin typeface="Arial"/>
              <a:ea typeface="Arial"/>
              <a:cs typeface="Arial"/>
              <a:sym typeface="Arial"/>
            </a:endParaRPr>
          </a:p>
        </p:txBody>
      </p:sp>
      <p:sp>
        <p:nvSpPr>
          <p:cNvPr id="84" name="Google Shape;84;p3"/>
          <p:cNvSpPr/>
          <p:nvPr/>
        </p:nvSpPr>
        <p:spPr>
          <a:xfrm>
            <a:off x="8823960" y="2487168"/>
            <a:ext cx="1325880" cy="841248"/>
          </a:xfrm>
          <a:prstGeom prst="roundRect">
            <a:avLst>
              <a:gd fmla="val 6522" name="adj"/>
            </a:avLst>
          </a:prstGeom>
          <a:solidFill>
            <a:srgbClr val="0E3144"/>
          </a:solidFill>
          <a:ln cap="flat" cmpd="sng" w="13950">
            <a:solidFill>
              <a:srgbClr val="1B8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8897112" y="2578608"/>
            <a:ext cx="1179576" cy="658368"/>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Human</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Analyst</a:t>
            </a:r>
            <a:endParaRPr b="0" i="0" sz="1300" u="none" cap="none" strike="noStrike">
              <a:solidFill>
                <a:schemeClr val="dk1"/>
              </a:solidFill>
              <a:latin typeface="Arial"/>
              <a:ea typeface="Arial"/>
              <a:cs typeface="Arial"/>
              <a:sym typeface="Arial"/>
            </a:endParaRPr>
          </a:p>
        </p:txBody>
      </p:sp>
      <p:sp>
        <p:nvSpPr>
          <p:cNvPr id="86" name="Google Shape;86;p3"/>
          <p:cNvSpPr/>
          <p:nvPr/>
        </p:nvSpPr>
        <p:spPr>
          <a:xfrm>
            <a:off x="685800" y="3657600"/>
            <a:ext cx="5715000" cy="1920240"/>
          </a:xfrm>
          <a:prstGeom prst="roundRect">
            <a:avLst>
              <a:gd fmla="val 2857" name="adj"/>
            </a:avLst>
          </a:prstGeom>
          <a:solidFill>
            <a:srgbClr val="06111A"/>
          </a:solidFill>
          <a:ln cap="flat" cmpd="sng" w="10150">
            <a:solidFill>
              <a:srgbClr val="143C50"/>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9bdb6d83-5e11-4c79-bcde-7fd438453412.png" id="87" name="Google Shape;87;p3"/>
          <p:cNvPicPr preferRelativeResize="0"/>
          <p:nvPr/>
        </p:nvPicPr>
        <p:blipFill rotWithShape="1">
          <a:blip r:embed="rId5">
            <a:alphaModFix/>
          </a:blip>
          <a:srcRect b="21721" l="0" r="0" t="21721"/>
          <a:stretch/>
        </p:blipFill>
        <p:spPr>
          <a:xfrm>
            <a:off x="722376" y="3694176"/>
            <a:ext cx="5641848" cy="1847088"/>
          </a:xfrm>
          <a:prstGeom prst="rect">
            <a:avLst/>
          </a:prstGeom>
          <a:noFill/>
          <a:ln>
            <a:noFill/>
          </a:ln>
        </p:spPr>
      </p:pic>
      <p:sp>
        <p:nvSpPr>
          <p:cNvPr id="88" name="Google Shape;88;p3"/>
          <p:cNvSpPr/>
          <p:nvPr/>
        </p:nvSpPr>
        <p:spPr>
          <a:xfrm>
            <a:off x="795528" y="5175504"/>
            <a:ext cx="5495544" cy="256032"/>
          </a:xfrm>
          <a:prstGeom prst="roundRect">
            <a:avLst>
              <a:gd fmla="val 14286" name="adj"/>
            </a:avLst>
          </a:prstGeom>
          <a:solidFill>
            <a:srgbClr val="05131D">
              <a:alpha val="85098"/>
            </a:srgbClr>
          </a:solidFill>
          <a:ln cap="flat" cmpd="sng" w="12700">
            <a:solidFill>
              <a:srgbClr val="05131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850392" y="5239512"/>
            <a:ext cx="5385816" cy="12801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A7BED1"/>
              </a:buClr>
              <a:buSzPts val="760"/>
              <a:buFont typeface="Arial"/>
              <a:buNone/>
            </a:pPr>
            <a:r>
              <a:rPr b="1" i="0" lang="en-US" sz="760" u="none" cap="none" strike="noStrike">
                <a:solidFill>
                  <a:srgbClr val="A7BED1"/>
                </a:solidFill>
                <a:latin typeface="Arial"/>
                <a:ea typeface="Arial"/>
                <a:cs typeface="Arial"/>
                <a:sym typeface="Arial"/>
              </a:rPr>
              <a:t>Working MVP interface</a:t>
            </a:r>
            <a:endParaRPr b="0" i="0" sz="760" u="none" cap="none" strike="noStrike">
              <a:solidFill>
                <a:schemeClr val="dk1"/>
              </a:solidFill>
              <a:latin typeface="Arial"/>
              <a:ea typeface="Arial"/>
              <a:cs typeface="Arial"/>
              <a:sym typeface="Arial"/>
            </a:endParaRPr>
          </a:p>
        </p:txBody>
      </p:sp>
      <p:sp>
        <p:nvSpPr>
          <p:cNvPr id="90" name="Google Shape;90;p3"/>
          <p:cNvSpPr/>
          <p:nvPr/>
        </p:nvSpPr>
        <p:spPr>
          <a:xfrm>
            <a:off x="6629400" y="3657600"/>
            <a:ext cx="3474720" cy="1920240"/>
          </a:xfrm>
          <a:prstGeom prst="roundRect">
            <a:avLst>
              <a:gd fmla="val 3333" name="adj"/>
            </a:avLst>
          </a:prstGeom>
          <a:solidFill>
            <a:srgbClr val="0C2D2A"/>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6793992" y="3785616"/>
            <a:ext cx="3145536" cy="32004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FAFF"/>
              </a:buClr>
              <a:buSzPts val="1600"/>
              <a:buFont typeface="Arial"/>
              <a:buNone/>
            </a:pPr>
            <a:r>
              <a:rPr b="1" i="0" lang="en-US" sz="1600" u="none" cap="none" strike="noStrike">
                <a:solidFill>
                  <a:srgbClr val="F4FAFF"/>
                </a:solidFill>
                <a:latin typeface="Arial"/>
                <a:ea typeface="Arial"/>
                <a:cs typeface="Arial"/>
                <a:sym typeface="Arial"/>
              </a:rPr>
              <a:t>Transparency by design</a:t>
            </a:r>
            <a:endParaRPr b="0" i="0" sz="1600" u="none" cap="none" strike="noStrike">
              <a:solidFill>
                <a:schemeClr val="dk1"/>
              </a:solidFill>
              <a:latin typeface="Arial"/>
              <a:ea typeface="Arial"/>
              <a:cs typeface="Arial"/>
              <a:sym typeface="Arial"/>
            </a:endParaRPr>
          </a:p>
        </p:txBody>
      </p:sp>
      <p:sp>
        <p:nvSpPr>
          <p:cNvPr id="92" name="Google Shape;92;p3"/>
          <p:cNvSpPr/>
          <p:nvPr/>
        </p:nvSpPr>
        <p:spPr>
          <a:xfrm>
            <a:off x="6793992" y="4160520"/>
            <a:ext cx="3145536" cy="1280160"/>
          </a:xfrm>
          <a:prstGeom prst="rect">
            <a:avLst/>
          </a:prstGeom>
          <a:noFill/>
          <a:ln>
            <a:noFill/>
          </a:ln>
        </p:spPr>
        <p:txBody>
          <a:bodyPr anchorCtr="0" anchor="t" bIns="250" lIns="250" spcFirstLastPara="1" rIns="250" wrap="square" tIns="250">
            <a:normAutofit/>
          </a:bodyPr>
          <a:lstStyle/>
          <a:p>
            <a:pPr indent="0" lvl="0" marL="0" marR="0" rtl="0" algn="ctr">
              <a:spcBef>
                <a:spcPts val="0"/>
              </a:spcBef>
              <a:spcAft>
                <a:spcPts val="0"/>
              </a:spcAft>
              <a:buClr>
                <a:srgbClr val="A7BED1"/>
              </a:buClr>
              <a:buSzPts val="1310"/>
              <a:buFont typeface="Arial"/>
              <a:buNone/>
            </a:pPr>
            <a:r>
              <a:rPr b="0" i="0" lang="en-US" sz="1310" u="none" cap="none" strike="noStrike">
                <a:solidFill>
                  <a:srgbClr val="A7BED1"/>
                </a:solidFill>
                <a:latin typeface="Arial"/>
                <a:ea typeface="Arial"/>
                <a:cs typeface="Arial"/>
                <a:sym typeface="Arial"/>
              </a:rPr>
              <a:t>The analyst sees the source, the structured AI output and the escalation outcome. The AI suggests; the rule routes; the analyst decides.</a:t>
            </a:r>
            <a:endParaRPr b="0" i="0" sz="131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97" name="Shape 97"/>
        <p:cNvGrpSpPr/>
        <p:nvPr/>
      </p:nvGrpSpPr>
      <p:grpSpPr>
        <a:xfrm>
          <a:off x="0" y="0"/>
          <a:ext cx="0" cy="0"/>
          <a:chOff x="0" y="0"/>
          <a:chExt cx="0" cy="0"/>
        </a:xfrm>
      </p:grpSpPr>
      <p:pic>
        <p:nvPicPr>
          <p:cNvPr descr="/mnt/data/finradar_logo_watermark_dark.png" id="98" name="Google Shape;98;p4"/>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99" name="Google Shape;99;p4"/>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950"/>
              <a:buFont typeface="Arial"/>
              <a:buNone/>
            </a:pPr>
            <a:r>
              <a:rPr b="1" i="0" lang="en-US" sz="1200" u="none" cap="none" strike="noStrike">
                <a:solidFill>
                  <a:srgbClr val="31D7F7"/>
                </a:solidFill>
                <a:latin typeface="Arial"/>
                <a:ea typeface="Arial"/>
                <a:cs typeface="Arial"/>
                <a:sym typeface="Arial"/>
              </a:rPr>
              <a:t>FinRadar AI | Round 2</a:t>
            </a:r>
            <a:endParaRPr b="0" i="0" sz="1200" u="none" cap="none" strike="noStrike">
              <a:solidFill>
                <a:schemeClr val="dk1"/>
              </a:solidFill>
              <a:latin typeface="Arial"/>
              <a:ea typeface="Arial"/>
              <a:cs typeface="Arial"/>
              <a:sym typeface="Arial"/>
            </a:endParaRPr>
          </a:p>
        </p:txBody>
      </p:sp>
      <p:pic>
        <p:nvPicPr>
          <p:cNvPr descr="/mnt/data/ironhack-logo.png" id="100" name="Google Shape;100;p4"/>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101" name="Google Shape;101;p4"/>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102" name="Google Shape;102;p4"/>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spcBef>
                <a:spcPts val="0"/>
              </a:spcBef>
              <a:spcAft>
                <a:spcPts val="0"/>
              </a:spcAft>
              <a:buClr>
                <a:srgbClr val="A7BED1"/>
              </a:buClr>
              <a:buSzPts val="900"/>
              <a:buFont typeface="Arial"/>
              <a:buNone/>
            </a:pPr>
            <a:r>
              <a:rPr b="0" i="0" lang="en-US" sz="1200" u="none" cap="none" strike="noStrike">
                <a:solidFill>
                  <a:srgbClr val="A7BED1"/>
                </a:solidFill>
                <a:latin typeface="Arial"/>
                <a:ea typeface="Arial"/>
                <a:cs typeface="Arial"/>
                <a:sym typeface="Arial"/>
              </a:rPr>
              <a:t>AI Assists - Humans Decide</a:t>
            </a:r>
            <a:endParaRPr b="0" i="0" sz="1200" u="none" cap="none" strike="noStrike">
              <a:solidFill>
                <a:schemeClr val="dk1"/>
              </a:solidFill>
              <a:latin typeface="Arial"/>
              <a:ea typeface="Arial"/>
              <a:cs typeface="Arial"/>
              <a:sym typeface="Arial"/>
            </a:endParaRPr>
          </a:p>
        </p:txBody>
      </p:sp>
      <p:sp>
        <p:nvSpPr>
          <p:cNvPr id="103" name="Google Shape;103;p4"/>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spcBef>
                <a:spcPts val="0"/>
              </a:spcBef>
              <a:spcAft>
                <a:spcPts val="0"/>
              </a:spcAft>
              <a:buClr>
                <a:srgbClr val="A7BED1"/>
              </a:buClr>
              <a:buSzPts val="900"/>
              <a:buFont typeface="Arial"/>
              <a:buNone/>
            </a:pPr>
            <a:r>
              <a:rPr b="0" i="0" lang="en-US" sz="900" u="none" cap="none" strike="noStrike">
                <a:solidFill>
                  <a:srgbClr val="A7BED1"/>
                </a:solidFill>
                <a:latin typeface="Arial"/>
                <a:ea typeface="Arial"/>
                <a:cs typeface="Arial"/>
                <a:sym typeface="Arial"/>
              </a:rPr>
              <a:t>04</a:t>
            </a:r>
            <a:endParaRPr b="0" i="0" sz="900" u="none" cap="none" strike="noStrike">
              <a:solidFill>
                <a:schemeClr val="dk1"/>
              </a:solidFill>
              <a:latin typeface="Arial"/>
              <a:ea typeface="Arial"/>
              <a:cs typeface="Arial"/>
              <a:sym typeface="Arial"/>
            </a:endParaRPr>
          </a:p>
        </p:txBody>
      </p:sp>
      <p:sp>
        <p:nvSpPr>
          <p:cNvPr id="104" name="Google Shape;104;p4"/>
          <p:cNvSpPr/>
          <p:nvPr/>
        </p:nvSpPr>
        <p:spPr>
          <a:xfrm>
            <a:off x="530352" y="841248"/>
            <a:ext cx="9692640" cy="4114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2700"/>
              <a:buFont typeface="Arial"/>
              <a:buNone/>
            </a:pPr>
            <a:r>
              <a:rPr b="1" i="0" lang="en-US" sz="2700" u="none" cap="none" strike="noStrike">
                <a:solidFill>
                  <a:srgbClr val="F4FAFF"/>
                </a:solidFill>
                <a:latin typeface="Arial"/>
                <a:ea typeface="Arial"/>
                <a:cs typeface="Arial"/>
                <a:sym typeface="Arial"/>
              </a:rPr>
              <a:t>POC Demo: Round 1 proof of concept and what changed</a:t>
            </a:r>
            <a:endParaRPr b="0" i="0" sz="2700" u="none" cap="none" strike="noStrike">
              <a:solidFill>
                <a:schemeClr val="dk1"/>
              </a:solidFill>
              <a:latin typeface="Arial"/>
              <a:ea typeface="Arial"/>
              <a:cs typeface="Arial"/>
              <a:sym typeface="Arial"/>
            </a:endParaRPr>
          </a:p>
        </p:txBody>
      </p:sp>
      <p:sp>
        <p:nvSpPr>
          <p:cNvPr id="105" name="Google Shape;105;p4"/>
          <p:cNvSpPr/>
          <p:nvPr/>
        </p:nvSpPr>
        <p:spPr>
          <a:xfrm>
            <a:off x="621792" y="1417320"/>
            <a:ext cx="7132320" cy="4187952"/>
          </a:xfrm>
          <a:prstGeom prst="roundRect">
            <a:avLst>
              <a:gd fmla="val 1310" name="adj"/>
            </a:avLst>
          </a:prstGeom>
          <a:solidFill>
            <a:srgbClr val="06111A"/>
          </a:solidFill>
          <a:ln cap="flat" cmpd="sng" w="10150">
            <a:solidFill>
              <a:srgbClr val="0E4558"/>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n8n-workflow.png" id="106" name="Google Shape;106;p4"/>
          <p:cNvPicPr preferRelativeResize="0"/>
          <p:nvPr/>
        </p:nvPicPr>
        <p:blipFill rotWithShape="1">
          <a:blip r:embed="rId5">
            <a:alphaModFix/>
          </a:blip>
          <a:srcRect b="0" l="1610" r="1610" t="0"/>
          <a:stretch/>
        </p:blipFill>
        <p:spPr>
          <a:xfrm>
            <a:off x="557800" y="1407132"/>
            <a:ext cx="7132301" cy="4134143"/>
          </a:xfrm>
          <a:prstGeom prst="rect">
            <a:avLst/>
          </a:prstGeom>
          <a:noFill/>
          <a:ln>
            <a:noFill/>
          </a:ln>
        </p:spPr>
      </p:pic>
      <p:sp>
        <p:nvSpPr>
          <p:cNvPr id="107" name="Google Shape;107;p4"/>
          <p:cNvSpPr/>
          <p:nvPr/>
        </p:nvSpPr>
        <p:spPr>
          <a:xfrm>
            <a:off x="731520" y="5202936"/>
            <a:ext cx="6912864" cy="256032"/>
          </a:xfrm>
          <a:prstGeom prst="roundRect">
            <a:avLst>
              <a:gd fmla="val 14286" name="adj"/>
            </a:avLst>
          </a:prstGeom>
          <a:solidFill>
            <a:srgbClr val="05131D">
              <a:alpha val="85098"/>
            </a:srgbClr>
          </a:solidFill>
          <a:ln cap="flat" cmpd="sng" w="12700">
            <a:solidFill>
              <a:srgbClr val="05131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786384" y="5266944"/>
            <a:ext cx="6803136" cy="12801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A7BED1"/>
              </a:buClr>
              <a:buSzPts val="760"/>
              <a:buFont typeface="Arial"/>
              <a:buNone/>
            </a:pPr>
            <a:r>
              <a:rPr b="1" i="0" lang="en-US" sz="760" u="none" cap="none" strike="noStrike">
                <a:solidFill>
                  <a:srgbClr val="A7BED1"/>
                </a:solidFill>
                <a:latin typeface="Arial"/>
                <a:ea typeface="Arial"/>
                <a:cs typeface="Arial"/>
                <a:sym typeface="Arial"/>
              </a:rPr>
              <a:t>Play recorded n8n POC here</a:t>
            </a:r>
            <a:endParaRPr b="0" i="0" sz="760" u="none" cap="none" strike="noStrike">
              <a:solidFill>
                <a:schemeClr val="dk1"/>
              </a:solidFill>
              <a:latin typeface="Arial"/>
              <a:ea typeface="Arial"/>
              <a:cs typeface="Arial"/>
              <a:sym typeface="Arial"/>
            </a:endParaRPr>
          </a:p>
        </p:txBody>
      </p:sp>
      <p:sp>
        <p:nvSpPr>
          <p:cNvPr id="109" name="Google Shape;109;p4"/>
          <p:cNvSpPr/>
          <p:nvPr/>
        </p:nvSpPr>
        <p:spPr>
          <a:xfrm>
            <a:off x="8001000" y="1417325"/>
            <a:ext cx="3291900" cy="1669500"/>
          </a:xfrm>
          <a:prstGeom prst="roundRect">
            <a:avLst>
              <a:gd fmla="val 2800" name="adj"/>
            </a:avLst>
          </a:prstGeom>
          <a:solidFill>
            <a:srgbClr val="0C2A3A"/>
          </a:solidFill>
          <a:ln cap="flat" cmpd="sng" w="11425">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8165600" y="1545326"/>
            <a:ext cx="2962800" cy="569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FAFF"/>
              </a:buClr>
              <a:buSzPts val="1600"/>
              <a:buFont typeface="Arial"/>
              <a:buNone/>
            </a:pPr>
            <a:r>
              <a:rPr b="1" i="0" lang="en-US" sz="1600" u="none" cap="none" strike="noStrike">
                <a:solidFill>
                  <a:srgbClr val="F4FAFF"/>
                </a:solidFill>
                <a:latin typeface="Arial"/>
                <a:ea typeface="Arial"/>
                <a:cs typeface="Arial"/>
                <a:sym typeface="Arial"/>
              </a:rPr>
              <a:t>Bridge from Round 1 to Round 2</a:t>
            </a:r>
            <a:endParaRPr b="0" i="0" sz="1600" u="none" cap="none" strike="noStrike">
              <a:solidFill>
                <a:schemeClr val="dk1"/>
              </a:solidFill>
              <a:latin typeface="Arial"/>
              <a:ea typeface="Arial"/>
              <a:cs typeface="Arial"/>
              <a:sym typeface="Arial"/>
            </a:endParaRPr>
          </a:p>
        </p:txBody>
      </p:sp>
      <p:sp>
        <p:nvSpPr>
          <p:cNvPr id="111" name="Google Shape;111;p4"/>
          <p:cNvSpPr/>
          <p:nvPr/>
        </p:nvSpPr>
        <p:spPr>
          <a:xfrm>
            <a:off x="8275325" y="2144550"/>
            <a:ext cx="2788800" cy="942300"/>
          </a:xfrm>
          <a:prstGeom prst="rect">
            <a:avLst/>
          </a:prstGeom>
          <a:noFill/>
          <a:ln>
            <a:noFill/>
          </a:ln>
        </p:spPr>
        <p:txBody>
          <a:bodyPr anchorCtr="0" anchor="t" bIns="500" lIns="500" spcFirstLastPara="1" rIns="500" wrap="square" tIns="500">
            <a:normAutofit/>
          </a:bodyPr>
          <a:lstStyle/>
          <a:p>
            <a:pPr indent="0" lvl="0" marL="0" marR="0" rtl="0" algn="ctr">
              <a:spcBef>
                <a:spcPts val="0"/>
              </a:spcBef>
              <a:spcAft>
                <a:spcPts val="0"/>
              </a:spcAft>
              <a:buNone/>
            </a:pPr>
            <a:r>
              <a:rPr b="0" i="0" lang="en-US" sz="1220" u="none" cap="none" strike="noStrike">
                <a:solidFill>
                  <a:srgbClr val="F4FAFF"/>
                </a:solidFill>
                <a:latin typeface="Arial"/>
                <a:ea typeface="Arial"/>
                <a:cs typeface="Arial"/>
                <a:sym typeface="Arial"/>
              </a:rPr>
              <a:t>Industry retained; scope refined</a:t>
            </a:r>
            <a:endParaRPr sz="1220">
              <a:solidFill>
                <a:schemeClr val="dk1"/>
              </a:solidFill>
              <a:latin typeface="Arial"/>
              <a:ea typeface="Arial"/>
              <a:cs typeface="Arial"/>
              <a:sym typeface="Arial"/>
            </a:endParaRPr>
          </a:p>
          <a:p>
            <a:pPr indent="0" lvl="0" marL="0" marR="0" rtl="0" algn="ctr">
              <a:spcBef>
                <a:spcPts val="0"/>
              </a:spcBef>
              <a:spcAft>
                <a:spcPts val="0"/>
              </a:spcAft>
              <a:buNone/>
            </a:pPr>
            <a:r>
              <a:rPr lang="en-US" sz="1220">
                <a:solidFill>
                  <a:srgbClr val="F4FAFF"/>
                </a:solidFill>
                <a:latin typeface="Arial"/>
                <a:ea typeface="Arial"/>
                <a:cs typeface="Arial"/>
                <a:sym typeface="Arial"/>
              </a:rPr>
              <a:t>Daily Briefing removed</a:t>
            </a:r>
            <a:endParaRPr sz="1220">
              <a:solidFill>
                <a:schemeClr val="dk1"/>
              </a:solidFill>
              <a:latin typeface="Arial"/>
              <a:ea typeface="Arial"/>
              <a:cs typeface="Arial"/>
              <a:sym typeface="Arial"/>
            </a:endParaRPr>
          </a:p>
          <a:p>
            <a:pPr indent="0" lvl="0" marL="0" marR="0" rtl="0" algn="ctr">
              <a:spcBef>
                <a:spcPts val="0"/>
              </a:spcBef>
              <a:spcAft>
                <a:spcPts val="0"/>
              </a:spcAft>
              <a:buNone/>
            </a:pPr>
            <a:r>
              <a:rPr lang="en-US" sz="1220">
                <a:solidFill>
                  <a:srgbClr val="F4FAFF"/>
                </a:solidFill>
                <a:latin typeface="Arial"/>
                <a:ea typeface="Arial"/>
                <a:cs typeface="Arial"/>
                <a:sym typeface="Arial"/>
              </a:rPr>
              <a:t>Risk &amp; Regulatory Alerting added</a:t>
            </a:r>
            <a:endParaRPr sz="1220">
              <a:solidFill>
                <a:schemeClr val="dk1"/>
              </a:solidFill>
              <a:latin typeface="Arial"/>
              <a:ea typeface="Arial"/>
              <a:cs typeface="Arial"/>
              <a:sym typeface="Arial"/>
            </a:endParaRPr>
          </a:p>
          <a:p>
            <a:pPr indent="0" lvl="0" marL="0" marR="0" rtl="0" algn="ctr">
              <a:spcBef>
                <a:spcPts val="0"/>
              </a:spcBef>
              <a:spcAft>
                <a:spcPts val="0"/>
              </a:spcAft>
              <a:buNone/>
            </a:pPr>
            <a:r>
              <a:rPr lang="en-US" sz="1220">
                <a:solidFill>
                  <a:srgbClr val="F4FAFF"/>
                </a:solidFill>
                <a:latin typeface="Arial"/>
                <a:ea typeface="Arial"/>
                <a:cs typeface="Arial"/>
                <a:sym typeface="Arial"/>
              </a:rPr>
              <a:t>Built a working analyst-facing MVP</a:t>
            </a:r>
            <a:endParaRPr sz="1220">
              <a:solidFill>
                <a:schemeClr val="dk1"/>
              </a:solidFill>
              <a:latin typeface="Arial"/>
              <a:ea typeface="Arial"/>
              <a:cs typeface="Arial"/>
              <a:sym typeface="Arial"/>
            </a:endParaRPr>
          </a:p>
        </p:txBody>
      </p:sp>
      <p:sp>
        <p:nvSpPr>
          <p:cNvPr id="112" name="Google Shape;112;p4"/>
          <p:cNvSpPr/>
          <p:nvPr/>
        </p:nvSpPr>
        <p:spPr>
          <a:xfrm>
            <a:off x="8001000" y="3269400"/>
            <a:ext cx="3291900" cy="1220100"/>
          </a:xfrm>
          <a:prstGeom prst="roundRect">
            <a:avLst>
              <a:gd fmla="val 8537" name="adj"/>
            </a:avLst>
          </a:prstGeom>
          <a:solidFill>
            <a:srgbClr val="0D3025"/>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8165600" y="3399550"/>
            <a:ext cx="2962800" cy="411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FAFF"/>
              </a:buClr>
              <a:buSzPts val="1300"/>
              <a:buFont typeface="Arial"/>
              <a:buNone/>
            </a:pPr>
            <a:r>
              <a:rPr b="1" lang="en-US" sz="1300">
                <a:solidFill>
                  <a:srgbClr val="F4FAFF"/>
                </a:solidFill>
                <a:latin typeface="Arial"/>
                <a:ea typeface="Arial"/>
                <a:cs typeface="Arial"/>
                <a:sym typeface="Arial"/>
              </a:rPr>
              <a:t>What the POC proves</a:t>
            </a:r>
            <a:endParaRPr sz="1300">
              <a:solidFill>
                <a:schemeClr val="dk1"/>
              </a:solidFill>
              <a:latin typeface="Arial"/>
              <a:ea typeface="Arial"/>
              <a:cs typeface="Arial"/>
              <a:sym typeface="Arial"/>
            </a:endParaRPr>
          </a:p>
        </p:txBody>
      </p:sp>
      <p:sp>
        <p:nvSpPr>
          <p:cNvPr id="114" name="Google Shape;114;p4"/>
          <p:cNvSpPr/>
          <p:nvPr/>
        </p:nvSpPr>
        <p:spPr>
          <a:xfrm>
            <a:off x="8165600" y="3811151"/>
            <a:ext cx="2962800" cy="569100"/>
          </a:xfrm>
          <a:prstGeom prst="rect">
            <a:avLst/>
          </a:prstGeom>
          <a:noFill/>
          <a:ln>
            <a:noFill/>
          </a:ln>
        </p:spPr>
        <p:txBody>
          <a:bodyPr anchorCtr="0" anchor="t" bIns="250" lIns="250" spcFirstLastPara="1" rIns="250" wrap="square" tIns="250">
            <a:normAutofit/>
          </a:bodyPr>
          <a:lstStyle/>
          <a:p>
            <a:pPr indent="0" lvl="0" marL="0" marR="0" rtl="0" algn="ctr">
              <a:spcBef>
                <a:spcPts val="0"/>
              </a:spcBef>
              <a:spcAft>
                <a:spcPts val="0"/>
              </a:spcAft>
              <a:buClr>
                <a:srgbClr val="A7BED1"/>
              </a:buClr>
              <a:buSzPts val="1030"/>
              <a:buFont typeface="Arial"/>
              <a:buNone/>
            </a:pPr>
            <a:r>
              <a:rPr lang="en-US" sz="1030">
                <a:solidFill>
                  <a:srgbClr val="A7BED1"/>
                </a:solidFill>
                <a:latin typeface="Arial"/>
                <a:ea typeface="Arial"/>
                <a:cs typeface="Arial"/>
                <a:sym typeface="Arial"/>
              </a:rPr>
              <a:t>Feasibility of structured AI output and priority routing.</a:t>
            </a:r>
            <a:endParaRPr sz="1030">
              <a:solidFill>
                <a:schemeClr val="dk1"/>
              </a:solidFill>
              <a:latin typeface="Arial"/>
              <a:ea typeface="Arial"/>
              <a:cs typeface="Arial"/>
              <a:sym typeface="Arial"/>
            </a:endParaRPr>
          </a:p>
        </p:txBody>
      </p:sp>
      <p:sp>
        <p:nvSpPr>
          <p:cNvPr id="115" name="Google Shape;115;p4"/>
          <p:cNvSpPr/>
          <p:nvPr/>
        </p:nvSpPr>
        <p:spPr>
          <a:xfrm>
            <a:off x="8001000" y="4672050"/>
            <a:ext cx="3291900" cy="942300"/>
          </a:xfrm>
          <a:prstGeom prst="roundRect">
            <a:avLst>
              <a:gd fmla="val 8537" name="adj"/>
            </a:avLst>
          </a:prstGeom>
          <a:solidFill>
            <a:srgbClr val="30151A"/>
          </a:solidFill>
          <a:ln cap="flat" cmpd="sng" w="11425">
            <a:solidFill>
              <a:srgbClr val="FF5A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8165600" y="4672054"/>
            <a:ext cx="2962800" cy="4116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FAFF"/>
              </a:buClr>
              <a:buSzPts val="1300"/>
              <a:buFont typeface="Arial"/>
              <a:buNone/>
            </a:pPr>
            <a:r>
              <a:rPr b="1" lang="en-US" sz="1300">
                <a:solidFill>
                  <a:srgbClr val="F4FAFF"/>
                </a:solidFill>
                <a:latin typeface="Arial"/>
                <a:ea typeface="Arial"/>
                <a:cs typeface="Arial"/>
                <a:sym typeface="Arial"/>
              </a:rPr>
              <a:t>What it does not prove</a:t>
            </a:r>
            <a:endParaRPr sz="1300">
              <a:solidFill>
                <a:schemeClr val="dk1"/>
              </a:solidFill>
              <a:latin typeface="Arial"/>
              <a:ea typeface="Arial"/>
              <a:cs typeface="Arial"/>
              <a:sym typeface="Arial"/>
            </a:endParaRPr>
          </a:p>
        </p:txBody>
      </p:sp>
      <p:sp>
        <p:nvSpPr>
          <p:cNvPr id="117" name="Google Shape;117;p4"/>
          <p:cNvSpPr/>
          <p:nvPr/>
        </p:nvSpPr>
        <p:spPr>
          <a:xfrm>
            <a:off x="8165600" y="5065700"/>
            <a:ext cx="2962800" cy="411600"/>
          </a:xfrm>
          <a:prstGeom prst="rect">
            <a:avLst/>
          </a:prstGeom>
          <a:noFill/>
          <a:ln>
            <a:noFill/>
          </a:ln>
        </p:spPr>
        <p:txBody>
          <a:bodyPr anchorCtr="0" anchor="t" bIns="250" lIns="250" spcFirstLastPara="1" rIns="250" wrap="square" tIns="250">
            <a:normAutofit/>
          </a:bodyPr>
          <a:lstStyle/>
          <a:p>
            <a:pPr indent="0" lvl="0" marL="0" marR="0" rtl="0" algn="ctr">
              <a:spcBef>
                <a:spcPts val="0"/>
              </a:spcBef>
              <a:spcAft>
                <a:spcPts val="0"/>
              </a:spcAft>
              <a:buClr>
                <a:srgbClr val="A7BED1"/>
              </a:buClr>
              <a:buSzPts val="1030"/>
              <a:buFont typeface="Arial"/>
              <a:buNone/>
            </a:pPr>
            <a:r>
              <a:rPr lang="en-US" sz="1030">
                <a:solidFill>
                  <a:srgbClr val="A7BED1"/>
                </a:solidFill>
                <a:latin typeface="Arial"/>
                <a:ea typeface="Arial"/>
                <a:cs typeface="Arial"/>
                <a:sym typeface="Arial"/>
              </a:rPr>
              <a:t>Production accuracy, security, reliability or scalability.</a:t>
            </a:r>
            <a:endParaRPr sz="103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122" name="Shape 122"/>
        <p:cNvGrpSpPr/>
        <p:nvPr/>
      </p:nvGrpSpPr>
      <p:grpSpPr>
        <a:xfrm>
          <a:off x="0" y="0"/>
          <a:ext cx="0" cy="0"/>
          <a:chOff x="0" y="0"/>
          <a:chExt cx="0" cy="0"/>
        </a:xfrm>
      </p:grpSpPr>
      <p:pic>
        <p:nvPicPr>
          <p:cNvPr descr="/mnt/data/finradar_logo_watermark_dark.png" id="123" name="Google Shape;123;p5"/>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124" name="Google Shape;124;p5"/>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950"/>
              <a:buFont typeface="Arial"/>
              <a:buNone/>
            </a:pPr>
            <a:r>
              <a:rPr b="1" lang="en-US" sz="1200">
                <a:solidFill>
                  <a:srgbClr val="31D7F7"/>
                </a:solidFill>
                <a:latin typeface="Arial"/>
                <a:ea typeface="Arial"/>
                <a:cs typeface="Arial"/>
                <a:sym typeface="Arial"/>
              </a:rPr>
              <a:t>FinRadar AI | Round 2</a:t>
            </a:r>
            <a:endParaRPr sz="1200">
              <a:solidFill>
                <a:schemeClr val="dk1"/>
              </a:solidFill>
              <a:latin typeface="Arial"/>
              <a:ea typeface="Arial"/>
              <a:cs typeface="Arial"/>
              <a:sym typeface="Arial"/>
            </a:endParaRPr>
          </a:p>
        </p:txBody>
      </p:sp>
      <p:pic>
        <p:nvPicPr>
          <p:cNvPr descr="/mnt/data/ironhack-logo.png" id="125" name="Google Shape;125;p5"/>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126" name="Google Shape;126;p5"/>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127" name="Google Shape;127;p5"/>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spcBef>
                <a:spcPts val="0"/>
              </a:spcBef>
              <a:spcAft>
                <a:spcPts val="0"/>
              </a:spcAft>
              <a:buClr>
                <a:srgbClr val="A7BED1"/>
              </a:buClr>
              <a:buSzPts val="900"/>
              <a:buFont typeface="Arial"/>
              <a:buNone/>
            </a:pPr>
            <a:r>
              <a:rPr lang="en-US" sz="1200">
                <a:solidFill>
                  <a:srgbClr val="A7BED1"/>
                </a:solidFill>
                <a:latin typeface="Arial"/>
                <a:ea typeface="Arial"/>
                <a:cs typeface="Arial"/>
                <a:sym typeface="Arial"/>
              </a:rPr>
              <a:t>AI Assists - Humans Decide</a:t>
            </a:r>
            <a:endParaRPr sz="1200">
              <a:solidFill>
                <a:schemeClr val="dk1"/>
              </a:solidFill>
              <a:latin typeface="Arial"/>
              <a:ea typeface="Arial"/>
              <a:cs typeface="Arial"/>
              <a:sym typeface="Arial"/>
            </a:endParaRPr>
          </a:p>
        </p:txBody>
      </p:sp>
      <p:sp>
        <p:nvSpPr>
          <p:cNvPr id="128" name="Google Shape;128;p5"/>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spcBef>
                <a:spcPts val="0"/>
              </a:spcBef>
              <a:spcAft>
                <a:spcPts val="0"/>
              </a:spcAft>
              <a:buClr>
                <a:srgbClr val="A7BED1"/>
              </a:buClr>
              <a:buSzPts val="900"/>
              <a:buFont typeface="Arial"/>
              <a:buNone/>
            </a:pPr>
            <a:r>
              <a:rPr lang="en-US" sz="900">
                <a:solidFill>
                  <a:srgbClr val="A7BED1"/>
                </a:solidFill>
                <a:latin typeface="Arial"/>
                <a:ea typeface="Arial"/>
                <a:cs typeface="Arial"/>
                <a:sym typeface="Arial"/>
              </a:rPr>
              <a:t>05</a:t>
            </a:r>
            <a:endParaRPr sz="900">
              <a:solidFill>
                <a:schemeClr val="dk1"/>
              </a:solidFill>
              <a:latin typeface="Arial"/>
              <a:ea typeface="Arial"/>
              <a:cs typeface="Arial"/>
              <a:sym typeface="Arial"/>
            </a:endParaRPr>
          </a:p>
        </p:txBody>
      </p:sp>
      <p:sp>
        <p:nvSpPr>
          <p:cNvPr id="129" name="Google Shape;129;p5"/>
          <p:cNvSpPr/>
          <p:nvPr/>
        </p:nvSpPr>
        <p:spPr>
          <a:xfrm>
            <a:off x="685800" y="841250"/>
            <a:ext cx="9811500" cy="320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2800"/>
              <a:buFont typeface="Arial"/>
              <a:buNone/>
            </a:pPr>
            <a:r>
              <a:rPr b="1" lang="en-US" sz="2800">
                <a:solidFill>
                  <a:srgbClr val="F4FAFF"/>
                </a:solidFill>
                <a:latin typeface="Arial"/>
                <a:ea typeface="Arial"/>
                <a:cs typeface="Arial"/>
                <a:sym typeface="Arial"/>
              </a:rPr>
              <a:t>Business Case: positive ROI if pilot assumptions hold</a:t>
            </a:r>
            <a:endParaRPr sz="2800">
              <a:solidFill>
                <a:schemeClr val="dk1"/>
              </a:solidFill>
              <a:latin typeface="Arial"/>
              <a:ea typeface="Arial"/>
              <a:cs typeface="Arial"/>
              <a:sym typeface="Arial"/>
            </a:endParaRPr>
          </a:p>
        </p:txBody>
      </p:sp>
      <p:sp>
        <p:nvSpPr>
          <p:cNvPr id="130" name="Google Shape;130;p5"/>
          <p:cNvSpPr/>
          <p:nvPr/>
        </p:nvSpPr>
        <p:spPr>
          <a:xfrm>
            <a:off x="685800" y="1353303"/>
            <a:ext cx="7635300" cy="201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250"/>
              <a:buFont typeface="Arial"/>
              <a:buNone/>
            </a:pPr>
            <a:r>
              <a:rPr lang="en-US" sz="1250">
                <a:solidFill>
                  <a:srgbClr val="A7BED1"/>
                </a:solidFill>
                <a:latin typeface="Arial"/>
                <a:ea typeface="Arial"/>
                <a:cs typeface="Arial"/>
                <a:sym typeface="Arial"/>
              </a:rPr>
              <a:t>Planning estimates — actual value should be validated during the controlled pilot.</a:t>
            </a:r>
            <a:endParaRPr sz="1250">
              <a:solidFill>
                <a:schemeClr val="dk1"/>
              </a:solidFill>
              <a:latin typeface="Arial"/>
              <a:ea typeface="Arial"/>
              <a:cs typeface="Arial"/>
              <a:sym typeface="Arial"/>
            </a:endParaRPr>
          </a:p>
        </p:txBody>
      </p:sp>
      <p:sp>
        <p:nvSpPr>
          <p:cNvPr id="131" name="Google Shape;131;p5"/>
          <p:cNvSpPr/>
          <p:nvPr/>
        </p:nvSpPr>
        <p:spPr>
          <a:xfrm>
            <a:off x="685800" y="1847088"/>
            <a:ext cx="2148840" cy="1024128"/>
          </a:xfrm>
          <a:prstGeom prst="rect">
            <a:avLst/>
          </a:prstGeom>
          <a:solidFill>
            <a:srgbClr val="0C2A3A"/>
          </a:solidFill>
          <a:ln cap="flat" cmpd="sng" w="12700">
            <a:solidFill>
              <a:srgbClr val="2EEA90"/>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spcBef>
                <a:spcPts val="0"/>
              </a:spcBef>
              <a:spcAft>
                <a:spcPts val="0"/>
              </a:spcAft>
              <a:buClr>
                <a:srgbClr val="2EEA90"/>
              </a:buClr>
              <a:buSzPts val="1130"/>
              <a:buFont typeface="Arial"/>
              <a:buNone/>
            </a:pPr>
            <a:r>
              <a:rPr b="1" lang="en-US">
                <a:solidFill>
                  <a:srgbClr val="2EEA90"/>
                </a:solidFill>
                <a:latin typeface="Arial"/>
                <a:ea typeface="Arial"/>
                <a:cs typeface="Arial"/>
                <a:sym typeface="Arial"/>
              </a:rPr>
              <a:t>€47.5k</a:t>
            </a:r>
            <a:endParaRPr>
              <a:solidFill>
                <a:schemeClr val="dk1"/>
              </a:solidFill>
              <a:latin typeface="Arial"/>
              <a:ea typeface="Arial"/>
              <a:cs typeface="Arial"/>
              <a:sym typeface="Arial"/>
            </a:endParaRPr>
          </a:p>
          <a:p>
            <a:pPr indent="0" lvl="0" marL="0" marR="0" rtl="0" algn="ctr">
              <a:spcBef>
                <a:spcPts val="0"/>
              </a:spcBef>
              <a:spcAft>
                <a:spcPts val="0"/>
              </a:spcAft>
              <a:buClr>
                <a:srgbClr val="2EEA90"/>
              </a:buClr>
              <a:buSzPts val="1130"/>
              <a:buFont typeface="Arial"/>
              <a:buNone/>
            </a:pPr>
            <a:r>
              <a:rPr b="1" lang="en-US">
                <a:solidFill>
                  <a:srgbClr val="2EEA90"/>
                </a:solidFill>
                <a:latin typeface="Arial"/>
                <a:ea typeface="Arial"/>
                <a:cs typeface="Arial"/>
                <a:sym typeface="Arial"/>
              </a:rPr>
              <a:t>estimated annual value</a:t>
            </a:r>
            <a:endParaRPr>
              <a:solidFill>
                <a:schemeClr val="dk1"/>
              </a:solidFill>
              <a:latin typeface="Arial"/>
              <a:ea typeface="Arial"/>
              <a:cs typeface="Arial"/>
              <a:sym typeface="Arial"/>
            </a:endParaRPr>
          </a:p>
        </p:txBody>
      </p:sp>
      <p:sp>
        <p:nvSpPr>
          <p:cNvPr id="132" name="Google Shape;132;p5"/>
          <p:cNvSpPr/>
          <p:nvPr/>
        </p:nvSpPr>
        <p:spPr>
          <a:xfrm>
            <a:off x="3035808" y="1847088"/>
            <a:ext cx="2148840" cy="1024128"/>
          </a:xfrm>
          <a:prstGeom prst="rect">
            <a:avLst/>
          </a:prstGeom>
          <a:solidFill>
            <a:srgbClr val="0C2A3A"/>
          </a:solidFill>
          <a:ln cap="flat" cmpd="sng" w="12700">
            <a:solidFill>
              <a:srgbClr val="31D7F7"/>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spcBef>
                <a:spcPts val="0"/>
              </a:spcBef>
              <a:spcAft>
                <a:spcPts val="0"/>
              </a:spcAft>
              <a:buClr>
                <a:srgbClr val="31D7F7"/>
              </a:buClr>
              <a:buSzPts val="1130"/>
              <a:buFont typeface="Arial"/>
              <a:buNone/>
            </a:pPr>
            <a:r>
              <a:rPr b="1" lang="en-US">
                <a:solidFill>
                  <a:srgbClr val="31D7F7"/>
                </a:solidFill>
                <a:latin typeface="Arial"/>
                <a:ea typeface="Arial"/>
                <a:cs typeface="Arial"/>
                <a:sym typeface="Arial"/>
              </a:rPr>
              <a:t>€20.1k</a:t>
            </a:r>
            <a:endParaRPr>
              <a:solidFill>
                <a:schemeClr val="dk1"/>
              </a:solidFill>
              <a:latin typeface="Arial"/>
              <a:ea typeface="Arial"/>
              <a:cs typeface="Arial"/>
              <a:sym typeface="Arial"/>
            </a:endParaRPr>
          </a:p>
          <a:p>
            <a:pPr indent="0" lvl="0" marL="0" marR="0" rtl="0" algn="ctr">
              <a:spcBef>
                <a:spcPts val="0"/>
              </a:spcBef>
              <a:spcAft>
                <a:spcPts val="0"/>
              </a:spcAft>
              <a:buClr>
                <a:srgbClr val="31D7F7"/>
              </a:buClr>
              <a:buSzPts val="1130"/>
              <a:buFont typeface="Arial"/>
              <a:buNone/>
            </a:pPr>
            <a:r>
              <a:rPr b="1" lang="en-US">
                <a:solidFill>
                  <a:srgbClr val="31D7F7"/>
                </a:solidFill>
                <a:latin typeface="Arial"/>
                <a:ea typeface="Arial"/>
                <a:cs typeface="Arial"/>
                <a:sym typeface="Arial"/>
              </a:rPr>
              <a:t>upfront build cost</a:t>
            </a:r>
            <a:endParaRPr>
              <a:solidFill>
                <a:schemeClr val="dk1"/>
              </a:solidFill>
              <a:latin typeface="Arial"/>
              <a:ea typeface="Arial"/>
              <a:cs typeface="Arial"/>
              <a:sym typeface="Arial"/>
            </a:endParaRPr>
          </a:p>
        </p:txBody>
      </p:sp>
      <p:sp>
        <p:nvSpPr>
          <p:cNvPr id="133" name="Google Shape;133;p5"/>
          <p:cNvSpPr/>
          <p:nvPr/>
        </p:nvSpPr>
        <p:spPr>
          <a:xfrm>
            <a:off x="5385816" y="1847088"/>
            <a:ext cx="2148840" cy="1024128"/>
          </a:xfrm>
          <a:prstGeom prst="rect">
            <a:avLst/>
          </a:prstGeom>
          <a:solidFill>
            <a:srgbClr val="0C2A3A"/>
          </a:solidFill>
          <a:ln cap="flat" cmpd="sng" w="12700">
            <a:solidFill>
              <a:srgbClr val="F6B84A"/>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spcBef>
                <a:spcPts val="0"/>
              </a:spcBef>
              <a:spcAft>
                <a:spcPts val="0"/>
              </a:spcAft>
              <a:buClr>
                <a:srgbClr val="F6B84A"/>
              </a:buClr>
              <a:buSzPts val="1130"/>
              <a:buFont typeface="Arial"/>
              <a:buNone/>
            </a:pPr>
            <a:r>
              <a:rPr b="1" lang="en-US">
                <a:solidFill>
                  <a:srgbClr val="F6B84A"/>
                </a:solidFill>
                <a:latin typeface="Arial"/>
                <a:ea typeface="Arial"/>
                <a:cs typeface="Arial"/>
                <a:sym typeface="Arial"/>
              </a:rPr>
              <a:t>€8.8k</a:t>
            </a:r>
            <a:endParaRPr>
              <a:solidFill>
                <a:schemeClr val="dk1"/>
              </a:solidFill>
              <a:latin typeface="Arial"/>
              <a:ea typeface="Arial"/>
              <a:cs typeface="Arial"/>
              <a:sym typeface="Arial"/>
            </a:endParaRPr>
          </a:p>
          <a:p>
            <a:pPr indent="0" lvl="0" marL="0" marR="0" rtl="0" algn="ctr">
              <a:spcBef>
                <a:spcPts val="0"/>
              </a:spcBef>
              <a:spcAft>
                <a:spcPts val="0"/>
              </a:spcAft>
              <a:buClr>
                <a:srgbClr val="F6B84A"/>
              </a:buClr>
              <a:buSzPts val="1130"/>
              <a:buFont typeface="Arial"/>
              <a:buNone/>
            </a:pPr>
            <a:r>
              <a:rPr b="1" lang="en-US">
                <a:solidFill>
                  <a:srgbClr val="F6B84A"/>
                </a:solidFill>
                <a:latin typeface="Arial"/>
                <a:ea typeface="Arial"/>
                <a:cs typeface="Arial"/>
                <a:sym typeface="Arial"/>
              </a:rPr>
              <a:t>ongoing annual cost</a:t>
            </a:r>
            <a:endParaRPr>
              <a:solidFill>
                <a:schemeClr val="dk1"/>
              </a:solidFill>
              <a:latin typeface="Arial"/>
              <a:ea typeface="Arial"/>
              <a:cs typeface="Arial"/>
              <a:sym typeface="Arial"/>
            </a:endParaRPr>
          </a:p>
        </p:txBody>
      </p:sp>
      <p:sp>
        <p:nvSpPr>
          <p:cNvPr id="134" name="Google Shape;134;p5"/>
          <p:cNvSpPr/>
          <p:nvPr/>
        </p:nvSpPr>
        <p:spPr>
          <a:xfrm>
            <a:off x="7735824" y="1847088"/>
            <a:ext cx="2148900" cy="1024200"/>
          </a:xfrm>
          <a:prstGeom prst="rect">
            <a:avLst/>
          </a:prstGeom>
          <a:solidFill>
            <a:srgbClr val="0C2A3A"/>
          </a:solidFill>
          <a:ln cap="flat" cmpd="sng" w="12700">
            <a:solidFill>
              <a:srgbClr val="1B83F6"/>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spcBef>
                <a:spcPts val="0"/>
              </a:spcBef>
              <a:spcAft>
                <a:spcPts val="0"/>
              </a:spcAft>
              <a:buClr>
                <a:srgbClr val="1B83F6"/>
              </a:buClr>
              <a:buSzPts val="1130"/>
              <a:buFont typeface="Arial"/>
              <a:buNone/>
            </a:pPr>
            <a:r>
              <a:rPr b="1" lang="en-US">
                <a:solidFill>
                  <a:srgbClr val="1B83F6"/>
                </a:solidFill>
                <a:latin typeface="Arial"/>
                <a:ea typeface="Arial"/>
                <a:cs typeface="Arial"/>
                <a:sym typeface="Arial"/>
              </a:rPr>
              <a:t>6.2 mo</a:t>
            </a:r>
            <a:endParaRPr>
              <a:solidFill>
                <a:schemeClr val="dk1"/>
              </a:solidFill>
              <a:latin typeface="Arial"/>
              <a:ea typeface="Arial"/>
              <a:cs typeface="Arial"/>
              <a:sym typeface="Arial"/>
            </a:endParaRPr>
          </a:p>
          <a:p>
            <a:pPr indent="0" lvl="0" marL="0" marR="0" rtl="0" algn="ctr">
              <a:spcBef>
                <a:spcPts val="0"/>
              </a:spcBef>
              <a:spcAft>
                <a:spcPts val="0"/>
              </a:spcAft>
              <a:buClr>
                <a:srgbClr val="1B83F6"/>
              </a:buClr>
              <a:buSzPts val="1130"/>
              <a:buFont typeface="Arial"/>
              <a:buNone/>
            </a:pPr>
            <a:r>
              <a:rPr b="1" lang="en-US">
                <a:solidFill>
                  <a:srgbClr val="1B83F6"/>
                </a:solidFill>
                <a:latin typeface="Arial"/>
                <a:ea typeface="Arial"/>
                <a:cs typeface="Arial"/>
                <a:sym typeface="Arial"/>
              </a:rPr>
              <a:t>break-even</a:t>
            </a:r>
            <a:endParaRPr>
              <a:solidFill>
                <a:schemeClr val="dk1"/>
              </a:solidFill>
              <a:latin typeface="Arial"/>
              <a:ea typeface="Arial"/>
              <a:cs typeface="Arial"/>
              <a:sym typeface="Arial"/>
            </a:endParaRPr>
          </a:p>
        </p:txBody>
      </p:sp>
      <p:sp>
        <p:nvSpPr>
          <p:cNvPr id="135" name="Google Shape;135;p5"/>
          <p:cNvSpPr/>
          <p:nvPr/>
        </p:nvSpPr>
        <p:spPr>
          <a:xfrm>
            <a:off x="685800" y="3429000"/>
            <a:ext cx="9189720" cy="1508760"/>
          </a:xfrm>
          <a:prstGeom prst="roundRect">
            <a:avLst>
              <a:gd fmla="val 3636" name="adj"/>
            </a:avLst>
          </a:prstGeom>
          <a:solidFill>
            <a:srgbClr val="0C2A3A"/>
          </a:solidFill>
          <a:ln cap="flat" cmpd="sng" w="12700">
            <a:solidFill>
              <a:srgbClr val="143D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960120" y="3611880"/>
            <a:ext cx="164592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500"/>
              <a:buFont typeface="Arial"/>
              <a:buNone/>
            </a:pPr>
            <a:r>
              <a:rPr b="1" lang="en-US" sz="1500">
                <a:solidFill>
                  <a:srgbClr val="F4FAFF"/>
                </a:solidFill>
                <a:latin typeface="Arial"/>
                <a:ea typeface="Arial"/>
                <a:cs typeface="Arial"/>
                <a:sym typeface="Arial"/>
              </a:rPr>
              <a:t>Estimated ROI</a:t>
            </a:r>
            <a:endParaRPr sz="1500">
              <a:solidFill>
                <a:schemeClr val="dk1"/>
              </a:solidFill>
              <a:latin typeface="Arial"/>
              <a:ea typeface="Arial"/>
              <a:cs typeface="Arial"/>
              <a:sym typeface="Arial"/>
            </a:endParaRPr>
          </a:p>
        </p:txBody>
      </p:sp>
      <p:sp>
        <p:nvSpPr>
          <p:cNvPr id="137" name="Google Shape;137;p5"/>
          <p:cNvSpPr/>
          <p:nvPr/>
        </p:nvSpPr>
        <p:spPr>
          <a:xfrm>
            <a:off x="960120" y="4160520"/>
            <a:ext cx="118872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050"/>
              <a:buFont typeface="Arial"/>
              <a:buNone/>
            </a:pPr>
            <a:r>
              <a:rPr b="1" lang="en-US" sz="1200">
                <a:solidFill>
                  <a:srgbClr val="A7BED1"/>
                </a:solidFill>
              </a:rPr>
              <a:t>12-month ROI</a:t>
            </a:r>
            <a:endParaRPr b="1" sz="1200">
              <a:solidFill>
                <a:schemeClr val="dk1"/>
              </a:solidFill>
            </a:endParaRPr>
          </a:p>
        </p:txBody>
      </p:sp>
      <p:sp>
        <p:nvSpPr>
          <p:cNvPr id="138" name="Google Shape;138;p5"/>
          <p:cNvSpPr/>
          <p:nvPr/>
        </p:nvSpPr>
        <p:spPr>
          <a:xfrm>
            <a:off x="2212848" y="4069080"/>
            <a:ext cx="2057400" cy="256032"/>
          </a:xfrm>
          <a:prstGeom prst="rect">
            <a:avLst/>
          </a:prstGeom>
          <a:solidFill>
            <a:srgbClr val="2EEA90"/>
          </a:solidFill>
          <a:ln cap="flat" cmpd="sng" w="12700">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4407408" y="4050792"/>
            <a:ext cx="82296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EEA90"/>
              </a:buClr>
              <a:buSzPts val="1250"/>
              <a:buFont typeface="Arial"/>
              <a:buNone/>
            </a:pPr>
            <a:r>
              <a:rPr b="1" lang="en-US" sz="1250">
                <a:solidFill>
                  <a:srgbClr val="2EEA90"/>
                </a:solidFill>
                <a:latin typeface="Arial"/>
                <a:ea typeface="Arial"/>
                <a:cs typeface="Arial"/>
                <a:sym typeface="Arial"/>
              </a:rPr>
              <a:t>64.4%</a:t>
            </a:r>
            <a:endParaRPr sz="1250">
              <a:solidFill>
                <a:schemeClr val="dk1"/>
              </a:solidFill>
              <a:latin typeface="Arial"/>
              <a:ea typeface="Arial"/>
              <a:cs typeface="Arial"/>
              <a:sym typeface="Arial"/>
            </a:endParaRPr>
          </a:p>
        </p:txBody>
      </p:sp>
      <p:sp>
        <p:nvSpPr>
          <p:cNvPr id="140" name="Google Shape;140;p5"/>
          <p:cNvSpPr/>
          <p:nvPr/>
        </p:nvSpPr>
        <p:spPr>
          <a:xfrm>
            <a:off x="960120" y="4590288"/>
            <a:ext cx="118872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050"/>
              <a:buFont typeface="Arial"/>
              <a:buNone/>
            </a:pPr>
            <a:r>
              <a:rPr b="1" lang="en-US" sz="1200">
                <a:solidFill>
                  <a:srgbClr val="A7BED1"/>
                </a:solidFill>
              </a:rPr>
              <a:t>36-month ROI</a:t>
            </a:r>
            <a:endParaRPr b="1" sz="1200">
              <a:solidFill>
                <a:schemeClr val="dk1"/>
              </a:solidFill>
            </a:endParaRPr>
          </a:p>
        </p:txBody>
      </p:sp>
      <p:sp>
        <p:nvSpPr>
          <p:cNvPr id="141" name="Google Shape;141;p5"/>
          <p:cNvSpPr/>
          <p:nvPr/>
        </p:nvSpPr>
        <p:spPr>
          <a:xfrm>
            <a:off x="2212848" y="4517136"/>
            <a:ext cx="5486400" cy="256032"/>
          </a:xfrm>
          <a:prstGeom prst="rect">
            <a:avLst/>
          </a:prstGeom>
          <a:solidFill>
            <a:srgbClr val="31D7F7"/>
          </a:solidFill>
          <a:ln cap="flat" cmpd="sng" w="12700">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7882128" y="4489704"/>
            <a:ext cx="914400" cy="22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1250"/>
              <a:buFont typeface="Arial"/>
              <a:buNone/>
            </a:pPr>
            <a:r>
              <a:rPr b="1" lang="en-US" sz="1250">
                <a:solidFill>
                  <a:srgbClr val="31D7F7"/>
                </a:solidFill>
                <a:latin typeface="Arial"/>
                <a:ea typeface="Arial"/>
                <a:cs typeface="Arial"/>
                <a:sym typeface="Arial"/>
              </a:rPr>
              <a:t>206.0%</a:t>
            </a:r>
            <a:endParaRPr sz="1250">
              <a:solidFill>
                <a:schemeClr val="dk1"/>
              </a:solidFill>
              <a:latin typeface="Arial"/>
              <a:ea typeface="Arial"/>
              <a:cs typeface="Arial"/>
              <a:sym typeface="Arial"/>
            </a:endParaRPr>
          </a:p>
        </p:txBody>
      </p:sp>
      <p:sp>
        <p:nvSpPr>
          <p:cNvPr id="143" name="Google Shape;143;p5"/>
          <p:cNvSpPr/>
          <p:nvPr/>
        </p:nvSpPr>
        <p:spPr>
          <a:xfrm>
            <a:off x="685800" y="5285232"/>
            <a:ext cx="4389120" cy="731520"/>
          </a:xfrm>
          <a:prstGeom prst="roundRect">
            <a:avLst>
              <a:gd fmla="val 8750" name="adj"/>
            </a:avLst>
          </a:prstGeom>
          <a:solidFill>
            <a:srgbClr val="0A2536"/>
          </a:solidFill>
          <a:ln cap="flat" cmpd="sng" w="11425">
            <a:solidFill>
              <a:srgbClr val="1B8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850425" y="5330999"/>
            <a:ext cx="4059900" cy="2742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300"/>
              <a:buFont typeface="Arial"/>
              <a:buNone/>
            </a:pPr>
            <a:r>
              <a:rPr b="1" lang="en-US" sz="1300">
                <a:solidFill>
                  <a:srgbClr val="F4FAFF"/>
                </a:solidFill>
                <a:latin typeface="Arial"/>
                <a:ea typeface="Arial"/>
                <a:cs typeface="Arial"/>
                <a:sym typeface="Arial"/>
              </a:rPr>
              <a:t>Core value driver</a:t>
            </a:r>
            <a:endParaRPr sz="1300">
              <a:solidFill>
                <a:schemeClr val="dk1"/>
              </a:solidFill>
              <a:latin typeface="Arial"/>
              <a:ea typeface="Arial"/>
              <a:cs typeface="Arial"/>
              <a:sym typeface="Arial"/>
            </a:endParaRPr>
          </a:p>
        </p:txBody>
      </p:sp>
      <p:sp>
        <p:nvSpPr>
          <p:cNvPr id="145" name="Google Shape;145;p5"/>
          <p:cNvSpPr/>
          <p:nvPr/>
        </p:nvSpPr>
        <p:spPr>
          <a:xfrm>
            <a:off x="850400" y="5651013"/>
            <a:ext cx="4059900" cy="22860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A7BED1"/>
              </a:buClr>
              <a:buSzPts val="1200"/>
              <a:buFont typeface="Arial"/>
              <a:buNone/>
            </a:pPr>
            <a:r>
              <a:rPr lang="en-US" sz="1200">
                <a:solidFill>
                  <a:srgbClr val="A7BED1"/>
                </a:solidFill>
                <a:latin typeface="Arial"/>
                <a:ea typeface="Arial"/>
                <a:cs typeface="Arial"/>
                <a:sym typeface="Arial"/>
              </a:rPr>
              <a:t>Less repetitive manual triage — not fewer analysts.</a:t>
            </a:r>
            <a:endParaRPr sz="1200">
              <a:solidFill>
                <a:schemeClr val="dk1"/>
              </a:solidFill>
              <a:latin typeface="Arial"/>
              <a:ea typeface="Arial"/>
              <a:cs typeface="Arial"/>
              <a:sym typeface="Arial"/>
            </a:endParaRPr>
          </a:p>
        </p:txBody>
      </p:sp>
      <p:sp>
        <p:nvSpPr>
          <p:cNvPr id="146" name="Google Shape;146;p5"/>
          <p:cNvSpPr/>
          <p:nvPr/>
        </p:nvSpPr>
        <p:spPr>
          <a:xfrm>
            <a:off x="5440680" y="5285232"/>
            <a:ext cx="4434840" cy="731520"/>
          </a:xfrm>
          <a:prstGeom prst="roundRect">
            <a:avLst>
              <a:gd fmla="val 8750" name="adj"/>
            </a:avLst>
          </a:prstGeom>
          <a:solidFill>
            <a:srgbClr val="0B2A28"/>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5605275" y="5321826"/>
            <a:ext cx="4105800" cy="320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300"/>
              <a:buFont typeface="Arial"/>
              <a:buNone/>
            </a:pPr>
            <a:r>
              <a:rPr b="1" lang="en-US" sz="1300">
                <a:solidFill>
                  <a:srgbClr val="F4FAFF"/>
                </a:solidFill>
                <a:latin typeface="Arial"/>
                <a:ea typeface="Arial"/>
                <a:cs typeface="Arial"/>
                <a:sym typeface="Arial"/>
              </a:rPr>
              <a:t>Investment decision</a:t>
            </a:r>
            <a:endParaRPr sz="1300">
              <a:solidFill>
                <a:schemeClr val="dk1"/>
              </a:solidFill>
              <a:latin typeface="Arial"/>
              <a:ea typeface="Arial"/>
              <a:cs typeface="Arial"/>
              <a:sym typeface="Arial"/>
            </a:endParaRPr>
          </a:p>
        </p:txBody>
      </p:sp>
      <p:sp>
        <p:nvSpPr>
          <p:cNvPr id="148" name="Google Shape;148;p5"/>
          <p:cNvSpPr/>
          <p:nvPr/>
        </p:nvSpPr>
        <p:spPr>
          <a:xfrm>
            <a:off x="5605275" y="5559569"/>
            <a:ext cx="4105800" cy="32010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A7BED1"/>
              </a:buClr>
              <a:buSzPts val="1150"/>
              <a:buFont typeface="Arial"/>
              <a:buNone/>
            </a:pPr>
            <a:r>
              <a:rPr lang="en-US" sz="1150">
                <a:solidFill>
                  <a:srgbClr val="A7BED1"/>
                </a:solidFill>
                <a:latin typeface="Arial"/>
                <a:ea typeface="Arial"/>
                <a:cs typeface="Arial"/>
                <a:sym typeface="Arial"/>
              </a:rPr>
              <a:t>Fund a small pilot to validate time savings, adoption and reliability before scaling.</a:t>
            </a:r>
            <a:endParaRPr sz="115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153" name="Shape 153"/>
        <p:cNvGrpSpPr/>
        <p:nvPr/>
      </p:nvGrpSpPr>
      <p:grpSpPr>
        <a:xfrm>
          <a:off x="0" y="0"/>
          <a:ext cx="0" cy="0"/>
          <a:chOff x="0" y="0"/>
          <a:chExt cx="0" cy="0"/>
        </a:xfrm>
      </p:grpSpPr>
      <p:pic>
        <p:nvPicPr>
          <p:cNvPr descr="/mnt/data/finradar_logo_watermark_dark.png" id="154" name="Google Shape;154;p6"/>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155" name="Google Shape;155;p6"/>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950"/>
              <a:buFont typeface="Arial"/>
              <a:buNone/>
            </a:pPr>
            <a:r>
              <a:rPr b="1" lang="en-US" sz="1200">
                <a:solidFill>
                  <a:srgbClr val="31D7F7"/>
                </a:solidFill>
                <a:latin typeface="Arial"/>
                <a:ea typeface="Arial"/>
                <a:cs typeface="Arial"/>
                <a:sym typeface="Arial"/>
              </a:rPr>
              <a:t>FinRadar AI | Round 2</a:t>
            </a:r>
            <a:endParaRPr sz="1200">
              <a:solidFill>
                <a:schemeClr val="dk1"/>
              </a:solidFill>
              <a:latin typeface="Arial"/>
              <a:ea typeface="Arial"/>
              <a:cs typeface="Arial"/>
              <a:sym typeface="Arial"/>
            </a:endParaRPr>
          </a:p>
        </p:txBody>
      </p:sp>
      <p:pic>
        <p:nvPicPr>
          <p:cNvPr descr="/mnt/data/ironhack-logo.png" id="156" name="Google Shape;156;p6"/>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157" name="Google Shape;157;p6"/>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158" name="Google Shape;158;p6"/>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spcBef>
                <a:spcPts val="0"/>
              </a:spcBef>
              <a:spcAft>
                <a:spcPts val="0"/>
              </a:spcAft>
              <a:buClr>
                <a:srgbClr val="A7BED1"/>
              </a:buClr>
              <a:buSzPts val="900"/>
              <a:buFont typeface="Arial"/>
              <a:buNone/>
            </a:pPr>
            <a:r>
              <a:rPr lang="en-US" sz="1200">
                <a:solidFill>
                  <a:srgbClr val="A7BED1"/>
                </a:solidFill>
                <a:latin typeface="Arial"/>
                <a:ea typeface="Arial"/>
                <a:cs typeface="Arial"/>
                <a:sym typeface="Arial"/>
              </a:rPr>
              <a:t>AI Assists - Humans Decide</a:t>
            </a:r>
            <a:endParaRPr sz="1200">
              <a:solidFill>
                <a:schemeClr val="dk1"/>
              </a:solidFill>
              <a:latin typeface="Arial"/>
              <a:ea typeface="Arial"/>
              <a:cs typeface="Arial"/>
              <a:sym typeface="Arial"/>
            </a:endParaRPr>
          </a:p>
        </p:txBody>
      </p:sp>
      <p:sp>
        <p:nvSpPr>
          <p:cNvPr id="159" name="Google Shape;159;p6"/>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spcBef>
                <a:spcPts val="0"/>
              </a:spcBef>
              <a:spcAft>
                <a:spcPts val="0"/>
              </a:spcAft>
              <a:buClr>
                <a:srgbClr val="A7BED1"/>
              </a:buClr>
              <a:buSzPts val="900"/>
              <a:buFont typeface="Arial"/>
              <a:buNone/>
            </a:pPr>
            <a:r>
              <a:rPr lang="en-US" sz="900">
                <a:solidFill>
                  <a:srgbClr val="A7BED1"/>
                </a:solidFill>
                <a:latin typeface="Arial"/>
                <a:ea typeface="Arial"/>
                <a:cs typeface="Arial"/>
                <a:sym typeface="Arial"/>
              </a:rPr>
              <a:t>06</a:t>
            </a:r>
            <a:endParaRPr sz="900">
              <a:solidFill>
                <a:schemeClr val="dk1"/>
              </a:solidFill>
              <a:latin typeface="Arial"/>
              <a:ea typeface="Arial"/>
              <a:cs typeface="Arial"/>
              <a:sym typeface="Arial"/>
            </a:endParaRPr>
          </a:p>
        </p:txBody>
      </p:sp>
      <p:sp>
        <p:nvSpPr>
          <p:cNvPr id="160" name="Google Shape;160;p6"/>
          <p:cNvSpPr/>
          <p:nvPr/>
        </p:nvSpPr>
        <p:spPr>
          <a:xfrm>
            <a:off x="713225" y="841250"/>
            <a:ext cx="9235500" cy="420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2800"/>
              <a:buFont typeface="Arial"/>
              <a:buNone/>
            </a:pPr>
            <a:r>
              <a:rPr b="1" lang="en-US" sz="2800">
                <a:solidFill>
                  <a:srgbClr val="F4FAFF"/>
                </a:solidFill>
                <a:latin typeface="Arial"/>
                <a:ea typeface="Arial"/>
                <a:cs typeface="Arial"/>
                <a:sym typeface="Arial"/>
              </a:rPr>
              <a:t>Risk Assessment: top risks and mitigations</a:t>
            </a:r>
            <a:endParaRPr sz="2800">
              <a:solidFill>
                <a:schemeClr val="dk1"/>
              </a:solidFill>
              <a:latin typeface="Arial"/>
              <a:ea typeface="Arial"/>
              <a:cs typeface="Arial"/>
              <a:sym typeface="Arial"/>
            </a:endParaRPr>
          </a:p>
        </p:txBody>
      </p:sp>
      <p:sp>
        <p:nvSpPr>
          <p:cNvPr id="161" name="Google Shape;161;p6"/>
          <p:cNvSpPr/>
          <p:nvPr/>
        </p:nvSpPr>
        <p:spPr>
          <a:xfrm>
            <a:off x="774150" y="1353299"/>
            <a:ext cx="8735700" cy="320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230"/>
              <a:buFont typeface="Arial"/>
              <a:buNone/>
            </a:pPr>
            <a:r>
              <a:rPr lang="en-US" sz="1230">
                <a:solidFill>
                  <a:srgbClr val="A7BED1"/>
                </a:solidFill>
                <a:latin typeface="Arial"/>
                <a:ea typeface="Arial"/>
                <a:cs typeface="Arial"/>
                <a:sym typeface="Arial"/>
              </a:rPr>
              <a:t>The full matrix covers more than six regulatory, technical, ethical and operational risks. These are the key pilot blockers.</a:t>
            </a:r>
            <a:endParaRPr sz="1230">
              <a:solidFill>
                <a:schemeClr val="dk1"/>
              </a:solidFill>
              <a:latin typeface="Arial"/>
              <a:ea typeface="Arial"/>
              <a:cs typeface="Arial"/>
              <a:sym typeface="Arial"/>
            </a:endParaRPr>
          </a:p>
        </p:txBody>
      </p:sp>
      <p:sp>
        <p:nvSpPr>
          <p:cNvPr id="162" name="Google Shape;162;p6"/>
          <p:cNvSpPr/>
          <p:nvPr/>
        </p:nvSpPr>
        <p:spPr>
          <a:xfrm>
            <a:off x="685800" y="1874520"/>
            <a:ext cx="10287000" cy="420624"/>
          </a:xfrm>
          <a:prstGeom prst="roundRect">
            <a:avLst>
              <a:gd fmla="val 8696" name="adj"/>
            </a:avLst>
          </a:prstGeom>
          <a:solidFill>
            <a:srgbClr val="0B3347"/>
          </a:solidFill>
          <a:ln cap="flat" cmpd="sng" w="10150">
            <a:solidFill>
              <a:srgbClr val="1FB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868680" y="1975104"/>
            <a:ext cx="182880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1100"/>
              <a:buFont typeface="Arial"/>
              <a:buNone/>
            </a:pPr>
            <a:r>
              <a:rPr b="1" lang="en-US" sz="1100">
                <a:solidFill>
                  <a:srgbClr val="31D7F7"/>
                </a:solidFill>
                <a:latin typeface="Arial"/>
                <a:ea typeface="Arial"/>
                <a:cs typeface="Arial"/>
                <a:sym typeface="Arial"/>
              </a:rPr>
              <a:t>Risk</a:t>
            </a:r>
            <a:endParaRPr sz="1100">
              <a:solidFill>
                <a:schemeClr val="dk1"/>
              </a:solidFill>
              <a:latin typeface="Arial"/>
              <a:ea typeface="Arial"/>
              <a:cs typeface="Arial"/>
              <a:sym typeface="Arial"/>
            </a:endParaRPr>
          </a:p>
        </p:txBody>
      </p:sp>
      <p:sp>
        <p:nvSpPr>
          <p:cNvPr id="164" name="Google Shape;164;p6"/>
          <p:cNvSpPr/>
          <p:nvPr/>
        </p:nvSpPr>
        <p:spPr>
          <a:xfrm>
            <a:off x="3657600" y="1975104"/>
            <a:ext cx="201168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1100"/>
              <a:buFont typeface="Arial"/>
              <a:buNone/>
            </a:pPr>
            <a:r>
              <a:rPr b="1" lang="en-US" sz="1100">
                <a:solidFill>
                  <a:srgbClr val="31D7F7"/>
                </a:solidFill>
                <a:latin typeface="Arial"/>
                <a:ea typeface="Arial"/>
                <a:cs typeface="Arial"/>
                <a:sym typeface="Arial"/>
              </a:rPr>
              <a:t>Likelihood / Impact</a:t>
            </a:r>
            <a:endParaRPr sz="1100">
              <a:solidFill>
                <a:schemeClr val="dk1"/>
              </a:solidFill>
              <a:latin typeface="Arial"/>
              <a:ea typeface="Arial"/>
              <a:cs typeface="Arial"/>
              <a:sym typeface="Arial"/>
            </a:endParaRPr>
          </a:p>
        </p:txBody>
      </p:sp>
      <p:sp>
        <p:nvSpPr>
          <p:cNvPr id="165" name="Google Shape;165;p6"/>
          <p:cNvSpPr/>
          <p:nvPr/>
        </p:nvSpPr>
        <p:spPr>
          <a:xfrm>
            <a:off x="6217920" y="1975104"/>
            <a:ext cx="1828800" cy="14630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1100"/>
              <a:buFont typeface="Arial"/>
              <a:buNone/>
            </a:pPr>
            <a:r>
              <a:rPr b="1" lang="en-US" sz="1100">
                <a:solidFill>
                  <a:srgbClr val="31D7F7"/>
                </a:solidFill>
                <a:latin typeface="Arial"/>
                <a:ea typeface="Arial"/>
                <a:cs typeface="Arial"/>
                <a:sym typeface="Arial"/>
              </a:rPr>
              <a:t>Mitigation</a:t>
            </a:r>
            <a:endParaRPr sz="1100">
              <a:solidFill>
                <a:schemeClr val="dk1"/>
              </a:solidFill>
              <a:latin typeface="Arial"/>
              <a:ea typeface="Arial"/>
              <a:cs typeface="Arial"/>
              <a:sym typeface="Arial"/>
            </a:endParaRPr>
          </a:p>
        </p:txBody>
      </p:sp>
      <p:sp>
        <p:nvSpPr>
          <p:cNvPr id="166" name="Google Shape;166;p6"/>
          <p:cNvSpPr/>
          <p:nvPr/>
        </p:nvSpPr>
        <p:spPr>
          <a:xfrm>
            <a:off x="685800" y="2359152"/>
            <a:ext cx="10287000" cy="786384"/>
          </a:xfrm>
          <a:prstGeom prst="roundRect">
            <a:avLst>
              <a:gd fmla="val 4651" name="adj"/>
            </a:avLst>
          </a:prstGeom>
          <a:solidFill>
            <a:srgbClr val="0A2230"/>
          </a:solidFill>
          <a:ln cap="flat" cmpd="sng" w="9525">
            <a:solidFill>
              <a:srgbClr val="173B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868680" y="2514600"/>
            <a:ext cx="233172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6B84A"/>
              </a:buClr>
              <a:buSzPts val="1350"/>
              <a:buFont typeface="Arial"/>
              <a:buNone/>
            </a:pPr>
            <a:r>
              <a:rPr b="1" lang="en-US" sz="1350">
                <a:solidFill>
                  <a:srgbClr val="F6B84A"/>
                </a:solidFill>
                <a:latin typeface="Arial"/>
                <a:ea typeface="Arial"/>
                <a:cs typeface="Arial"/>
                <a:sym typeface="Arial"/>
              </a:rPr>
              <a:t>AI output error</a:t>
            </a:r>
            <a:endParaRPr sz="1350">
              <a:solidFill>
                <a:schemeClr val="dk1"/>
              </a:solidFill>
              <a:latin typeface="Arial"/>
              <a:ea typeface="Arial"/>
              <a:cs typeface="Arial"/>
              <a:sym typeface="Arial"/>
            </a:endParaRPr>
          </a:p>
        </p:txBody>
      </p:sp>
      <p:sp>
        <p:nvSpPr>
          <p:cNvPr id="168" name="Google Shape;168;p6"/>
          <p:cNvSpPr/>
          <p:nvPr/>
        </p:nvSpPr>
        <p:spPr>
          <a:xfrm>
            <a:off x="3657600" y="2542032"/>
            <a:ext cx="182880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200"/>
              <a:buFont typeface="Arial"/>
              <a:buNone/>
            </a:pPr>
            <a:r>
              <a:rPr b="1" lang="en-US" sz="1200">
                <a:solidFill>
                  <a:srgbClr val="F4FAFF"/>
                </a:solidFill>
                <a:latin typeface="Arial"/>
                <a:ea typeface="Arial"/>
                <a:cs typeface="Arial"/>
                <a:sym typeface="Arial"/>
              </a:rPr>
              <a:t>Medium / High</a:t>
            </a:r>
            <a:endParaRPr sz="1200">
              <a:solidFill>
                <a:schemeClr val="dk1"/>
              </a:solidFill>
              <a:latin typeface="Arial"/>
              <a:ea typeface="Arial"/>
              <a:cs typeface="Arial"/>
              <a:sym typeface="Arial"/>
            </a:endParaRPr>
          </a:p>
        </p:txBody>
      </p:sp>
      <p:sp>
        <p:nvSpPr>
          <p:cNvPr id="169" name="Google Shape;169;p6"/>
          <p:cNvSpPr/>
          <p:nvPr/>
        </p:nvSpPr>
        <p:spPr>
          <a:xfrm>
            <a:off x="6126480" y="2468880"/>
            <a:ext cx="4251960" cy="40233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120"/>
              <a:buFont typeface="Arial"/>
              <a:buNone/>
            </a:pPr>
            <a:r>
              <a:rPr lang="en-US" sz="1120">
                <a:solidFill>
                  <a:srgbClr val="A7BED1"/>
                </a:solidFill>
                <a:latin typeface="Arial"/>
                <a:ea typeface="Arial"/>
                <a:cs typeface="Arial"/>
                <a:sym typeface="Arial"/>
              </a:rPr>
              <a:t>Human review, deterministic escalation, pilot evaluation before deployment</a:t>
            </a:r>
            <a:endParaRPr sz="1120">
              <a:solidFill>
                <a:schemeClr val="dk1"/>
              </a:solidFill>
              <a:latin typeface="Arial"/>
              <a:ea typeface="Arial"/>
              <a:cs typeface="Arial"/>
              <a:sym typeface="Arial"/>
            </a:endParaRPr>
          </a:p>
        </p:txBody>
      </p:sp>
      <p:sp>
        <p:nvSpPr>
          <p:cNvPr id="170" name="Google Shape;170;p6"/>
          <p:cNvSpPr/>
          <p:nvPr/>
        </p:nvSpPr>
        <p:spPr>
          <a:xfrm>
            <a:off x="685800" y="3319272"/>
            <a:ext cx="10287000" cy="786384"/>
          </a:xfrm>
          <a:prstGeom prst="roundRect">
            <a:avLst>
              <a:gd fmla="val 4651" name="adj"/>
            </a:avLst>
          </a:prstGeom>
          <a:solidFill>
            <a:srgbClr val="0C2A3A"/>
          </a:solidFill>
          <a:ln cap="flat" cmpd="sng" w="9525">
            <a:solidFill>
              <a:srgbClr val="173B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868680" y="3474720"/>
            <a:ext cx="233172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5A64"/>
              </a:buClr>
              <a:buSzPts val="1350"/>
              <a:buFont typeface="Arial"/>
              <a:buNone/>
            </a:pPr>
            <a:r>
              <a:rPr b="1" lang="en-US" sz="1350">
                <a:solidFill>
                  <a:srgbClr val="FF5A64"/>
                </a:solidFill>
                <a:latin typeface="Arial"/>
                <a:ea typeface="Arial"/>
                <a:cs typeface="Arial"/>
                <a:sym typeface="Arial"/>
              </a:rPr>
              <a:t>Compliance scope creep</a:t>
            </a:r>
            <a:endParaRPr sz="1350">
              <a:solidFill>
                <a:schemeClr val="dk1"/>
              </a:solidFill>
              <a:latin typeface="Arial"/>
              <a:ea typeface="Arial"/>
              <a:cs typeface="Arial"/>
              <a:sym typeface="Arial"/>
            </a:endParaRPr>
          </a:p>
        </p:txBody>
      </p:sp>
      <p:sp>
        <p:nvSpPr>
          <p:cNvPr id="172" name="Google Shape;172;p6"/>
          <p:cNvSpPr/>
          <p:nvPr/>
        </p:nvSpPr>
        <p:spPr>
          <a:xfrm>
            <a:off x="3657600" y="3502152"/>
            <a:ext cx="182880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200"/>
              <a:buFont typeface="Arial"/>
              <a:buNone/>
            </a:pPr>
            <a:r>
              <a:rPr b="1" lang="en-US" sz="1200">
                <a:solidFill>
                  <a:srgbClr val="F4FAFF"/>
                </a:solidFill>
                <a:latin typeface="Arial"/>
                <a:ea typeface="Arial"/>
                <a:cs typeface="Arial"/>
                <a:sym typeface="Arial"/>
              </a:rPr>
              <a:t>Medium / High</a:t>
            </a:r>
            <a:endParaRPr sz="1200">
              <a:solidFill>
                <a:schemeClr val="dk1"/>
              </a:solidFill>
              <a:latin typeface="Arial"/>
              <a:ea typeface="Arial"/>
              <a:cs typeface="Arial"/>
              <a:sym typeface="Arial"/>
            </a:endParaRPr>
          </a:p>
        </p:txBody>
      </p:sp>
      <p:sp>
        <p:nvSpPr>
          <p:cNvPr id="173" name="Google Shape;173;p6"/>
          <p:cNvSpPr/>
          <p:nvPr/>
        </p:nvSpPr>
        <p:spPr>
          <a:xfrm>
            <a:off x="6126480" y="3429000"/>
            <a:ext cx="4251960" cy="40233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120"/>
              <a:buFont typeface="Arial"/>
              <a:buNone/>
            </a:pPr>
            <a:r>
              <a:rPr lang="en-US" sz="1120">
                <a:solidFill>
                  <a:srgbClr val="A7BED1"/>
                </a:solidFill>
                <a:latin typeface="Arial"/>
                <a:ea typeface="Arial"/>
                <a:cs typeface="Arial"/>
                <a:sym typeface="Arial"/>
              </a:rPr>
              <a:t>Keep system advisory; reassess EU AI Act/GDPR if portfolio data is added</a:t>
            </a:r>
            <a:endParaRPr sz="1120">
              <a:solidFill>
                <a:schemeClr val="dk1"/>
              </a:solidFill>
              <a:latin typeface="Arial"/>
              <a:ea typeface="Arial"/>
              <a:cs typeface="Arial"/>
              <a:sym typeface="Arial"/>
            </a:endParaRPr>
          </a:p>
        </p:txBody>
      </p:sp>
      <p:sp>
        <p:nvSpPr>
          <p:cNvPr id="174" name="Google Shape;174;p6"/>
          <p:cNvSpPr/>
          <p:nvPr/>
        </p:nvSpPr>
        <p:spPr>
          <a:xfrm>
            <a:off x="685800" y="4279392"/>
            <a:ext cx="10287000" cy="786384"/>
          </a:xfrm>
          <a:prstGeom prst="roundRect">
            <a:avLst>
              <a:gd fmla="val 4651" name="adj"/>
            </a:avLst>
          </a:prstGeom>
          <a:solidFill>
            <a:srgbClr val="0A2230"/>
          </a:solidFill>
          <a:ln cap="flat" cmpd="sng" w="9525">
            <a:solidFill>
              <a:srgbClr val="173B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868680" y="4434840"/>
            <a:ext cx="2331720" cy="32918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1350"/>
              <a:buFont typeface="Arial"/>
              <a:buNone/>
            </a:pPr>
            <a:r>
              <a:rPr b="1" lang="en-US" sz="1350">
                <a:solidFill>
                  <a:srgbClr val="31D7F7"/>
                </a:solidFill>
                <a:latin typeface="Arial"/>
                <a:ea typeface="Arial"/>
                <a:cs typeface="Arial"/>
                <a:sym typeface="Arial"/>
              </a:rPr>
              <a:t>External API dependency</a:t>
            </a:r>
            <a:endParaRPr sz="1350">
              <a:solidFill>
                <a:schemeClr val="dk1"/>
              </a:solidFill>
              <a:latin typeface="Arial"/>
              <a:ea typeface="Arial"/>
              <a:cs typeface="Arial"/>
              <a:sym typeface="Arial"/>
            </a:endParaRPr>
          </a:p>
        </p:txBody>
      </p:sp>
      <p:sp>
        <p:nvSpPr>
          <p:cNvPr id="176" name="Google Shape;176;p6"/>
          <p:cNvSpPr/>
          <p:nvPr/>
        </p:nvSpPr>
        <p:spPr>
          <a:xfrm>
            <a:off x="3657600" y="4462272"/>
            <a:ext cx="182880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200"/>
              <a:buFont typeface="Arial"/>
              <a:buNone/>
            </a:pPr>
            <a:r>
              <a:rPr b="1" lang="en-US" sz="1200">
                <a:solidFill>
                  <a:srgbClr val="F4FAFF"/>
                </a:solidFill>
                <a:latin typeface="Arial"/>
                <a:ea typeface="Arial"/>
                <a:cs typeface="Arial"/>
                <a:sym typeface="Arial"/>
              </a:rPr>
              <a:t>Medium / Medium</a:t>
            </a:r>
            <a:endParaRPr sz="1200">
              <a:solidFill>
                <a:schemeClr val="dk1"/>
              </a:solidFill>
              <a:latin typeface="Arial"/>
              <a:ea typeface="Arial"/>
              <a:cs typeface="Arial"/>
              <a:sym typeface="Arial"/>
            </a:endParaRPr>
          </a:p>
        </p:txBody>
      </p:sp>
      <p:sp>
        <p:nvSpPr>
          <p:cNvPr id="177" name="Google Shape;177;p6"/>
          <p:cNvSpPr/>
          <p:nvPr/>
        </p:nvSpPr>
        <p:spPr>
          <a:xfrm>
            <a:off x="6126480" y="4389120"/>
            <a:ext cx="4251960" cy="40233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120"/>
              <a:buFont typeface="Arial"/>
              <a:buNone/>
            </a:pPr>
            <a:r>
              <a:rPr lang="en-US" sz="1120">
                <a:solidFill>
                  <a:srgbClr val="A7BED1"/>
                </a:solidFill>
                <a:latin typeface="Arial"/>
                <a:ea typeface="Arial"/>
                <a:cs typeface="Arial"/>
                <a:sym typeface="Arial"/>
              </a:rPr>
              <a:t>Manual fallback, vendor review, monitoring and production SLAs before rollout</a:t>
            </a:r>
            <a:endParaRPr sz="1120">
              <a:solidFill>
                <a:schemeClr val="dk1"/>
              </a:solidFill>
              <a:latin typeface="Arial"/>
              <a:ea typeface="Arial"/>
              <a:cs typeface="Arial"/>
              <a:sym typeface="Arial"/>
            </a:endParaRPr>
          </a:p>
        </p:txBody>
      </p:sp>
      <p:sp>
        <p:nvSpPr>
          <p:cNvPr id="178" name="Google Shape;178;p6"/>
          <p:cNvSpPr/>
          <p:nvPr/>
        </p:nvSpPr>
        <p:spPr>
          <a:xfrm>
            <a:off x="1051560" y="5486400"/>
            <a:ext cx="9235440" cy="502920"/>
          </a:xfrm>
          <a:prstGeom prst="roundRect">
            <a:avLst>
              <a:gd fmla="val 12727" name="adj"/>
            </a:avLst>
          </a:prstGeom>
          <a:solidFill>
            <a:srgbClr val="0B2D28"/>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1216150" y="5436100"/>
            <a:ext cx="8906400" cy="502800"/>
          </a:xfrm>
          <a:prstGeom prst="rect">
            <a:avLst/>
          </a:prstGeom>
          <a:noFill/>
          <a:ln>
            <a:noFill/>
          </a:ln>
        </p:spPr>
        <p:txBody>
          <a:bodyPr anchorCtr="0" anchor="ctr" bIns="0" lIns="0" spcFirstLastPara="1" rIns="0" wrap="square" tIns="0">
            <a:normAutofit/>
          </a:bodyPr>
          <a:lstStyle/>
          <a:p>
            <a:pPr indent="0" lvl="0" marL="0" rtl="0" algn="ctr">
              <a:spcBef>
                <a:spcPts val="0"/>
              </a:spcBef>
              <a:spcAft>
                <a:spcPts val="0"/>
              </a:spcAft>
              <a:buClr>
                <a:srgbClr val="0F172A"/>
              </a:buClr>
              <a:buSzPts val="1550"/>
              <a:buFont typeface="Arial"/>
              <a:buNone/>
            </a:pPr>
            <a:r>
              <a:t/>
            </a:r>
            <a:endParaRPr b="1" sz="1550">
              <a:solidFill>
                <a:srgbClr val="F4FAFF"/>
              </a:solidFill>
            </a:endParaRPr>
          </a:p>
          <a:p>
            <a:pPr indent="0" lvl="0" marL="0" rtl="0" algn="ctr">
              <a:spcBef>
                <a:spcPts val="0"/>
              </a:spcBef>
              <a:spcAft>
                <a:spcPts val="0"/>
              </a:spcAft>
              <a:buClr>
                <a:srgbClr val="0F172A"/>
              </a:buClr>
              <a:buSzPts val="1550"/>
              <a:buFont typeface="Arial"/>
              <a:buNone/>
            </a:pPr>
            <a:r>
              <a:rPr b="1" lang="en-US" sz="1550">
                <a:solidFill>
                  <a:srgbClr val="F4FAFF"/>
                </a:solidFill>
              </a:rPr>
              <a:t>Risks are manageable - if the pilot includes governance, monitoring and clear scope limits.</a:t>
            </a:r>
            <a:endParaRPr sz="1550">
              <a:solidFill>
                <a:srgbClr val="F4FAFF"/>
              </a:solidFill>
            </a:endParaRPr>
          </a:p>
          <a:p>
            <a:pPr indent="0" lvl="0" marL="0" marR="0" rtl="0" algn="l">
              <a:spcBef>
                <a:spcPts val="0"/>
              </a:spcBef>
              <a:spcAft>
                <a:spcPts val="0"/>
              </a:spcAft>
              <a:buClr>
                <a:srgbClr val="F4FAFF"/>
              </a:buClr>
              <a:buSzPts val="1200"/>
              <a:buFont typeface="Arial"/>
              <a:buNone/>
            </a:pPr>
            <a:r>
              <a:t/>
            </a:r>
            <a:endParaRPr b="1" sz="1200">
              <a:solidFill>
                <a:srgbClr val="F4FAFF"/>
              </a:solidFill>
            </a:endParaRPr>
          </a:p>
        </p:txBody>
      </p:sp>
      <p:sp>
        <p:nvSpPr>
          <p:cNvPr id="180" name="Google Shape;180;p6"/>
          <p:cNvSpPr/>
          <p:nvPr/>
        </p:nvSpPr>
        <p:spPr>
          <a:xfrm flipH="1" rot="10800000">
            <a:off x="1216152" y="5852160"/>
            <a:ext cx="8906256" cy="13716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A7BED1"/>
              </a:buClr>
              <a:buSzPts val="1200"/>
              <a:buFont typeface="Arial"/>
              <a:buNone/>
            </a:pPr>
            <a:r>
              <a:t/>
            </a:r>
            <a:endParaRPr sz="12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185" name="Shape 185"/>
        <p:cNvGrpSpPr/>
        <p:nvPr/>
      </p:nvGrpSpPr>
      <p:grpSpPr>
        <a:xfrm>
          <a:off x="0" y="0"/>
          <a:ext cx="0" cy="0"/>
          <a:chOff x="0" y="0"/>
          <a:chExt cx="0" cy="0"/>
        </a:xfrm>
      </p:grpSpPr>
      <p:pic>
        <p:nvPicPr>
          <p:cNvPr descr="/mnt/data/finradar_logo_watermark_dark.png" id="186" name="Google Shape;186;p7"/>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187" name="Google Shape;187;p7"/>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950"/>
              <a:buFont typeface="Arial"/>
              <a:buNone/>
            </a:pPr>
            <a:r>
              <a:rPr b="1" lang="en-US" sz="1200">
                <a:solidFill>
                  <a:srgbClr val="31D7F7"/>
                </a:solidFill>
                <a:latin typeface="Arial"/>
                <a:ea typeface="Arial"/>
                <a:cs typeface="Arial"/>
                <a:sym typeface="Arial"/>
              </a:rPr>
              <a:t>FinRadar AI | Round 2</a:t>
            </a:r>
            <a:endParaRPr sz="1200">
              <a:solidFill>
                <a:schemeClr val="dk1"/>
              </a:solidFill>
              <a:latin typeface="Arial"/>
              <a:ea typeface="Arial"/>
              <a:cs typeface="Arial"/>
              <a:sym typeface="Arial"/>
            </a:endParaRPr>
          </a:p>
        </p:txBody>
      </p:sp>
      <p:pic>
        <p:nvPicPr>
          <p:cNvPr descr="/mnt/data/ironhack-logo.png" id="188" name="Google Shape;188;p7"/>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189" name="Google Shape;189;p7"/>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190" name="Google Shape;190;p7"/>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spcBef>
                <a:spcPts val="0"/>
              </a:spcBef>
              <a:spcAft>
                <a:spcPts val="0"/>
              </a:spcAft>
              <a:buClr>
                <a:srgbClr val="A7BED1"/>
              </a:buClr>
              <a:buSzPts val="900"/>
              <a:buFont typeface="Arial"/>
              <a:buNone/>
            </a:pPr>
            <a:r>
              <a:rPr lang="en-US" sz="1200">
                <a:solidFill>
                  <a:srgbClr val="A7BED1"/>
                </a:solidFill>
                <a:latin typeface="Arial"/>
                <a:ea typeface="Arial"/>
                <a:cs typeface="Arial"/>
                <a:sym typeface="Arial"/>
              </a:rPr>
              <a:t>AI Assists - Humans Decide</a:t>
            </a:r>
            <a:endParaRPr sz="1200">
              <a:solidFill>
                <a:schemeClr val="dk1"/>
              </a:solidFill>
              <a:latin typeface="Arial"/>
              <a:ea typeface="Arial"/>
              <a:cs typeface="Arial"/>
              <a:sym typeface="Arial"/>
            </a:endParaRPr>
          </a:p>
        </p:txBody>
      </p:sp>
      <p:sp>
        <p:nvSpPr>
          <p:cNvPr id="191" name="Google Shape;191;p7"/>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spcBef>
                <a:spcPts val="0"/>
              </a:spcBef>
              <a:spcAft>
                <a:spcPts val="0"/>
              </a:spcAft>
              <a:buClr>
                <a:srgbClr val="A7BED1"/>
              </a:buClr>
              <a:buSzPts val="900"/>
              <a:buFont typeface="Arial"/>
              <a:buNone/>
            </a:pPr>
            <a:r>
              <a:rPr lang="en-US" sz="900">
                <a:solidFill>
                  <a:srgbClr val="A7BED1"/>
                </a:solidFill>
                <a:latin typeface="Arial"/>
                <a:ea typeface="Arial"/>
                <a:cs typeface="Arial"/>
                <a:sym typeface="Arial"/>
              </a:rPr>
              <a:t>07</a:t>
            </a:r>
            <a:endParaRPr sz="900">
              <a:solidFill>
                <a:schemeClr val="dk1"/>
              </a:solidFill>
              <a:latin typeface="Arial"/>
              <a:ea typeface="Arial"/>
              <a:cs typeface="Arial"/>
              <a:sym typeface="Arial"/>
            </a:endParaRPr>
          </a:p>
        </p:txBody>
      </p:sp>
      <p:sp>
        <p:nvSpPr>
          <p:cNvPr id="192" name="Google Shape;192;p7"/>
          <p:cNvSpPr/>
          <p:nvPr/>
        </p:nvSpPr>
        <p:spPr>
          <a:xfrm>
            <a:off x="685800" y="592675"/>
            <a:ext cx="9628800" cy="685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2800"/>
              <a:buFont typeface="Arial"/>
              <a:buNone/>
            </a:pPr>
            <a:r>
              <a:rPr b="1" lang="en-US" sz="2400">
                <a:solidFill>
                  <a:srgbClr val="F4FAFF"/>
                </a:solidFill>
                <a:latin typeface="Arial"/>
                <a:ea typeface="Arial"/>
                <a:cs typeface="Arial"/>
                <a:sym typeface="Arial"/>
              </a:rPr>
              <a:t>Compliance Summary: clear classification and safeguards</a:t>
            </a:r>
            <a:endParaRPr sz="2400">
              <a:solidFill>
                <a:schemeClr val="dk1"/>
              </a:solidFill>
              <a:latin typeface="Arial"/>
              <a:ea typeface="Arial"/>
              <a:cs typeface="Arial"/>
              <a:sym typeface="Arial"/>
            </a:endParaRPr>
          </a:p>
        </p:txBody>
      </p:sp>
      <p:sp>
        <p:nvSpPr>
          <p:cNvPr id="193" name="Google Shape;193;p7"/>
          <p:cNvSpPr/>
          <p:nvPr/>
        </p:nvSpPr>
        <p:spPr>
          <a:xfrm>
            <a:off x="685800" y="1353297"/>
            <a:ext cx="9006900" cy="320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260"/>
              <a:buFont typeface="Arial"/>
              <a:buNone/>
            </a:pPr>
            <a:r>
              <a:rPr lang="en-US" sz="1260">
                <a:solidFill>
                  <a:srgbClr val="A7BED1"/>
                </a:solidFill>
                <a:latin typeface="Arial"/>
                <a:ea typeface="Arial"/>
                <a:cs typeface="Arial"/>
                <a:sym typeface="Arial"/>
              </a:rPr>
              <a:t>Current scope: public financial-news triage. No trades, no personalised investment advice, no autonomous decisions.</a:t>
            </a:r>
            <a:endParaRPr sz="1260">
              <a:solidFill>
                <a:schemeClr val="dk1"/>
              </a:solidFill>
              <a:latin typeface="Arial"/>
              <a:ea typeface="Arial"/>
              <a:cs typeface="Arial"/>
              <a:sym typeface="Arial"/>
            </a:endParaRPr>
          </a:p>
        </p:txBody>
      </p:sp>
      <p:sp>
        <p:nvSpPr>
          <p:cNvPr id="194" name="Google Shape;194;p7"/>
          <p:cNvSpPr/>
          <p:nvPr/>
        </p:nvSpPr>
        <p:spPr>
          <a:xfrm>
            <a:off x="685800" y="1874520"/>
            <a:ext cx="3291840" cy="1828800"/>
          </a:xfrm>
          <a:prstGeom prst="roundRect">
            <a:avLst>
              <a:gd fmla="val 3500" name="adj"/>
            </a:avLst>
          </a:prstGeom>
          <a:solidFill>
            <a:srgbClr val="0A2738"/>
          </a:solidFill>
          <a:ln cap="flat" cmpd="sng" w="11425">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850392" y="2002536"/>
            <a:ext cx="2962656"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800"/>
              <a:buFont typeface="Arial"/>
              <a:buNone/>
            </a:pPr>
            <a:r>
              <a:rPr b="1" lang="en-US" sz="1800">
                <a:solidFill>
                  <a:srgbClr val="F4FAFF"/>
                </a:solidFill>
                <a:latin typeface="Arial"/>
                <a:ea typeface="Arial"/>
                <a:cs typeface="Arial"/>
                <a:sym typeface="Arial"/>
              </a:rPr>
              <a:t>EU AI Act</a:t>
            </a:r>
            <a:endParaRPr sz="1800">
              <a:solidFill>
                <a:schemeClr val="dk1"/>
              </a:solidFill>
              <a:latin typeface="Arial"/>
              <a:ea typeface="Arial"/>
              <a:cs typeface="Arial"/>
              <a:sym typeface="Arial"/>
            </a:endParaRPr>
          </a:p>
        </p:txBody>
      </p:sp>
      <p:sp>
        <p:nvSpPr>
          <p:cNvPr id="196" name="Google Shape;196;p7"/>
          <p:cNvSpPr/>
          <p:nvPr/>
        </p:nvSpPr>
        <p:spPr>
          <a:xfrm>
            <a:off x="850392" y="2377440"/>
            <a:ext cx="2962656" cy="118872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A7BED1"/>
              </a:buClr>
              <a:buSzPts val="1220"/>
              <a:buFont typeface="Arial"/>
              <a:buNone/>
            </a:pPr>
            <a:r>
              <a:rPr lang="en-US" sz="1220">
                <a:solidFill>
                  <a:srgbClr val="A7BED1"/>
                </a:solidFill>
                <a:latin typeface="Arial"/>
                <a:ea typeface="Arial"/>
                <a:cs typeface="Arial"/>
                <a:sym typeface="Arial"/>
              </a:rPr>
              <a:t>Current intended use: non-high-risk AI system.</a:t>
            </a:r>
            <a:endParaRPr sz="122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20"/>
              <a:buFont typeface="Arial"/>
              <a:buNone/>
            </a:pPr>
            <a:r>
              <a:t/>
            </a:r>
            <a:endParaRPr sz="1220">
              <a:solidFill>
                <a:schemeClr val="dk1"/>
              </a:solidFill>
              <a:latin typeface="Arial"/>
              <a:ea typeface="Arial"/>
              <a:cs typeface="Arial"/>
              <a:sym typeface="Arial"/>
            </a:endParaRPr>
          </a:p>
          <a:p>
            <a:pPr indent="0" lvl="0" marL="0" marR="0" rtl="0" algn="l">
              <a:spcBef>
                <a:spcPts val="0"/>
              </a:spcBef>
              <a:spcAft>
                <a:spcPts val="0"/>
              </a:spcAft>
              <a:buClr>
                <a:srgbClr val="A7BED1"/>
              </a:buClr>
              <a:buSzPts val="1220"/>
              <a:buFont typeface="Arial"/>
              <a:buNone/>
            </a:pPr>
            <a:r>
              <a:rPr lang="en-US" sz="1220">
                <a:solidFill>
                  <a:srgbClr val="A7BED1"/>
                </a:solidFill>
                <a:latin typeface="Arial"/>
                <a:ea typeface="Arial"/>
                <a:cs typeface="Arial"/>
                <a:sym typeface="Arial"/>
              </a:rPr>
              <a:t>Reason: advisory news triage with human review, not autonomous financial decision-making.</a:t>
            </a:r>
            <a:endParaRPr sz="1220">
              <a:solidFill>
                <a:schemeClr val="dk1"/>
              </a:solidFill>
              <a:latin typeface="Arial"/>
              <a:ea typeface="Arial"/>
              <a:cs typeface="Arial"/>
              <a:sym typeface="Arial"/>
            </a:endParaRPr>
          </a:p>
        </p:txBody>
      </p:sp>
      <p:sp>
        <p:nvSpPr>
          <p:cNvPr id="197" name="Google Shape;197;p7"/>
          <p:cNvSpPr/>
          <p:nvPr/>
        </p:nvSpPr>
        <p:spPr>
          <a:xfrm>
            <a:off x="4206240" y="1874520"/>
            <a:ext cx="3291840" cy="1828800"/>
          </a:xfrm>
          <a:prstGeom prst="roundRect">
            <a:avLst>
              <a:gd fmla="val 3500" name="adj"/>
            </a:avLst>
          </a:prstGeom>
          <a:solidFill>
            <a:srgbClr val="092C27"/>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4370832" y="2002536"/>
            <a:ext cx="2962656"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800"/>
              <a:buFont typeface="Arial"/>
              <a:buNone/>
            </a:pPr>
            <a:r>
              <a:rPr b="1" lang="en-US" sz="1800">
                <a:solidFill>
                  <a:srgbClr val="F4FAFF"/>
                </a:solidFill>
                <a:latin typeface="Arial"/>
                <a:ea typeface="Arial"/>
                <a:cs typeface="Arial"/>
                <a:sym typeface="Arial"/>
              </a:rPr>
              <a:t>GDPR</a:t>
            </a:r>
            <a:endParaRPr sz="1800">
              <a:solidFill>
                <a:schemeClr val="dk1"/>
              </a:solidFill>
              <a:latin typeface="Arial"/>
              <a:ea typeface="Arial"/>
              <a:cs typeface="Arial"/>
              <a:sym typeface="Arial"/>
            </a:endParaRPr>
          </a:p>
        </p:txBody>
      </p:sp>
      <p:sp>
        <p:nvSpPr>
          <p:cNvPr id="199" name="Google Shape;199;p7"/>
          <p:cNvSpPr/>
          <p:nvPr/>
        </p:nvSpPr>
        <p:spPr>
          <a:xfrm>
            <a:off x="4370832" y="2377440"/>
            <a:ext cx="2962656" cy="118872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A7BED1"/>
              </a:buClr>
              <a:buSzPts val="1220"/>
              <a:buFont typeface="Arial"/>
              <a:buNone/>
            </a:pPr>
            <a:r>
              <a:rPr lang="en-US" sz="1220">
                <a:solidFill>
                  <a:srgbClr val="A7BED1"/>
                </a:solidFill>
                <a:latin typeface="Arial"/>
                <a:ea typeface="Arial"/>
                <a:cs typeface="Arial"/>
                <a:sym typeface="Arial"/>
              </a:rPr>
              <a:t>Public financial news only, but public articles may still contain personal data.</a:t>
            </a:r>
            <a:endParaRPr sz="122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20"/>
              <a:buFont typeface="Arial"/>
              <a:buNone/>
            </a:pPr>
            <a:r>
              <a:t/>
            </a:r>
            <a:endParaRPr sz="1220">
              <a:solidFill>
                <a:schemeClr val="dk1"/>
              </a:solidFill>
              <a:latin typeface="Arial"/>
              <a:ea typeface="Arial"/>
              <a:cs typeface="Arial"/>
              <a:sym typeface="Arial"/>
            </a:endParaRPr>
          </a:p>
          <a:p>
            <a:pPr indent="0" lvl="0" marL="0" marR="0" rtl="0" algn="l">
              <a:spcBef>
                <a:spcPts val="0"/>
              </a:spcBef>
              <a:spcAft>
                <a:spcPts val="0"/>
              </a:spcAft>
              <a:buClr>
                <a:srgbClr val="A7BED1"/>
              </a:buClr>
              <a:buSzPts val="1220"/>
              <a:buFont typeface="Arial"/>
              <a:buNone/>
            </a:pPr>
            <a:r>
              <a:rPr lang="en-US" sz="1220">
                <a:solidFill>
                  <a:srgbClr val="A7BED1"/>
                </a:solidFill>
                <a:latin typeface="Arial"/>
                <a:ea typeface="Arial"/>
                <a:cs typeface="Arial"/>
                <a:sym typeface="Arial"/>
              </a:rPr>
              <a:t>Assessment covers data flows, legal basis, retention, rights and vendors.</a:t>
            </a:r>
            <a:endParaRPr sz="1220">
              <a:solidFill>
                <a:schemeClr val="dk1"/>
              </a:solidFill>
              <a:latin typeface="Arial"/>
              <a:ea typeface="Arial"/>
              <a:cs typeface="Arial"/>
              <a:sym typeface="Arial"/>
            </a:endParaRPr>
          </a:p>
        </p:txBody>
      </p:sp>
      <p:sp>
        <p:nvSpPr>
          <p:cNvPr id="200" name="Google Shape;200;p7"/>
          <p:cNvSpPr/>
          <p:nvPr/>
        </p:nvSpPr>
        <p:spPr>
          <a:xfrm>
            <a:off x="7726680" y="1874520"/>
            <a:ext cx="3291840" cy="1828800"/>
          </a:xfrm>
          <a:prstGeom prst="roundRect">
            <a:avLst>
              <a:gd fmla="val 3500" name="adj"/>
            </a:avLst>
          </a:prstGeom>
          <a:solidFill>
            <a:srgbClr val="2D2410"/>
          </a:solidFill>
          <a:ln cap="flat" cmpd="sng" w="11425">
            <a:solidFill>
              <a:srgbClr val="F6B8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7891272" y="2002536"/>
            <a:ext cx="2962656"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800"/>
              <a:buFont typeface="Arial"/>
              <a:buNone/>
            </a:pPr>
            <a:r>
              <a:rPr b="1" lang="en-US" sz="1800">
                <a:solidFill>
                  <a:srgbClr val="F4FAFF"/>
                </a:solidFill>
                <a:latin typeface="Arial"/>
                <a:ea typeface="Arial"/>
                <a:cs typeface="Arial"/>
                <a:sym typeface="Arial"/>
              </a:rPr>
              <a:t>Before production</a:t>
            </a:r>
            <a:endParaRPr sz="1800">
              <a:solidFill>
                <a:schemeClr val="dk1"/>
              </a:solidFill>
              <a:latin typeface="Arial"/>
              <a:ea typeface="Arial"/>
              <a:cs typeface="Arial"/>
              <a:sym typeface="Arial"/>
            </a:endParaRPr>
          </a:p>
        </p:txBody>
      </p:sp>
      <p:sp>
        <p:nvSpPr>
          <p:cNvPr id="202" name="Google Shape;202;p7"/>
          <p:cNvSpPr/>
          <p:nvPr/>
        </p:nvSpPr>
        <p:spPr>
          <a:xfrm>
            <a:off x="7891272" y="2377440"/>
            <a:ext cx="2962656" cy="118872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A7BED1"/>
              </a:buClr>
              <a:buSzPts val="1220"/>
              <a:buFont typeface="Arial"/>
              <a:buNone/>
            </a:pPr>
            <a:r>
              <a:rPr lang="en-US" sz="1220">
                <a:solidFill>
                  <a:srgbClr val="A7BED1"/>
                </a:solidFill>
                <a:latin typeface="Arial"/>
                <a:ea typeface="Arial"/>
                <a:cs typeface="Arial"/>
                <a:sym typeface="Arial"/>
              </a:rPr>
              <a:t>Add authentication, audit logging, monitoring, vendor governance, prompt/model versioning, and DPIA review if scope expands.</a:t>
            </a:r>
            <a:endParaRPr sz="1220">
              <a:solidFill>
                <a:schemeClr val="dk1"/>
              </a:solidFill>
              <a:latin typeface="Arial"/>
              <a:ea typeface="Arial"/>
              <a:cs typeface="Arial"/>
              <a:sym typeface="Arial"/>
            </a:endParaRPr>
          </a:p>
        </p:txBody>
      </p:sp>
      <p:sp>
        <p:nvSpPr>
          <p:cNvPr id="203" name="Google Shape;203;p7"/>
          <p:cNvSpPr/>
          <p:nvPr/>
        </p:nvSpPr>
        <p:spPr>
          <a:xfrm>
            <a:off x="760125" y="4343400"/>
            <a:ext cx="10057200" cy="907500"/>
          </a:xfrm>
          <a:prstGeom prst="roundRect">
            <a:avLst>
              <a:gd fmla="val 5263" name="adj"/>
            </a:avLst>
          </a:prstGeom>
          <a:solidFill>
            <a:srgbClr val="0A2635">
              <a:alpha val="94902"/>
            </a:srgbClr>
          </a:solidFill>
          <a:ln cap="flat" cmpd="sng" w="12700">
            <a:solidFill>
              <a:srgbClr val="1B8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1188720" y="4526280"/>
            <a:ext cx="9509700" cy="2469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4FAFF"/>
              </a:buClr>
              <a:buSzPts val="1350"/>
              <a:buFont typeface="Arial"/>
              <a:buNone/>
            </a:pPr>
            <a:r>
              <a:t/>
            </a:r>
            <a:endParaRPr b="1" sz="1350">
              <a:solidFill>
                <a:srgbClr val="F4FAFF"/>
              </a:solidFill>
            </a:endParaRPr>
          </a:p>
          <a:p>
            <a:pPr indent="0" lvl="0" marL="0" marR="0" rtl="0" algn="ctr">
              <a:spcBef>
                <a:spcPts val="0"/>
              </a:spcBef>
              <a:spcAft>
                <a:spcPts val="0"/>
              </a:spcAft>
              <a:buClr>
                <a:srgbClr val="F4FAFF"/>
              </a:buClr>
              <a:buSzPts val="1350"/>
              <a:buFont typeface="Arial"/>
              <a:buNone/>
            </a:pPr>
            <a:r>
              <a:t/>
            </a:r>
            <a:endParaRPr b="1" sz="1350">
              <a:solidFill>
                <a:srgbClr val="F4FAFF"/>
              </a:solidFill>
            </a:endParaRPr>
          </a:p>
          <a:p>
            <a:pPr indent="0" lvl="0" marL="0" marR="0" rtl="0" algn="ctr">
              <a:spcBef>
                <a:spcPts val="0"/>
              </a:spcBef>
              <a:spcAft>
                <a:spcPts val="0"/>
              </a:spcAft>
              <a:buClr>
                <a:srgbClr val="F4FAFF"/>
              </a:buClr>
              <a:buSzPts val="1350"/>
              <a:buFont typeface="Arial"/>
              <a:buNone/>
            </a:pPr>
            <a:r>
              <a:rPr b="1" lang="en-US" sz="1350">
                <a:solidFill>
                  <a:srgbClr val="F4FAFF"/>
                </a:solidFill>
                <a:latin typeface="Arial"/>
                <a:ea typeface="Arial"/>
                <a:cs typeface="Arial"/>
                <a:sym typeface="Arial"/>
              </a:rPr>
              <a:t>Compliance message: FinRadar can be piloted responsibly because it is scoped as analyst assistance with visible controls.</a:t>
            </a:r>
            <a:endParaRPr sz="135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209" name="Shape 209"/>
        <p:cNvGrpSpPr/>
        <p:nvPr/>
      </p:nvGrpSpPr>
      <p:grpSpPr>
        <a:xfrm>
          <a:off x="0" y="0"/>
          <a:ext cx="0" cy="0"/>
          <a:chOff x="0" y="0"/>
          <a:chExt cx="0" cy="0"/>
        </a:xfrm>
      </p:grpSpPr>
      <p:pic>
        <p:nvPicPr>
          <p:cNvPr descr="/mnt/data/finradar_logo_watermark_dark.png" id="210" name="Google Shape;210;p8"/>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211" name="Google Shape;211;p8"/>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950"/>
              <a:buFont typeface="Arial"/>
              <a:buNone/>
            </a:pPr>
            <a:r>
              <a:rPr b="1" lang="en-US" sz="950">
                <a:solidFill>
                  <a:srgbClr val="31D7F7"/>
                </a:solidFill>
                <a:latin typeface="Arial"/>
                <a:ea typeface="Arial"/>
                <a:cs typeface="Arial"/>
                <a:sym typeface="Arial"/>
              </a:rPr>
              <a:t>FinRadar AI | Round 2</a:t>
            </a:r>
            <a:endParaRPr sz="950">
              <a:solidFill>
                <a:schemeClr val="dk1"/>
              </a:solidFill>
              <a:latin typeface="Arial"/>
              <a:ea typeface="Arial"/>
              <a:cs typeface="Arial"/>
              <a:sym typeface="Arial"/>
            </a:endParaRPr>
          </a:p>
        </p:txBody>
      </p:sp>
      <p:pic>
        <p:nvPicPr>
          <p:cNvPr descr="/mnt/data/ironhack-logo.png" id="212" name="Google Shape;212;p8"/>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213" name="Google Shape;213;p8"/>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214" name="Google Shape;214;p8"/>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spcBef>
                <a:spcPts val="0"/>
              </a:spcBef>
              <a:spcAft>
                <a:spcPts val="0"/>
              </a:spcAft>
              <a:buClr>
                <a:srgbClr val="A7BED1"/>
              </a:buClr>
              <a:buSzPts val="900"/>
              <a:buFont typeface="Arial"/>
              <a:buNone/>
            </a:pPr>
            <a:r>
              <a:rPr lang="en-US" sz="900">
                <a:solidFill>
                  <a:srgbClr val="A7BED1"/>
                </a:solidFill>
                <a:latin typeface="Arial"/>
                <a:ea typeface="Arial"/>
                <a:cs typeface="Arial"/>
                <a:sym typeface="Arial"/>
              </a:rPr>
              <a:t>AI Assists - Humans Decide</a:t>
            </a:r>
            <a:endParaRPr sz="900">
              <a:solidFill>
                <a:schemeClr val="dk1"/>
              </a:solidFill>
              <a:latin typeface="Arial"/>
              <a:ea typeface="Arial"/>
              <a:cs typeface="Arial"/>
              <a:sym typeface="Arial"/>
            </a:endParaRPr>
          </a:p>
        </p:txBody>
      </p:sp>
      <p:sp>
        <p:nvSpPr>
          <p:cNvPr id="215" name="Google Shape;215;p8"/>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spcBef>
                <a:spcPts val="0"/>
              </a:spcBef>
              <a:spcAft>
                <a:spcPts val="0"/>
              </a:spcAft>
              <a:buClr>
                <a:srgbClr val="A7BED1"/>
              </a:buClr>
              <a:buSzPts val="900"/>
              <a:buFont typeface="Arial"/>
              <a:buNone/>
            </a:pPr>
            <a:r>
              <a:rPr lang="en-US" sz="900">
                <a:solidFill>
                  <a:srgbClr val="A7BED1"/>
                </a:solidFill>
                <a:latin typeface="Arial"/>
                <a:ea typeface="Arial"/>
                <a:cs typeface="Arial"/>
                <a:sym typeface="Arial"/>
              </a:rPr>
              <a:t>08</a:t>
            </a:r>
            <a:endParaRPr sz="900">
              <a:solidFill>
                <a:schemeClr val="dk1"/>
              </a:solidFill>
              <a:latin typeface="Arial"/>
              <a:ea typeface="Arial"/>
              <a:cs typeface="Arial"/>
              <a:sym typeface="Arial"/>
            </a:endParaRPr>
          </a:p>
        </p:txBody>
      </p:sp>
      <p:sp>
        <p:nvSpPr>
          <p:cNvPr id="216" name="Google Shape;216;p8"/>
          <p:cNvSpPr/>
          <p:nvPr/>
        </p:nvSpPr>
        <p:spPr>
          <a:xfrm>
            <a:off x="749800" y="841250"/>
            <a:ext cx="9473100" cy="447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2800"/>
              <a:buFont typeface="Arial"/>
              <a:buNone/>
            </a:pPr>
            <a:r>
              <a:rPr b="1" lang="en-US" sz="2800">
                <a:solidFill>
                  <a:srgbClr val="F4FAFF"/>
                </a:solidFill>
                <a:latin typeface="Arial"/>
                <a:ea typeface="Arial"/>
                <a:cs typeface="Arial"/>
                <a:sym typeface="Arial"/>
              </a:rPr>
              <a:t>Strategic Deployment Plan: pilot before production</a:t>
            </a:r>
            <a:endParaRPr sz="2800">
              <a:solidFill>
                <a:schemeClr val="dk1"/>
              </a:solidFill>
              <a:latin typeface="Arial"/>
              <a:ea typeface="Arial"/>
              <a:cs typeface="Arial"/>
              <a:sym typeface="Arial"/>
            </a:endParaRPr>
          </a:p>
        </p:txBody>
      </p:sp>
      <p:sp>
        <p:nvSpPr>
          <p:cNvPr id="217" name="Google Shape;217;p8"/>
          <p:cNvSpPr/>
          <p:nvPr/>
        </p:nvSpPr>
        <p:spPr>
          <a:xfrm>
            <a:off x="749800" y="1353300"/>
            <a:ext cx="8211300" cy="219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260"/>
              <a:buFont typeface="Arial"/>
              <a:buNone/>
            </a:pPr>
            <a:r>
              <a:rPr lang="en-US" sz="1260">
                <a:solidFill>
                  <a:srgbClr val="A7BED1"/>
                </a:solidFill>
                <a:latin typeface="Arial"/>
                <a:ea typeface="Arial"/>
                <a:cs typeface="Arial"/>
                <a:sym typeface="Arial"/>
              </a:rPr>
              <a:t>Recommendation: move from working MVP to a controlled analyst pilot, then decide on production.</a:t>
            </a:r>
            <a:endParaRPr sz="1260">
              <a:solidFill>
                <a:schemeClr val="dk1"/>
              </a:solidFill>
              <a:latin typeface="Arial"/>
              <a:ea typeface="Arial"/>
              <a:cs typeface="Arial"/>
              <a:sym typeface="Arial"/>
            </a:endParaRPr>
          </a:p>
        </p:txBody>
      </p:sp>
      <p:cxnSp>
        <p:nvCxnSpPr>
          <p:cNvPr id="218" name="Google Shape;218;p8"/>
          <p:cNvCxnSpPr/>
          <p:nvPr/>
        </p:nvCxnSpPr>
        <p:spPr>
          <a:xfrm>
            <a:off x="1874520" y="2395728"/>
            <a:ext cx="1170432" cy="0"/>
          </a:xfrm>
          <a:prstGeom prst="straightConnector1">
            <a:avLst/>
          </a:prstGeom>
          <a:noFill/>
          <a:ln cap="flat" cmpd="sng" w="27925">
            <a:solidFill>
              <a:srgbClr val="1B83F6"/>
            </a:solidFill>
            <a:prstDash val="solid"/>
            <a:round/>
            <a:headEnd len="sm" w="sm" type="none"/>
            <a:tailEnd len="med" w="med" type="triangle"/>
          </a:ln>
        </p:spPr>
      </p:cxnSp>
      <p:cxnSp>
        <p:nvCxnSpPr>
          <p:cNvPr id="219" name="Google Shape;219;p8"/>
          <p:cNvCxnSpPr/>
          <p:nvPr/>
        </p:nvCxnSpPr>
        <p:spPr>
          <a:xfrm>
            <a:off x="4160520" y="2395728"/>
            <a:ext cx="1170432" cy="0"/>
          </a:xfrm>
          <a:prstGeom prst="straightConnector1">
            <a:avLst/>
          </a:prstGeom>
          <a:noFill/>
          <a:ln cap="flat" cmpd="sng" w="27925">
            <a:solidFill>
              <a:srgbClr val="1B83F6"/>
            </a:solidFill>
            <a:prstDash val="solid"/>
            <a:round/>
            <a:headEnd len="sm" w="sm" type="none"/>
            <a:tailEnd len="med" w="med" type="triangle"/>
          </a:ln>
        </p:spPr>
      </p:cxnSp>
      <p:cxnSp>
        <p:nvCxnSpPr>
          <p:cNvPr id="220" name="Google Shape;220;p8"/>
          <p:cNvCxnSpPr/>
          <p:nvPr/>
        </p:nvCxnSpPr>
        <p:spPr>
          <a:xfrm>
            <a:off x="6446520" y="2395728"/>
            <a:ext cx="1170432" cy="0"/>
          </a:xfrm>
          <a:prstGeom prst="straightConnector1">
            <a:avLst/>
          </a:prstGeom>
          <a:noFill/>
          <a:ln cap="flat" cmpd="sng" w="27925">
            <a:solidFill>
              <a:srgbClr val="1B83F6"/>
            </a:solidFill>
            <a:prstDash val="solid"/>
            <a:round/>
            <a:headEnd len="sm" w="sm" type="none"/>
            <a:tailEnd len="med" w="med" type="triangle"/>
          </a:ln>
        </p:spPr>
      </p:cxnSp>
      <p:sp>
        <p:nvSpPr>
          <p:cNvPr id="221" name="Google Shape;221;p8"/>
          <p:cNvSpPr/>
          <p:nvPr/>
        </p:nvSpPr>
        <p:spPr>
          <a:xfrm>
            <a:off x="749808" y="1965960"/>
            <a:ext cx="1280160" cy="868680"/>
          </a:xfrm>
          <a:prstGeom prst="roundRect">
            <a:avLst>
              <a:gd fmla="val 6316" name="adj"/>
            </a:avLst>
          </a:prstGeom>
          <a:solidFill>
            <a:srgbClr val="0E3144"/>
          </a:solidFill>
          <a:ln cap="flat" cmpd="sng" w="13950">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822960" y="2057400"/>
            <a:ext cx="1133856" cy="6858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4FAFF"/>
              </a:buClr>
              <a:buSzPts val="1300"/>
              <a:buFont typeface="Arial"/>
              <a:buNone/>
            </a:pPr>
            <a:r>
              <a:rPr b="1" lang="en-US" sz="1300">
                <a:solidFill>
                  <a:srgbClr val="F4FAFF"/>
                </a:solidFill>
                <a:latin typeface="Arial"/>
                <a:ea typeface="Arial"/>
                <a:cs typeface="Arial"/>
                <a:sym typeface="Arial"/>
              </a:rPr>
              <a:t>Round 1</a:t>
            </a:r>
            <a:endParaRPr sz="1300">
              <a:solidFill>
                <a:schemeClr val="dk1"/>
              </a:solidFill>
              <a:latin typeface="Arial"/>
              <a:ea typeface="Arial"/>
              <a:cs typeface="Arial"/>
              <a:sym typeface="Arial"/>
            </a:endParaRPr>
          </a:p>
          <a:p>
            <a:pPr indent="0" lvl="0" marL="0" marR="0" rtl="0" algn="ctr">
              <a:spcBef>
                <a:spcPts val="0"/>
              </a:spcBef>
              <a:spcAft>
                <a:spcPts val="0"/>
              </a:spcAft>
              <a:buClr>
                <a:srgbClr val="F4FAFF"/>
              </a:buClr>
              <a:buSzPts val="1300"/>
              <a:buFont typeface="Arial"/>
              <a:buNone/>
            </a:pPr>
            <a:r>
              <a:rPr b="1" lang="en-US" sz="1300">
                <a:solidFill>
                  <a:srgbClr val="F4FAFF"/>
                </a:solidFill>
                <a:latin typeface="Arial"/>
                <a:ea typeface="Arial"/>
                <a:cs typeface="Arial"/>
                <a:sym typeface="Arial"/>
              </a:rPr>
              <a:t>POC</a:t>
            </a:r>
            <a:endParaRPr sz="1300">
              <a:solidFill>
                <a:schemeClr val="dk1"/>
              </a:solidFill>
              <a:latin typeface="Arial"/>
              <a:ea typeface="Arial"/>
              <a:cs typeface="Arial"/>
              <a:sym typeface="Arial"/>
            </a:endParaRPr>
          </a:p>
        </p:txBody>
      </p:sp>
      <p:sp>
        <p:nvSpPr>
          <p:cNvPr id="223" name="Google Shape;223;p8"/>
          <p:cNvSpPr/>
          <p:nvPr/>
        </p:nvSpPr>
        <p:spPr>
          <a:xfrm>
            <a:off x="3063240" y="1965960"/>
            <a:ext cx="1280160" cy="868680"/>
          </a:xfrm>
          <a:prstGeom prst="roundRect">
            <a:avLst>
              <a:gd fmla="val 6316" name="adj"/>
            </a:avLst>
          </a:prstGeom>
          <a:solidFill>
            <a:srgbClr val="0E3144"/>
          </a:solidFill>
          <a:ln cap="flat" cmpd="sng" w="13950">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3136392" y="2057400"/>
            <a:ext cx="1133856" cy="6858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4FAFF"/>
              </a:buClr>
              <a:buSzPts val="1300"/>
              <a:buFont typeface="Arial"/>
              <a:buNone/>
            </a:pPr>
            <a:r>
              <a:rPr b="1" lang="en-US" sz="1300">
                <a:solidFill>
                  <a:srgbClr val="F4FAFF"/>
                </a:solidFill>
                <a:latin typeface="Arial"/>
                <a:ea typeface="Arial"/>
                <a:cs typeface="Arial"/>
                <a:sym typeface="Arial"/>
              </a:rPr>
              <a:t>Round 2</a:t>
            </a:r>
            <a:endParaRPr sz="1300">
              <a:solidFill>
                <a:schemeClr val="dk1"/>
              </a:solidFill>
              <a:latin typeface="Arial"/>
              <a:ea typeface="Arial"/>
              <a:cs typeface="Arial"/>
              <a:sym typeface="Arial"/>
            </a:endParaRPr>
          </a:p>
          <a:p>
            <a:pPr indent="0" lvl="0" marL="0" marR="0" rtl="0" algn="ctr">
              <a:spcBef>
                <a:spcPts val="0"/>
              </a:spcBef>
              <a:spcAft>
                <a:spcPts val="0"/>
              </a:spcAft>
              <a:buClr>
                <a:srgbClr val="F4FAFF"/>
              </a:buClr>
              <a:buSzPts val="1300"/>
              <a:buFont typeface="Arial"/>
              <a:buNone/>
            </a:pPr>
            <a:r>
              <a:rPr b="1" lang="en-US" sz="1300">
                <a:solidFill>
                  <a:srgbClr val="F4FAFF"/>
                </a:solidFill>
                <a:latin typeface="Arial"/>
                <a:ea typeface="Arial"/>
                <a:cs typeface="Arial"/>
                <a:sym typeface="Arial"/>
              </a:rPr>
              <a:t>MVP</a:t>
            </a:r>
            <a:endParaRPr sz="1300">
              <a:solidFill>
                <a:schemeClr val="dk1"/>
              </a:solidFill>
              <a:latin typeface="Arial"/>
              <a:ea typeface="Arial"/>
              <a:cs typeface="Arial"/>
              <a:sym typeface="Arial"/>
            </a:endParaRPr>
          </a:p>
        </p:txBody>
      </p:sp>
      <p:sp>
        <p:nvSpPr>
          <p:cNvPr id="225" name="Google Shape;225;p8"/>
          <p:cNvSpPr/>
          <p:nvPr/>
        </p:nvSpPr>
        <p:spPr>
          <a:xfrm>
            <a:off x="5349240" y="1965960"/>
            <a:ext cx="1280160" cy="868680"/>
          </a:xfrm>
          <a:prstGeom prst="roundRect">
            <a:avLst>
              <a:gd fmla="val 6316" name="adj"/>
            </a:avLst>
          </a:prstGeom>
          <a:solidFill>
            <a:srgbClr val="10332B"/>
          </a:solidFill>
          <a:ln cap="flat" cmpd="sng" w="13950">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5422392" y="2057400"/>
            <a:ext cx="1133856" cy="6858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4FAFF"/>
              </a:buClr>
              <a:buSzPts val="1300"/>
              <a:buFont typeface="Arial"/>
              <a:buNone/>
            </a:pPr>
            <a:r>
              <a:rPr b="1" lang="en-US" sz="1300">
                <a:solidFill>
                  <a:srgbClr val="F4FAFF"/>
                </a:solidFill>
                <a:latin typeface="Arial"/>
                <a:ea typeface="Arial"/>
                <a:cs typeface="Arial"/>
                <a:sym typeface="Arial"/>
              </a:rPr>
              <a:t>60-day</a:t>
            </a:r>
            <a:endParaRPr sz="1300">
              <a:solidFill>
                <a:schemeClr val="dk1"/>
              </a:solidFill>
              <a:latin typeface="Arial"/>
              <a:ea typeface="Arial"/>
              <a:cs typeface="Arial"/>
              <a:sym typeface="Arial"/>
            </a:endParaRPr>
          </a:p>
          <a:p>
            <a:pPr indent="0" lvl="0" marL="0" marR="0" rtl="0" algn="ctr">
              <a:spcBef>
                <a:spcPts val="0"/>
              </a:spcBef>
              <a:spcAft>
                <a:spcPts val="0"/>
              </a:spcAft>
              <a:buClr>
                <a:srgbClr val="F4FAFF"/>
              </a:buClr>
              <a:buSzPts val="1300"/>
              <a:buFont typeface="Arial"/>
              <a:buNone/>
            </a:pPr>
            <a:r>
              <a:rPr b="1" lang="en-US" sz="1300">
                <a:solidFill>
                  <a:srgbClr val="F4FAFF"/>
                </a:solidFill>
                <a:latin typeface="Arial"/>
                <a:ea typeface="Arial"/>
                <a:cs typeface="Arial"/>
                <a:sym typeface="Arial"/>
              </a:rPr>
              <a:t>Pilot</a:t>
            </a:r>
            <a:endParaRPr sz="1300">
              <a:solidFill>
                <a:schemeClr val="dk1"/>
              </a:solidFill>
              <a:latin typeface="Arial"/>
              <a:ea typeface="Arial"/>
              <a:cs typeface="Arial"/>
              <a:sym typeface="Arial"/>
            </a:endParaRPr>
          </a:p>
        </p:txBody>
      </p:sp>
      <p:sp>
        <p:nvSpPr>
          <p:cNvPr id="227" name="Google Shape;227;p8"/>
          <p:cNvSpPr/>
          <p:nvPr/>
        </p:nvSpPr>
        <p:spPr>
          <a:xfrm>
            <a:off x="7635240" y="1965960"/>
            <a:ext cx="1417320" cy="868680"/>
          </a:xfrm>
          <a:prstGeom prst="roundRect">
            <a:avLst>
              <a:gd fmla="val 6316" name="adj"/>
            </a:avLst>
          </a:prstGeom>
          <a:solidFill>
            <a:srgbClr val="2B2713"/>
          </a:solidFill>
          <a:ln cap="flat" cmpd="sng" w="13950">
            <a:solidFill>
              <a:srgbClr val="F6B8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7708392" y="2057400"/>
            <a:ext cx="1271016" cy="6858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F4FAFF"/>
              </a:buClr>
              <a:buSzPts val="1250"/>
              <a:buFont typeface="Arial"/>
              <a:buNone/>
            </a:pPr>
            <a:r>
              <a:rPr b="1" lang="en-US" sz="1250">
                <a:solidFill>
                  <a:srgbClr val="F4FAFF"/>
                </a:solidFill>
                <a:latin typeface="Arial"/>
                <a:ea typeface="Arial"/>
                <a:cs typeface="Arial"/>
                <a:sym typeface="Arial"/>
              </a:rPr>
              <a:t>Production</a:t>
            </a:r>
            <a:endParaRPr sz="1250">
              <a:solidFill>
                <a:schemeClr val="dk1"/>
              </a:solidFill>
              <a:latin typeface="Arial"/>
              <a:ea typeface="Arial"/>
              <a:cs typeface="Arial"/>
              <a:sym typeface="Arial"/>
            </a:endParaRPr>
          </a:p>
          <a:p>
            <a:pPr indent="0" lvl="0" marL="0" marR="0" rtl="0" algn="ctr">
              <a:spcBef>
                <a:spcPts val="0"/>
              </a:spcBef>
              <a:spcAft>
                <a:spcPts val="0"/>
              </a:spcAft>
              <a:buClr>
                <a:srgbClr val="F4FAFF"/>
              </a:buClr>
              <a:buSzPts val="1250"/>
              <a:buFont typeface="Arial"/>
              <a:buNone/>
            </a:pPr>
            <a:r>
              <a:rPr b="1" lang="en-US" sz="1250">
                <a:solidFill>
                  <a:srgbClr val="F4FAFF"/>
                </a:solidFill>
                <a:latin typeface="Arial"/>
                <a:ea typeface="Arial"/>
                <a:cs typeface="Arial"/>
                <a:sym typeface="Arial"/>
              </a:rPr>
              <a:t>Decision</a:t>
            </a:r>
            <a:endParaRPr sz="1250">
              <a:solidFill>
                <a:schemeClr val="dk1"/>
              </a:solidFill>
              <a:latin typeface="Arial"/>
              <a:ea typeface="Arial"/>
              <a:cs typeface="Arial"/>
              <a:sym typeface="Arial"/>
            </a:endParaRPr>
          </a:p>
        </p:txBody>
      </p:sp>
      <p:sp>
        <p:nvSpPr>
          <p:cNvPr id="229" name="Google Shape;229;p8"/>
          <p:cNvSpPr/>
          <p:nvPr/>
        </p:nvSpPr>
        <p:spPr>
          <a:xfrm>
            <a:off x="749808" y="3383280"/>
            <a:ext cx="5029200" cy="2148840"/>
          </a:xfrm>
          <a:prstGeom prst="roundRect">
            <a:avLst>
              <a:gd fmla="val 2979" name="adj"/>
            </a:avLst>
          </a:prstGeom>
          <a:solidFill>
            <a:srgbClr val="092C27"/>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914400" y="3511296"/>
            <a:ext cx="4700016"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600"/>
              <a:buFont typeface="Arial"/>
              <a:buNone/>
            </a:pPr>
            <a:r>
              <a:rPr b="1" lang="en-US" sz="1600">
                <a:solidFill>
                  <a:srgbClr val="F4FAFF"/>
                </a:solidFill>
                <a:latin typeface="Arial"/>
                <a:ea typeface="Arial"/>
                <a:cs typeface="Arial"/>
                <a:sym typeface="Arial"/>
              </a:rPr>
              <a:t>Pilot greenlight criteria</a:t>
            </a:r>
            <a:endParaRPr sz="1600">
              <a:solidFill>
                <a:schemeClr val="dk1"/>
              </a:solidFill>
              <a:latin typeface="Arial"/>
              <a:ea typeface="Arial"/>
              <a:cs typeface="Arial"/>
              <a:sym typeface="Arial"/>
            </a:endParaRPr>
          </a:p>
        </p:txBody>
      </p:sp>
      <p:sp>
        <p:nvSpPr>
          <p:cNvPr id="231" name="Google Shape;231;p8"/>
          <p:cNvSpPr/>
          <p:nvPr/>
        </p:nvSpPr>
        <p:spPr>
          <a:xfrm>
            <a:off x="1005850" y="3831325"/>
            <a:ext cx="4434900" cy="1563600"/>
          </a:xfrm>
          <a:prstGeom prst="rect">
            <a:avLst/>
          </a:prstGeom>
          <a:noFill/>
          <a:ln>
            <a:noFill/>
          </a:ln>
        </p:spPr>
        <p:txBody>
          <a:bodyPr anchorCtr="0" anchor="t" bIns="500" lIns="500" spcFirstLastPara="1" rIns="500" wrap="square" tIns="500">
            <a:normAutofit/>
          </a:bodyPr>
          <a:lstStyle/>
          <a:p>
            <a:pPr indent="0" lvl="0" marL="0" marR="0" rtl="0" algn="l">
              <a:spcBef>
                <a:spcPts val="0"/>
              </a:spcBef>
              <a:spcAft>
                <a:spcPts val="0"/>
              </a:spcAft>
              <a:buNone/>
            </a:pPr>
            <a:r>
              <a:t/>
            </a:r>
            <a:endParaRPr>
              <a:solidFill>
                <a:srgbClr val="F4FAFF"/>
              </a:solidFill>
            </a:endParaRPr>
          </a:p>
          <a:p>
            <a:pPr indent="0" lvl="0" marL="0" marR="0" rtl="0" algn="l">
              <a:spcBef>
                <a:spcPts val="0"/>
              </a:spcBef>
              <a:spcAft>
                <a:spcPts val="0"/>
              </a:spcAft>
              <a:buNone/>
            </a:pPr>
            <a:r>
              <a:rPr lang="en-US">
                <a:solidFill>
                  <a:srgbClr val="F4FAFF"/>
                </a:solidFill>
                <a:latin typeface="Arial"/>
                <a:ea typeface="Arial"/>
                <a:cs typeface="Arial"/>
                <a:sym typeface="Arial"/>
              </a:rPr>
              <a:t>Time reduction &gt;= 30-40%</a:t>
            </a:r>
            <a:endParaRPr>
              <a:solidFill>
                <a:schemeClr val="dk1"/>
              </a:solidFill>
              <a:latin typeface="Arial"/>
              <a:ea typeface="Arial"/>
              <a:cs typeface="Arial"/>
              <a:sym typeface="Arial"/>
            </a:endParaRPr>
          </a:p>
          <a:p>
            <a:pPr indent="0" lvl="0" marL="0" marR="0" rtl="0" algn="l">
              <a:spcBef>
                <a:spcPts val="0"/>
              </a:spcBef>
              <a:spcAft>
                <a:spcPts val="0"/>
              </a:spcAft>
              <a:buNone/>
            </a:pPr>
            <a:r>
              <a:rPr lang="en-US">
                <a:solidFill>
                  <a:srgbClr val="F4FAFF"/>
                </a:solidFill>
                <a:latin typeface="Arial"/>
                <a:ea typeface="Arial"/>
                <a:cs typeface="Arial"/>
                <a:sym typeface="Arial"/>
              </a:rPr>
              <a:t>Priority accuracy &gt;= 80%</a:t>
            </a:r>
            <a:endParaRPr>
              <a:solidFill>
                <a:schemeClr val="dk1"/>
              </a:solidFill>
              <a:latin typeface="Arial"/>
              <a:ea typeface="Arial"/>
              <a:cs typeface="Arial"/>
              <a:sym typeface="Arial"/>
            </a:endParaRPr>
          </a:p>
          <a:p>
            <a:pPr indent="0" lvl="0" marL="0" marR="0" rtl="0" algn="l">
              <a:spcBef>
                <a:spcPts val="0"/>
              </a:spcBef>
              <a:spcAft>
                <a:spcPts val="0"/>
              </a:spcAft>
              <a:buNone/>
            </a:pPr>
            <a:r>
              <a:rPr lang="en-US">
                <a:solidFill>
                  <a:srgbClr val="F4FAFF"/>
                </a:solidFill>
                <a:latin typeface="Arial"/>
                <a:ea typeface="Arial"/>
                <a:cs typeface="Arial"/>
                <a:sym typeface="Arial"/>
              </a:rPr>
              <a:t>Risk type accuracy &gt;= 85%</a:t>
            </a:r>
            <a:endParaRPr>
              <a:solidFill>
                <a:schemeClr val="dk1"/>
              </a:solidFill>
              <a:latin typeface="Arial"/>
              <a:ea typeface="Arial"/>
              <a:cs typeface="Arial"/>
              <a:sym typeface="Arial"/>
            </a:endParaRPr>
          </a:p>
          <a:p>
            <a:pPr indent="0" lvl="0" marL="0" marR="0" rtl="0" algn="l">
              <a:spcBef>
                <a:spcPts val="0"/>
              </a:spcBef>
              <a:spcAft>
                <a:spcPts val="0"/>
              </a:spcAft>
              <a:buNone/>
            </a:pPr>
            <a:r>
              <a:rPr lang="en-US">
                <a:solidFill>
                  <a:srgbClr val="F4FAFF"/>
                </a:solidFill>
                <a:latin typeface="Arial"/>
                <a:ea typeface="Arial"/>
                <a:cs typeface="Arial"/>
                <a:sym typeface="Arial"/>
              </a:rPr>
              <a:t>Escalation accuracy &gt;= 90%</a:t>
            </a:r>
            <a:endParaRPr>
              <a:solidFill>
                <a:schemeClr val="dk1"/>
              </a:solidFill>
              <a:latin typeface="Arial"/>
              <a:ea typeface="Arial"/>
              <a:cs typeface="Arial"/>
              <a:sym typeface="Arial"/>
            </a:endParaRPr>
          </a:p>
          <a:p>
            <a:pPr indent="0" lvl="0" marL="0" marR="0" rtl="0" algn="l">
              <a:spcBef>
                <a:spcPts val="0"/>
              </a:spcBef>
              <a:spcAft>
                <a:spcPts val="0"/>
              </a:spcAft>
              <a:buNone/>
            </a:pPr>
            <a:r>
              <a:rPr lang="en-US">
                <a:solidFill>
                  <a:srgbClr val="F4FAFF"/>
                </a:solidFill>
                <a:latin typeface="Arial"/>
                <a:ea typeface="Arial"/>
                <a:cs typeface="Arial"/>
                <a:sym typeface="Arial"/>
              </a:rPr>
              <a:t>Processing success &gt;= 95%</a:t>
            </a:r>
            <a:endParaRPr>
              <a:solidFill>
                <a:schemeClr val="dk1"/>
              </a:solidFill>
              <a:latin typeface="Arial"/>
              <a:ea typeface="Arial"/>
              <a:cs typeface="Arial"/>
              <a:sym typeface="Arial"/>
            </a:endParaRPr>
          </a:p>
          <a:p>
            <a:pPr indent="0" lvl="0" marL="0" marR="0" rtl="0" algn="l">
              <a:spcBef>
                <a:spcPts val="0"/>
              </a:spcBef>
              <a:spcAft>
                <a:spcPts val="0"/>
              </a:spcAft>
              <a:buNone/>
            </a:pPr>
            <a:r>
              <a:rPr lang="en-US">
                <a:solidFill>
                  <a:srgbClr val="F4FAFF"/>
                </a:solidFill>
                <a:latin typeface="Arial"/>
                <a:ea typeface="Arial"/>
                <a:cs typeface="Arial"/>
                <a:sym typeface="Arial"/>
              </a:rPr>
              <a:t>0 critical compliance incidents</a:t>
            </a:r>
            <a:endParaRPr>
              <a:solidFill>
                <a:schemeClr val="dk1"/>
              </a:solidFill>
              <a:latin typeface="Arial"/>
              <a:ea typeface="Arial"/>
              <a:cs typeface="Arial"/>
              <a:sym typeface="Arial"/>
            </a:endParaRPr>
          </a:p>
        </p:txBody>
      </p:sp>
      <p:sp>
        <p:nvSpPr>
          <p:cNvPr id="232" name="Google Shape;232;p8"/>
          <p:cNvSpPr/>
          <p:nvPr/>
        </p:nvSpPr>
        <p:spPr>
          <a:xfrm>
            <a:off x="6080750" y="3383275"/>
            <a:ext cx="3220200" cy="914400"/>
          </a:xfrm>
          <a:prstGeom prst="roundRect">
            <a:avLst>
              <a:gd fmla="val 7000" name="adj"/>
            </a:avLst>
          </a:prstGeom>
          <a:solidFill>
            <a:srgbClr val="0A2738"/>
          </a:solidFill>
          <a:ln cap="flat" cmpd="sng" w="11425">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6245350" y="3383425"/>
            <a:ext cx="2505300" cy="3657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500"/>
              <a:buFont typeface="Arial"/>
              <a:buNone/>
            </a:pPr>
            <a:r>
              <a:rPr b="1" lang="en-US" sz="1500">
                <a:solidFill>
                  <a:srgbClr val="F4FAFF"/>
                </a:solidFill>
                <a:latin typeface="Arial"/>
                <a:ea typeface="Arial"/>
                <a:cs typeface="Arial"/>
                <a:sym typeface="Arial"/>
              </a:rPr>
              <a:t>Commercial model</a:t>
            </a:r>
            <a:endParaRPr sz="1500">
              <a:solidFill>
                <a:schemeClr val="dk1"/>
              </a:solidFill>
              <a:latin typeface="Arial"/>
              <a:ea typeface="Arial"/>
              <a:cs typeface="Arial"/>
              <a:sym typeface="Arial"/>
            </a:endParaRPr>
          </a:p>
        </p:txBody>
      </p:sp>
      <p:sp>
        <p:nvSpPr>
          <p:cNvPr id="234" name="Google Shape;234;p8"/>
          <p:cNvSpPr/>
          <p:nvPr/>
        </p:nvSpPr>
        <p:spPr>
          <a:xfrm>
            <a:off x="6245350" y="3712575"/>
            <a:ext cx="2957400" cy="58500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A7BED1"/>
              </a:buClr>
              <a:buSzPts val="1120"/>
              <a:buFont typeface="Arial"/>
              <a:buNone/>
            </a:pPr>
            <a:r>
              <a:rPr lang="en-US" sz="1200">
                <a:solidFill>
                  <a:srgbClr val="A7BED1"/>
                </a:solidFill>
                <a:latin typeface="Arial"/>
                <a:ea typeface="Arial"/>
                <a:cs typeface="Arial"/>
                <a:sym typeface="Arial"/>
              </a:rPr>
              <a:t>Internal pilot first; future SaaS or managed service for investment research teams.</a:t>
            </a:r>
            <a:endParaRPr sz="1200">
              <a:solidFill>
                <a:schemeClr val="dk1"/>
              </a:solidFill>
              <a:latin typeface="Arial"/>
              <a:ea typeface="Arial"/>
              <a:cs typeface="Arial"/>
              <a:sym typeface="Arial"/>
            </a:endParaRPr>
          </a:p>
        </p:txBody>
      </p:sp>
      <p:sp>
        <p:nvSpPr>
          <p:cNvPr id="235" name="Google Shape;235;p8"/>
          <p:cNvSpPr/>
          <p:nvPr/>
        </p:nvSpPr>
        <p:spPr>
          <a:xfrm>
            <a:off x="6080750" y="4526275"/>
            <a:ext cx="3220200" cy="1005900"/>
          </a:xfrm>
          <a:prstGeom prst="roundRect">
            <a:avLst>
              <a:gd fmla="val 6364" name="adj"/>
            </a:avLst>
          </a:prstGeom>
          <a:solidFill>
            <a:srgbClr val="0A2536"/>
          </a:solidFill>
          <a:ln cap="flat" cmpd="sng" w="11425">
            <a:solidFill>
              <a:srgbClr val="1B8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6245350" y="4645225"/>
            <a:ext cx="2505300" cy="320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500"/>
              <a:buFont typeface="Arial"/>
              <a:buNone/>
            </a:pPr>
            <a:r>
              <a:rPr b="1" lang="en-US" sz="1500">
                <a:solidFill>
                  <a:srgbClr val="F4FAFF"/>
                </a:solidFill>
                <a:latin typeface="Arial"/>
                <a:ea typeface="Arial"/>
                <a:cs typeface="Arial"/>
                <a:sym typeface="Arial"/>
              </a:rPr>
              <a:t>Decision principle</a:t>
            </a:r>
            <a:endParaRPr sz="1500">
              <a:solidFill>
                <a:schemeClr val="dk1"/>
              </a:solidFill>
              <a:latin typeface="Arial"/>
              <a:ea typeface="Arial"/>
              <a:cs typeface="Arial"/>
              <a:sym typeface="Arial"/>
            </a:endParaRPr>
          </a:p>
        </p:txBody>
      </p:sp>
      <p:sp>
        <p:nvSpPr>
          <p:cNvPr id="237" name="Google Shape;237;p8"/>
          <p:cNvSpPr/>
          <p:nvPr/>
        </p:nvSpPr>
        <p:spPr>
          <a:xfrm>
            <a:off x="6245350" y="4947050"/>
            <a:ext cx="2505300" cy="44790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A7BED1"/>
              </a:buClr>
              <a:buSzPts val="1400"/>
              <a:buFont typeface="Arial"/>
              <a:buNone/>
            </a:pPr>
            <a:r>
              <a:rPr lang="en-US" sz="1400">
                <a:solidFill>
                  <a:srgbClr val="A7BED1"/>
                </a:solidFill>
                <a:latin typeface="Arial"/>
                <a:ea typeface="Arial"/>
                <a:cs typeface="Arial"/>
                <a:sym typeface="Arial"/>
              </a:rPr>
              <a:t>Chleo decides after evidence — not hype.</a:t>
            </a:r>
            <a:endParaRPr sz="14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242" name="Shape 242"/>
        <p:cNvGrpSpPr/>
        <p:nvPr/>
      </p:nvGrpSpPr>
      <p:grpSpPr>
        <a:xfrm>
          <a:off x="0" y="0"/>
          <a:ext cx="0" cy="0"/>
          <a:chOff x="0" y="0"/>
          <a:chExt cx="0" cy="0"/>
        </a:xfrm>
      </p:grpSpPr>
      <p:pic>
        <p:nvPicPr>
          <p:cNvPr descr="/mnt/data/finradar_logo_watermark_dark.png" id="243" name="Google Shape;243;p9"/>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244" name="Google Shape;244;p9"/>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950"/>
              <a:buFont typeface="Arial"/>
              <a:buNone/>
            </a:pPr>
            <a:r>
              <a:rPr b="1" lang="en-US" sz="1200">
                <a:solidFill>
                  <a:srgbClr val="31D7F7"/>
                </a:solidFill>
                <a:latin typeface="Arial"/>
                <a:ea typeface="Arial"/>
                <a:cs typeface="Arial"/>
                <a:sym typeface="Arial"/>
              </a:rPr>
              <a:t>FinRadar AI | Round 2</a:t>
            </a:r>
            <a:endParaRPr sz="1200">
              <a:solidFill>
                <a:schemeClr val="dk1"/>
              </a:solidFill>
              <a:latin typeface="Arial"/>
              <a:ea typeface="Arial"/>
              <a:cs typeface="Arial"/>
              <a:sym typeface="Arial"/>
            </a:endParaRPr>
          </a:p>
        </p:txBody>
      </p:sp>
      <p:pic>
        <p:nvPicPr>
          <p:cNvPr descr="/mnt/data/ironhack-logo.png" id="245" name="Google Shape;245;p9"/>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246" name="Google Shape;246;p9"/>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247" name="Google Shape;247;p9"/>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spcBef>
                <a:spcPts val="0"/>
              </a:spcBef>
              <a:spcAft>
                <a:spcPts val="0"/>
              </a:spcAft>
              <a:buClr>
                <a:srgbClr val="A7BED1"/>
              </a:buClr>
              <a:buSzPts val="900"/>
              <a:buFont typeface="Arial"/>
              <a:buNone/>
            </a:pPr>
            <a:r>
              <a:rPr lang="en-US" sz="1200">
                <a:solidFill>
                  <a:srgbClr val="A7BED1"/>
                </a:solidFill>
                <a:latin typeface="Arial"/>
                <a:ea typeface="Arial"/>
                <a:cs typeface="Arial"/>
                <a:sym typeface="Arial"/>
              </a:rPr>
              <a:t>AI Assists - Humans Decide</a:t>
            </a:r>
            <a:endParaRPr sz="1200">
              <a:solidFill>
                <a:schemeClr val="dk1"/>
              </a:solidFill>
              <a:latin typeface="Arial"/>
              <a:ea typeface="Arial"/>
              <a:cs typeface="Arial"/>
              <a:sym typeface="Arial"/>
            </a:endParaRPr>
          </a:p>
        </p:txBody>
      </p:sp>
      <p:sp>
        <p:nvSpPr>
          <p:cNvPr id="248" name="Google Shape;248;p9"/>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spcBef>
                <a:spcPts val="0"/>
              </a:spcBef>
              <a:spcAft>
                <a:spcPts val="0"/>
              </a:spcAft>
              <a:buClr>
                <a:srgbClr val="A7BED1"/>
              </a:buClr>
              <a:buSzPts val="900"/>
              <a:buFont typeface="Arial"/>
              <a:buNone/>
            </a:pPr>
            <a:r>
              <a:rPr lang="en-US" sz="900">
                <a:solidFill>
                  <a:srgbClr val="A7BED1"/>
                </a:solidFill>
                <a:latin typeface="Arial"/>
                <a:ea typeface="Arial"/>
                <a:cs typeface="Arial"/>
                <a:sym typeface="Arial"/>
              </a:rPr>
              <a:t>09</a:t>
            </a:r>
            <a:endParaRPr sz="900">
              <a:solidFill>
                <a:schemeClr val="dk1"/>
              </a:solidFill>
              <a:latin typeface="Arial"/>
              <a:ea typeface="Arial"/>
              <a:cs typeface="Arial"/>
              <a:sym typeface="Arial"/>
            </a:endParaRPr>
          </a:p>
        </p:txBody>
      </p:sp>
      <p:sp>
        <p:nvSpPr>
          <p:cNvPr id="249" name="Google Shape;249;p9"/>
          <p:cNvSpPr/>
          <p:nvPr/>
        </p:nvSpPr>
        <p:spPr>
          <a:xfrm>
            <a:off x="640075" y="548650"/>
            <a:ext cx="10177200" cy="6858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2700"/>
              <a:buFont typeface="Arial"/>
              <a:buNone/>
            </a:pPr>
            <a:r>
              <a:rPr b="1" lang="en-US" sz="2400">
                <a:solidFill>
                  <a:srgbClr val="F4FAFF"/>
                </a:solidFill>
                <a:latin typeface="Arial"/>
                <a:ea typeface="Arial"/>
                <a:cs typeface="Arial"/>
                <a:sym typeface="Arial"/>
              </a:rPr>
              <a:t>MVP Demo + Evaluation: from workflow to analyst-facing product</a:t>
            </a:r>
            <a:endParaRPr sz="2400">
              <a:solidFill>
                <a:schemeClr val="dk1"/>
              </a:solidFill>
              <a:latin typeface="Arial"/>
              <a:ea typeface="Arial"/>
              <a:cs typeface="Arial"/>
              <a:sym typeface="Arial"/>
            </a:endParaRPr>
          </a:p>
        </p:txBody>
      </p:sp>
      <p:sp>
        <p:nvSpPr>
          <p:cNvPr id="250" name="Google Shape;250;p9"/>
          <p:cNvSpPr/>
          <p:nvPr/>
        </p:nvSpPr>
        <p:spPr>
          <a:xfrm>
            <a:off x="694950" y="1298450"/>
            <a:ext cx="9912000" cy="255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220"/>
              <a:buFont typeface="Arial"/>
              <a:buNone/>
            </a:pPr>
            <a:r>
              <a:rPr b="1" lang="en-US" sz="1220">
                <a:solidFill>
                  <a:srgbClr val="A7BED1"/>
                </a:solidFill>
              </a:rPr>
              <a:t>Demo path: search ticker → retrieve live news → analyst selects article → structured AI analysis → review outcome.</a:t>
            </a:r>
            <a:endParaRPr b="1" sz="1220">
              <a:solidFill>
                <a:schemeClr val="dk1"/>
              </a:solidFill>
            </a:endParaRPr>
          </a:p>
        </p:txBody>
      </p:sp>
      <p:sp>
        <p:nvSpPr>
          <p:cNvPr id="251" name="Google Shape;251;p9"/>
          <p:cNvSpPr/>
          <p:nvPr/>
        </p:nvSpPr>
        <p:spPr>
          <a:xfrm>
            <a:off x="594360" y="1682496"/>
            <a:ext cx="3291840" cy="1874520"/>
          </a:xfrm>
          <a:prstGeom prst="roundRect">
            <a:avLst>
              <a:gd fmla="val 2927" name="adj"/>
            </a:avLst>
          </a:prstGeom>
          <a:solidFill>
            <a:srgbClr val="06111A"/>
          </a:solidFill>
          <a:ln cap="flat" cmpd="sng" w="10150">
            <a:solidFill>
              <a:srgbClr val="1B83F6"/>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2d95e50c-a8e6-4335-bec1-c7b77e27016a.png" id="252" name="Google Shape;252;p9"/>
          <p:cNvPicPr preferRelativeResize="0"/>
          <p:nvPr/>
        </p:nvPicPr>
        <p:blipFill rotWithShape="1">
          <a:blip r:embed="rId5">
            <a:alphaModFix/>
          </a:blip>
          <a:srcRect b="5180" l="0" r="0" t="5180"/>
          <a:stretch/>
        </p:blipFill>
        <p:spPr>
          <a:xfrm>
            <a:off x="594300" y="1664250"/>
            <a:ext cx="3291901" cy="2007000"/>
          </a:xfrm>
          <a:prstGeom prst="rect">
            <a:avLst/>
          </a:prstGeom>
          <a:noFill/>
          <a:ln>
            <a:noFill/>
          </a:ln>
        </p:spPr>
      </p:pic>
      <p:sp>
        <p:nvSpPr>
          <p:cNvPr id="253" name="Google Shape;253;p9"/>
          <p:cNvSpPr/>
          <p:nvPr/>
        </p:nvSpPr>
        <p:spPr>
          <a:xfrm>
            <a:off x="704088" y="3154680"/>
            <a:ext cx="3072384" cy="256032"/>
          </a:xfrm>
          <a:prstGeom prst="roundRect">
            <a:avLst>
              <a:gd fmla="val 14286" name="adj"/>
            </a:avLst>
          </a:prstGeom>
          <a:solidFill>
            <a:srgbClr val="05131D">
              <a:alpha val="85098"/>
            </a:srgbClr>
          </a:solidFill>
          <a:ln cap="flat" cmpd="sng" w="12700">
            <a:solidFill>
              <a:srgbClr val="05131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758952" y="3218688"/>
            <a:ext cx="2962656" cy="12801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A7BED1"/>
              </a:buClr>
              <a:buSzPts val="760"/>
              <a:buFont typeface="Arial"/>
              <a:buNone/>
            </a:pPr>
            <a:r>
              <a:rPr b="1" lang="en-US" sz="760">
                <a:solidFill>
                  <a:srgbClr val="A7BED1"/>
                </a:solidFill>
                <a:latin typeface="Arial"/>
                <a:ea typeface="Arial"/>
                <a:cs typeface="Arial"/>
                <a:sym typeface="Arial"/>
              </a:rPr>
              <a:t>1. Human selection before AI</a:t>
            </a:r>
            <a:endParaRPr sz="760">
              <a:solidFill>
                <a:schemeClr val="dk1"/>
              </a:solidFill>
              <a:latin typeface="Arial"/>
              <a:ea typeface="Arial"/>
              <a:cs typeface="Arial"/>
              <a:sym typeface="Arial"/>
            </a:endParaRPr>
          </a:p>
        </p:txBody>
      </p:sp>
      <p:sp>
        <p:nvSpPr>
          <p:cNvPr id="255" name="Google Shape;255;p9"/>
          <p:cNvSpPr/>
          <p:nvPr/>
        </p:nvSpPr>
        <p:spPr>
          <a:xfrm>
            <a:off x="4069080" y="1682496"/>
            <a:ext cx="3291840" cy="1874520"/>
          </a:xfrm>
          <a:prstGeom prst="roundRect">
            <a:avLst>
              <a:gd fmla="val 2927" name="adj"/>
            </a:avLst>
          </a:prstGeom>
          <a:solidFill>
            <a:srgbClr val="06111A"/>
          </a:solidFill>
          <a:ln cap="flat" cmpd="sng" w="10150">
            <a:solidFill>
              <a:srgbClr val="2EEA90"/>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0541f229-b43a-4846-9f90-bbfae6800d83.png" id="256" name="Google Shape;256;p9"/>
          <p:cNvPicPr preferRelativeResize="0"/>
          <p:nvPr/>
        </p:nvPicPr>
        <p:blipFill rotWithShape="1">
          <a:blip r:embed="rId6">
            <a:alphaModFix/>
          </a:blip>
          <a:srcRect b="3272" l="0" r="0" t="3272"/>
          <a:stretch/>
        </p:blipFill>
        <p:spPr>
          <a:xfrm>
            <a:off x="4114800" y="1682499"/>
            <a:ext cx="3200400" cy="2007024"/>
          </a:xfrm>
          <a:prstGeom prst="rect">
            <a:avLst/>
          </a:prstGeom>
          <a:noFill/>
          <a:ln>
            <a:noFill/>
          </a:ln>
        </p:spPr>
      </p:pic>
      <p:sp>
        <p:nvSpPr>
          <p:cNvPr id="257" name="Google Shape;257;p9"/>
          <p:cNvSpPr/>
          <p:nvPr/>
        </p:nvSpPr>
        <p:spPr>
          <a:xfrm>
            <a:off x="4178808" y="3154680"/>
            <a:ext cx="3072384" cy="256032"/>
          </a:xfrm>
          <a:prstGeom prst="roundRect">
            <a:avLst>
              <a:gd fmla="val 14286" name="adj"/>
            </a:avLst>
          </a:prstGeom>
          <a:solidFill>
            <a:srgbClr val="05131D">
              <a:alpha val="85098"/>
            </a:srgbClr>
          </a:solidFill>
          <a:ln cap="flat" cmpd="sng" w="12700">
            <a:solidFill>
              <a:srgbClr val="05131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4233672" y="3218688"/>
            <a:ext cx="2962656" cy="12801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A7BED1"/>
              </a:buClr>
              <a:buSzPts val="760"/>
              <a:buFont typeface="Arial"/>
              <a:buNone/>
            </a:pPr>
            <a:r>
              <a:rPr b="1" lang="en-US" sz="760">
                <a:solidFill>
                  <a:srgbClr val="A7BED1"/>
                </a:solidFill>
                <a:latin typeface="Arial"/>
                <a:ea typeface="Arial"/>
                <a:cs typeface="Arial"/>
                <a:sym typeface="Arial"/>
              </a:rPr>
              <a:t>2. Structured analyst review</a:t>
            </a:r>
            <a:endParaRPr sz="760">
              <a:solidFill>
                <a:schemeClr val="dk1"/>
              </a:solidFill>
              <a:latin typeface="Arial"/>
              <a:ea typeface="Arial"/>
              <a:cs typeface="Arial"/>
              <a:sym typeface="Arial"/>
            </a:endParaRPr>
          </a:p>
        </p:txBody>
      </p:sp>
      <p:sp>
        <p:nvSpPr>
          <p:cNvPr id="259" name="Google Shape;259;p9"/>
          <p:cNvSpPr/>
          <p:nvPr/>
        </p:nvSpPr>
        <p:spPr>
          <a:xfrm>
            <a:off x="7543800" y="1682500"/>
            <a:ext cx="3291900" cy="2007000"/>
          </a:xfrm>
          <a:prstGeom prst="roundRect">
            <a:avLst>
              <a:gd fmla="val 2927" name="adj"/>
            </a:avLst>
          </a:prstGeom>
          <a:solidFill>
            <a:srgbClr val="06111A"/>
          </a:solidFill>
          <a:ln cap="flat" cmpd="sng" w="10150">
            <a:solidFill>
              <a:srgbClr val="FF5A64"/>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185da6e5-c027-4d4f-a8bb-7f634c4b2c5c.png" id="260" name="Google Shape;260;p9"/>
          <p:cNvPicPr preferRelativeResize="0"/>
          <p:nvPr/>
        </p:nvPicPr>
        <p:blipFill rotWithShape="1">
          <a:blip r:embed="rId7">
            <a:alphaModFix/>
          </a:blip>
          <a:srcRect b="0" l="3240" r="3240" t="0"/>
          <a:stretch/>
        </p:blipFill>
        <p:spPr>
          <a:xfrm>
            <a:off x="7562075" y="1746525"/>
            <a:ext cx="3291849" cy="1874526"/>
          </a:xfrm>
          <a:prstGeom prst="rect">
            <a:avLst/>
          </a:prstGeom>
          <a:noFill/>
          <a:ln>
            <a:noFill/>
          </a:ln>
        </p:spPr>
      </p:pic>
      <p:sp>
        <p:nvSpPr>
          <p:cNvPr id="261" name="Google Shape;261;p9"/>
          <p:cNvSpPr/>
          <p:nvPr/>
        </p:nvSpPr>
        <p:spPr>
          <a:xfrm>
            <a:off x="7653528" y="3154680"/>
            <a:ext cx="3072384" cy="256032"/>
          </a:xfrm>
          <a:prstGeom prst="roundRect">
            <a:avLst>
              <a:gd fmla="val 14286" name="adj"/>
            </a:avLst>
          </a:prstGeom>
          <a:solidFill>
            <a:srgbClr val="05131D">
              <a:alpha val="85098"/>
            </a:srgbClr>
          </a:solidFill>
          <a:ln cap="flat" cmpd="sng" w="12700">
            <a:solidFill>
              <a:srgbClr val="05131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7708392" y="3218688"/>
            <a:ext cx="2962656" cy="128016"/>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A7BED1"/>
              </a:buClr>
              <a:buSzPts val="760"/>
              <a:buFont typeface="Arial"/>
              <a:buNone/>
            </a:pPr>
            <a:r>
              <a:rPr b="1" lang="en-US" sz="760">
                <a:solidFill>
                  <a:srgbClr val="A7BED1"/>
                </a:solidFill>
                <a:latin typeface="Arial"/>
                <a:ea typeface="Arial"/>
                <a:cs typeface="Arial"/>
                <a:sym typeface="Arial"/>
              </a:rPr>
              <a:t>3. Risk alert fallback path</a:t>
            </a:r>
            <a:endParaRPr sz="760">
              <a:solidFill>
                <a:schemeClr val="dk1"/>
              </a:solidFill>
              <a:latin typeface="Arial"/>
              <a:ea typeface="Arial"/>
              <a:cs typeface="Arial"/>
              <a:sym typeface="Arial"/>
            </a:endParaRPr>
          </a:p>
        </p:txBody>
      </p:sp>
      <p:sp>
        <p:nvSpPr>
          <p:cNvPr id="263" name="Google Shape;263;p9"/>
          <p:cNvSpPr/>
          <p:nvPr/>
        </p:nvSpPr>
        <p:spPr>
          <a:xfrm>
            <a:off x="594360" y="4005073"/>
            <a:ext cx="10241400" cy="1463100"/>
          </a:xfrm>
          <a:prstGeom prst="roundRect">
            <a:avLst>
              <a:gd fmla="val 4375" name="adj"/>
            </a:avLst>
          </a:prstGeom>
          <a:solidFill>
            <a:srgbClr val="0C2A3A"/>
          </a:solidFill>
          <a:ln cap="flat" cmpd="sng" w="11425">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758950" y="4041649"/>
            <a:ext cx="9912000" cy="447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600"/>
              <a:buFont typeface="Arial"/>
              <a:buNone/>
            </a:pPr>
            <a:r>
              <a:rPr b="1" lang="en-US" sz="1600">
                <a:solidFill>
                  <a:srgbClr val="F4FAFF"/>
                </a:solidFill>
                <a:latin typeface="Arial"/>
                <a:ea typeface="Arial"/>
                <a:cs typeface="Arial"/>
                <a:sym typeface="Arial"/>
              </a:rPr>
              <a:t>Evaluation evidence</a:t>
            </a:r>
            <a:endParaRPr sz="1600">
              <a:solidFill>
                <a:schemeClr val="dk1"/>
              </a:solidFill>
              <a:latin typeface="Arial"/>
              <a:ea typeface="Arial"/>
              <a:cs typeface="Arial"/>
              <a:sym typeface="Arial"/>
            </a:endParaRPr>
          </a:p>
        </p:txBody>
      </p:sp>
      <p:sp>
        <p:nvSpPr>
          <p:cNvPr id="265" name="Google Shape;265;p9"/>
          <p:cNvSpPr/>
          <p:nvPr/>
        </p:nvSpPr>
        <p:spPr>
          <a:xfrm>
            <a:off x="914400" y="4498848"/>
            <a:ext cx="1481328" cy="804672"/>
          </a:xfrm>
          <a:prstGeom prst="rect">
            <a:avLst/>
          </a:prstGeom>
          <a:solidFill>
            <a:srgbClr val="0C2A3A"/>
          </a:solidFill>
          <a:ln cap="flat" cmpd="sng" w="12700">
            <a:solidFill>
              <a:srgbClr val="31D7F7"/>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spcBef>
                <a:spcPts val="0"/>
              </a:spcBef>
              <a:spcAft>
                <a:spcPts val="0"/>
              </a:spcAft>
              <a:buClr>
                <a:srgbClr val="31D7F7"/>
              </a:buClr>
              <a:buSzPts val="1130"/>
              <a:buFont typeface="Arial"/>
              <a:buNone/>
            </a:pPr>
            <a:r>
              <a:rPr b="1" lang="en-US" sz="1130">
                <a:solidFill>
                  <a:srgbClr val="31D7F7"/>
                </a:solidFill>
                <a:latin typeface="Arial"/>
                <a:ea typeface="Arial"/>
                <a:cs typeface="Arial"/>
                <a:sym typeface="Arial"/>
              </a:rPr>
              <a:t>90.0%</a:t>
            </a:r>
            <a:endParaRPr sz="1130">
              <a:solidFill>
                <a:schemeClr val="dk1"/>
              </a:solidFill>
              <a:latin typeface="Arial"/>
              <a:ea typeface="Arial"/>
              <a:cs typeface="Arial"/>
              <a:sym typeface="Arial"/>
            </a:endParaRPr>
          </a:p>
          <a:p>
            <a:pPr indent="0" lvl="0" marL="0" marR="0" rtl="0" algn="ctr">
              <a:spcBef>
                <a:spcPts val="0"/>
              </a:spcBef>
              <a:spcAft>
                <a:spcPts val="0"/>
              </a:spcAft>
              <a:buClr>
                <a:srgbClr val="31D7F7"/>
              </a:buClr>
              <a:buSzPts val="1130"/>
              <a:buFont typeface="Arial"/>
              <a:buNone/>
            </a:pPr>
            <a:r>
              <a:rPr b="1" lang="en-US" sz="1130">
                <a:solidFill>
                  <a:srgbClr val="31D7F7"/>
                </a:solidFill>
                <a:latin typeface="Arial"/>
                <a:ea typeface="Arial"/>
                <a:cs typeface="Arial"/>
                <a:sym typeface="Arial"/>
              </a:rPr>
              <a:t>Business Area</a:t>
            </a:r>
            <a:endParaRPr sz="1130">
              <a:solidFill>
                <a:schemeClr val="dk1"/>
              </a:solidFill>
              <a:latin typeface="Arial"/>
              <a:ea typeface="Arial"/>
              <a:cs typeface="Arial"/>
              <a:sym typeface="Arial"/>
            </a:endParaRPr>
          </a:p>
        </p:txBody>
      </p:sp>
      <p:sp>
        <p:nvSpPr>
          <p:cNvPr id="266" name="Google Shape;266;p9"/>
          <p:cNvSpPr/>
          <p:nvPr/>
        </p:nvSpPr>
        <p:spPr>
          <a:xfrm>
            <a:off x="2788920" y="4498848"/>
            <a:ext cx="1481328" cy="804672"/>
          </a:xfrm>
          <a:prstGeom prst="rect">
            <a:avLst/>
          </a:prstGeom>
          <a:solidFill>
            <a:srgbClr val="0C2A3A"/>
          </a:solidFill>
          <a:ln cap="flat" cmpd="sng" w="12700">
            <a:solidFill>
              <a:srgbClr val="F6B84A"/>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spcBef>
                <a:spcPts val="0"/>
              </a:spcBef>
              <a:spcAft>
                <a:spcPts val="0"/>
              </a:spcAft>
              <a:buClr>
                <a:srgbClr val="F6B84A"/>
              </a:buClr>
              <a:buSzPts val="1130"/>
              <a:buFont typeface="Arial"/>
              <a:buNone/>
            </a:pPr>
            <a:r>
              <a:rPr b="1" lang="en-US" sz="1130">
                <a:solidFill>
                  <a:srgbClr val="F6B84A"/>
                </a:solidFill>
                <a:latin typeface="Arial"/>
                <a:ea typeface="Arial"/>
                <a:cs typeface="Arial"/>
                <a:sym typeface="Arial"/>
              </a:rPr>
              <a:t>86.7%</a:t>
            </a:r>
            <a:endParaRPr sz="1130">
              <a:solidFill>
                <a:schemeClr val="dk1"/>
              </a:solidFill>
              <a:latin typeface="Arial"/>
              <a:ea typeface="Arial"/>
              <a:cs typeface="Arial"/>
              <a:sym typeface="Arial"/>
            </a:endParaRPr>
          </a:p>
          <a:p>
            <a:pPr indent="0" lvl="0" marL="0" marR="0" rtl="0" algn="ctr">
              <a:spcBef>
                <a:spcPts val="0"/>
              </a:spcBef>
              <a:spcAft>
                <a:spcPts val="0"/>
              </a:spcAft>
              <a:buClr>
                <a:srgbClr val="F6B84A"/>
              </a:buClr>
              <a:buSzPts val="1130"/>
              <a:buFont typeface="Arial"/>
              <a:buNone/>
            </a:pPr>
            <a:r>
              <a:rPr b="1" lang="en-US" sz="1130">
                <a:solidFill>
                  <a:srgbClr val="F6B84A"/>
                </a:solidFill>
                <a:latin typeface="Arial"/>
                <a:ea typeface="Arial"/>
                <a:cs typeface="Arial"/>
                <a:sym typeface="Arial"/>
              </a:rPr>
              <a:t>Priority</a:t>
            </a:r>
            <a:endParaRPr sz="1130">
              <a:solidFill>
                <a:schemeClr val="dk1"/>
              </a:solidFill>
              <a:latin typeface="Arial"/>
              <a:ea typeface="Arial"/>
              <a:cs typeface="Arial"/>
              <a:sym typeface="Arial"/>
            </a:endParaRPr>
          </a:p>
        </p:txBody>
      </p:sp>
      <p:sp>
        <p:nvSpPr>
          <p:cNvPr id="267" name="Google Shape;267;p9"/>
          <p:cNvSpPr/>
          <p:nvPr/>
        </p:nvSpPr>
        <p:spPr>
          <a:xfrm>
            <a:off x="4663440" y="4498848"/>
            <a:ext cx="1481328" cy="804672"/>
          </a:xfrm>
          <a:prstGeom prst="rect">
            <a:avLst/>
          </a:prstGeom>
          <a:solidFill>
            <a:srgbClr val="0C2A3A"/>
          </a:solidFill>
          <a:ln cap="flat" cmpd="sng" w="12700">
            <a:solidFill>
              <a:srgbClr val="2EEA90"/>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spcBef>
                <a:spcPts val="0"/>
              </a:spcBef>
              <a:spcAft>
                <a:spcPts val="0"/>
              </a:spcAft>
              <a:buClr>
                <a:srgbClr val="2EEA90"/>
              </a:buClr>
              <a:buSzPts val="1130"/>
              <a:buFont typeface="Arial"/>
              <a:buNone/>
            </a:pPr>
            <a:r>
              <a:rPr b="1" lang="en-US" sz="1130">
                <a:solidFill>
                  <a:srgbClr val="2EEA90"/>
                </a:solidFill>
                <a:latin typeface="Arial"/>
                <a:ea typeface="Arial"/>
                <a:cs typeface="Arial"/>
                <a:sym typeface="Arial"/>
              </a:rPr>
              <a:t>93.3%</a:t>
            </a:r>
            <a:endParaRPr sz="1130">
              <a:solidFill>
                <a:schemeClr val="dk1"/>
              </a:solidFill>
              <a:latin typeface="Arial"/>
              <a:ea typeface="Arial"/>
              <a:cs typeface="Arial"/>
              <a:sym typeface="Arial"/>
            </a:endParaRPr>
          </a:p>
          <a:p>
            <a:pPr indent="0" lvl="0" marL="0" marR="0" rtl="0" algn="ctr">
              <a:spcBef>
                <a:spcPts val="0"/>
              </a:spcBef>
              <a:spcAft>
                <a:spcPts val="0"/>
              </a:spcAft>
              <a:buClr>
                <a:srgbClr val="2EEA90"/>
              </a:buClr>
              <a:buSzPts val="1130"/>
              <a:buFont typeface="Arial"/>
              <a:buNone/>
            </a:pPr>
            <a:r>
              <a:rPr b="1" lang="en-US" sz="1130">
                <a:solidFill>
                  <a:srgbClr val="2EEA90"/>
                </a:solidFill>
                <a:latin typeface="Arial"/>
                <a:ea typeface="Arial"/>
                <a:cs typeface="Arial"/>
                <a:sym typeface="Arial"/>
              </a:rPr>
              <a:t>Risk Type</a:t>
            </a:r>
            <a:endParaRPr sz="1130">
              <a:solidFill>
                <a:schemeClr val="dk1"/>
              </a:solidFill>
              <a:latin typeface="Arial"/>
              <a:ea typeface="Arial"/>
              <a:cs typeface="Arial"/>
              <a:sym typeface="Arial"/>
            </a:endParaRPr>
          </a:p>
        </p:txBody>
      </p:sp>
      <p:sp>
        <p:nvSpPr>
          <p:cNvPr id="268" name="Google Shape;268;p9"/>
          <p:cNvSpPr/>
          <p:nvPr/>
        </p:nvSpPr>
        <p:spPr>
          <a:xfrm>
            <a:off x="6537949" y="4498850"/>
            <a:ext cx="1641000" cy="804600"/>
          </a:xfrm>
          <a:prstGeom prst="rect">
            <a:avLst/>
          </a:prstGeom>
          <a:solidFill>
            <a:srgbClr val="0C2A3A"/>
          </a:solidFill>
          <a:ln cap="flat" cmpd="sng" w="12700">
            <a:solidFill>
              <a:srgbClr val="2EEA90"/>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spcBef>
                <a:spcPts val="0"/>
              </a:spcBef>
              <a:spcAft>
                <a:spcPts val="0"/>
              </a:spcAft>
              <a:buClr>
                <a:srgbClr val="2EEA90"/>
              </a:buClr>
              <a:buSzPts val="1130"/>
              <a:buFont typeface="Arial"/>
              <a:buNone/>
            </a:pPr>
            <a:r>
              <a:rPr b="1" lang="en-US" sz="1130">
                <a:solidFill>
                  <a:srgbClr val="2EEA90"/>
                </a:solidFill>
                <a:latin typeface="Arial"/>
                <a:ea typeface="Arial"/>
                <a:cs typeface="Arial"/>
                <a:sym typeface="Arial"/>
              </a:rPr>
              <a:t>100%</a:t>
            </a:r>
            <a:endParaRPr sz="1130">
              <a:solidFill>
                <a:schemeClr val="dk1"/>
              </a:solidFill>
              <a:latin typeface="Arial"/>
              <a:ea typeface="Arial"/>
              <a:cs typeface="Arial"/>
              <a:sym typeface="Arial"/>
            </a:endParaRPr>
          </a:p>
          <a:p>
            <a:pPr indent="0" lvl="0" marL="0" marR="0" rtl="0" algn="ctr">
              <a:spcBef>
                <a:spcPts val="0"/>
              </a:spcBef>
              <a:spcAft>
                <a:spcPts val="0"/>
              </a:spcAft>
              <a:buClr>
                <a:srgbClr val="2EEA90"/>
              </a:buClr>
              <a:buSzPts val="1130"/>
              <a:buFont typeface="Arial"/>
              <a:buNone/>
            </a:pPr>
            <a:r>
              <a:rPr b="1" lang="en-US" sz="1130">
                <a:solidFill>
                  <a:srgbClr val="2EEA90"/>
                </a:solidFill>
                <a:latin typeface="Arial"/>
                <a:ea typeface="Arial"/>
                <a:cs typeface="Arial"/>
                <a:sym typeface="Arial"/>
              </a:rPr>
              <a:t>Escalation</a:t>
            </a:r>
            <a:endParaRPr sz="1130">
              <a:solidFill>
                <a:schemeClr val="dk1"/>
              </a:solidFill>
              <a:latin typeface="Arial"/>
              <a:ea typeface="Arial"/>
              <a:cs typeface="Arial"/>
              <a:sym typeface="Arial"/>
            </a:endParaRPr>
          </a:p>
        </p:txBody>
      </p:sp>
      <p:sp>
        <p:nvSpPr>
          <p:cNvPr id="269" name="Google Shape;269;p9"/>
          <p:cNvSpPr/>
          <p:nvPr/>
        </p:nvSpPr>
        <p:spPr>
          <a:xfrm>
            <a:off x="8585825" y="4498850"/>
            <a:ext cx="1795200" cy="804600"/>
          </a:xfrm>
          <a:prstGeom prst="rect">
            <a:avLst/>
          </a:prstGeom>
          <a:solidFill>
            <a:srgbClr val="0C2A3A"/>
          </a:solidFill>
          <a:ln cap="flat" cmpd="sng" w="12700">
            <a:solidFill>
              <a:srgbClr val="1B83F6"/>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spcBef>
                <a:spcPts val="0"/>
              </a:spcBef>
              <a:spcAft>
                <a:spcPts val="0"/>
              </a:spcAft>
              <a:buClr>
                <a:srgbClr val="1B83F6"/>
              </a:buClr>
              <a:buSzPts val="1130"/>
              <a:buFont typeface="Arial"/>
              <a:buNone/>
            </a:pPr>
            <a:r>
              <a:rPr b="1" lang="en-US" sz="1130">
                <a:solidFill>
                  <a:srgbClr val="1B83F6"/>
                </a:solidFill>
                <a:latin typeface="Arial"/>
                <a:ea typeface="Arial"/>
                <a:cs typeface="Arial"/>
                <a:sym typeface="Arial"/>
              </a:rPr>
              <a:t>80.0%</a:t>
            </a:r>
            <a:endParaRPr sz="1130">
              <a:solidFill>
                <a:schemeClr val="dk1"/>
              </a:solidFill>
              <a:latin typeface="Arial"/>
              <a:ea typeface="Arial"/>
              <a:cs typeface="Arial"/>
              <a:sym typeface="Arial"/>
            </a:endParaRPr>
          </a:p>
          <a:p>
            <a:pPr indent="0" lvl="0" marL="0" marR="0" rtl="0" algn="ctr">
              <a:spcBef>
                <a:spcPts val="0"/>
              </a:spcBef>
              <a:spcAft>
                <a:spcPts val="0"/>
              </a:spcAft>
              <a:buClr>
                <a:srgbClr val="1B83F6"/>
              </a:buClr>
              <a:buSzPts val="1130"/>
              <a:buFont typeface="Arial"/>
              <a:buNone/>
            </a:pPr>
            <a:r>
              <a:rPr b="1" lang="en-US" sz="1130">
                <a:solidFill>
                  <a:srgbClr val="1B83F6"/>
                </a:solidFill>
                <a:latin typeface="Arial"/>
                <a:ea typeface="Arial"/>
                <a:cs typeface="Arial"/>
                <a:sym typeface="Arial"/>
              </a:rPr>
              <a:t>Consistency</a:t>
            </a:r>
            <a:endParaRPr sz="1130">
              <a:solidFill>
                <a:schemeClr val="dk1"/>
              </a:solidFill>
              <a:latin typeface="Arial"/>
              <a:ea typeface="Arial"/>
              <a:cs typeface="Arial"/>
              <a:sym typeface="Arial"/>
            </a:endParaRPr>
          </a:p>
        </p:txBody>
      </p:sp>
      <p:sp>
        <p:nvSpPr>
          <p:cNvPr id="270" name="Google Shape;270;p9"/>
          <p:cNvSpPr/>
          <p:nvPr/>
        </p:nvSpPr>
        <p:spPr>
          <a:xfrm>
            <a:off x="932688" y="5769864"/>
            <a:ext cx="9509760" cy="23774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A7BED1"/>
              </a:buClr>
              <a:buSzPts val="1150"/>
              <a:buFont typeface="Arial"/>
              <a:buNone/>
            </a:pPr>
            <a:r>
              <a:rPr lang="en-US">
                <a:solidFill>
                  <a:srgbClr val="A7BED1"/>
                </a:solidFill>
                <a:latin typeface="Arial"/>
                <a:ea typeface="Arial"/>
                <a:cs typeface="Arial"/>
                <a:sym typeface="Arial"/>
              </a:rPr>
              <a:t>Strict Target Accuracy: 23.3%; alias-aware matching reached 80.0%. Small test sets mean pilot validation is still required.</a:t>
            </a:r>
            <a:endParaRPr>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275" name="Shape 275"/>
        <p:cNvGrpSpPr/>
        <p:nvPr/>
      </p:nvGrpSpPr>
      <p:grpSpPr>
        <a:xfrm>
          <a:off x="0" y="0"/>
          <a:ext cx="0" cy="0"/>
          <a:chOff x="0" y="0"/>
          <a:chExt cx="0" cy="0"/>
        </a:xfrm>
      </p:grpSpPr>
      <p:pic>
        <p:nvPicPr>
          <p:cNvPr descr="/mnt/data/finradar_logo_watermark_dark.png" id="276" name="Google Shape;276;p10"/>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277" name="Google Shape;277;p10"/>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950"/>
              <a:buFont typeface="Arial"/>
              <a:buNone/>
            </a:pPr>
            <a:r>
              <a:rPr b="1" lang="en-US" sz="1200">
                <a:solidFill>
                  <a:srgbClr val="31D7F7"/>
                </a:solidFill>
                <a:latin typeface="Arial"/>
                <a:ea typeface="Arial"/>
                <a:cs typeface="Arial"/>
                <a:sym typeface="Arial"/>
              </a:rPr>
              <a:t>FinRadar AI | Round 2</a:t>
            </a:r>
            <a:endParaRPr sz="1200">
              <a:solidFill>
                <a:schemeClr val="dk1"/>
              </a:solidFill>
              <a:latin typeface="Arial"/>
              <a:ea typeface="Arial"/>
              <a:cs typeface="Arial"/>
              <a:sym typeface="Arial"/>
            </a:endParaRPr>
          </a:p>
        </p:txBody>
      </p:sp>
      <p:pic>
        <p:nvPicPr>
          <p:cNvPr descr="/mnt/data/ironhack-logo.png" id="278" name="Google Shape;278;p10"/>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279" name="Google Shape;279;p10"/>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280" name="Google Shape;280;p10"/>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spcBef>
                <a:spcPts val="0"/>
              </a:spcBef>
              <a:spcAft>
                <a:spcPts val="0"/>
              </a:spcAft>
              <a:buClr>
                <a:srgbClr val="A7BED1"/>
              </a:buClr>
              <a:buSzPts val="900"/>
              <a:buFont typeface="Arial"/>
              <a:buNone/>
            </a:pPr>
            <a:r>
              <a:rPr lang="en-US" sz="900">
                <a:solidFill>
                  <a:srgbClr val="A7BED1"/>
                </a:solidFill>
                <a:latin typeface="Arial"/>
                <a:ea typeface="Arial"/>
                <a:cs typeface="Arial"/>
                <a:sym typeface="Arial"/>
              </a:rPr>
              <a:t>AI Assists - Humans Decide</a:t>
            </a:r>
            <a:endParaRPr sz="900">
              <a:solidFill>
                <a:schemeClr val="dk1"/>
              </a:solidFill>
              <a:latin typeface="Arial"/>
              <a:ea typeface="Arial"/>
              <a:cs typeface="Arial"/>
              <a:sym typeface="Arial"/>
            </a:endParaRPr>
          </a:p>
        </p:txBody>
      </p:sp>
      <p:sp>
        <p:nvSpPr>
          <p:cNvPr id="281" name="Google Shape;281;p10"/>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spcBef>
                <a:spcPts val="0"/>
              </a:spcBef>
              <a:spcAft>
                <a:spcPts val="0"/>
              </a:spcAft>
              <a:buClr>
                <a:srgbClr val="A7BED1"/>
              </a:buClr>
              <a:buSzPts val="900"/>
              <a:buFont typeface="Arial"/>
              <a:buNone/>
            </a:pPr>
            <a:r>
              <a:rPr lang="en-US" sz="900">
                <a:solidFill>
                  <a:srgbClr val="A7BED1"/>
                </a:solidFill>
                <a:latin typeface="Arial"/>
                <a:ea typeface="Arial"/>
                <a:cs typeface="Arial"/>
                <a:sym typeface="Arial"/>
              </a:rPr>
              <a:t>10</a:t>
            </a:r>
            <a:endParaRPr sz="900">
              <a:solidFill>
                <a:schemeClr val="dk1"/>
              </a:solidFill>
              <a:latin typeface="Arial"/>
              <a:ea typeface="Arial"/>
              <a:cs typeface="Arial"/>
              <a:sym typeface="Arial"/>
            </a:endParaRPr>
          </a:p>
        </p:txBody>
      </p:sp>
      <p:sp>
        <p:nvSpPr>
          <p:cNvPr id="282" name="Google Shape;282;p10"/>
          <p:cNvSpPr/>
          <p:nvPr/>
        </p:nvSpPr>
        <p:spPr>
          <a:xfrm>
            <a:off x="530352" y="868680"/>
            <a:ext cx="5669280" cy="5029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3400"/>
              <a:buFont typeface="Arial"/>
              <a:buNone/>
            </a:pPr>
            <a:r>
              <a:rPr b="1" lang="en-US" sz="3400">
                <a:solidFill>
                  <a:srgbClr val="F4FAFF"/>
                </a:solidFill>
                <a:latin typeface="Arial"/>
                <a:ea typeface="Arial"/>
                <a:cs typeface="Arial"/>
                <a:sym typeface="Arial"/>
              </a:rPr>
              <a:t>Recommendation to Chleo</a:t>
            </a:r>
            <a:endParaRPr sz="3400">
              <a:solidFill>
                <a:schemeClr val="dk1"/>
              </a:solidFill>
              <a:latin typeface="Arial"/>
              <a:ea typeface="Arial"/>
              <a:cs typeface="Arial"/>
              <a:sym typeface="Arial"/>
            </a:endParaRPr>
          </a:p>
        </p:txBody>
      </p:sp>
      <p:sp>
        <p:nvSpPr>
          <p:cNvPr id="283" name="Google Shape;283;p10"/>
          <p:cNvSpPr/>
          <p:nvPr/>
        </p:nvSpPr>
        <p:spPr>
          <a:xfrm>
            <a:off x="530352" y="1664208"/>
            <a:ext cx="7040880" cy="6583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D7E8FA"/>
              </a:buClr>
              <a:buSzPts val="2300"/>
              <a:buFont typeface="Arial"/>
              <a:buNone/>
            </a:pPr>
            <a:r>
              <a:rPr b="1" lang="en-US" sz="2300">
                <a:solidFill>
                  <a:srgbClr val="D7E8FA"/>
                </a:solidFill>
                <a:latin typeface="Arial"/>
                <a:ea typeface="Arial"/>
                <a:cs typeface="Arial"/>
                <a:sym typeface="Arial"/>
              </a:rPr>
              <a:t>Proceed to a controlled 60-day analyst pilot — not autonomous production deployment.</a:t>
            </a:r>
            <a:endParaRPr sz="2300">
              <a:solidFill>
                <a:schemeClr val="dk1"/>
              </a:solidFill>
              <a:latin typeface="Arial"/>
              <a:ea typeface="Arial"/>
              <a:cs typeface="Arial"/>
              <a:sym typeface="Arial"/>
            </a:endParaRPr>
          </a:p>
        </p:txBody>
      </p:sp>
      <p:sp>
        <p:nvSpPr>
          <p:cNvPr id="284" name="Google Shape;284;p10"/>
          <p:cNvSpPr/>
          <p:nvPr/>
        </p:nvSpPr>
        <p:spPr>
          <a:xfrm>
            <a:off x="8458200" y="1298448"/>
            <a:ext cx="1828800" cy="1828800"/>
          </a:xfrm>
          <a:prstGeom prst="roundRect">
            <a:avLst>
              <a:gd fmla="val 3000" name="adj"/>
            </a:avLst>
          </a:prstGeom>
          <a:solidFill>
            <a:srgbClr val="061724">
              <a:alpha val="0"/>
            </a:srgbClr>
          </a:solidFill>
          <a:ln cap="flat" cmpd="sng" w="10150">
            <a:solidFill>
              <a:srgbClr val="173545"/>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finradar_logo_transparent.png" id="285" name="Google Shape;285;p10"/>
          <p:cNvPicPr preferRelativeResize="0"/>
          <p:nvPr/>
        </p:nvPicPr>
        <p:blipFill rotWithShape="1">
          <a:blip r:embed="rId5">
            <a:alphaModFix/>
          </a:blip>
          <a:srcRect b="0" l="0" r="0" t="0"/>
          <a:stretch/>
        </p:blipFill>
        <p:spPr>
          <a:xfrm>
            <a:off x="7646725" y="1316700"/>
            <a:ext cx="4389125" cy="4814802"/>
          </a:xfrm>
          <a:prstGeom prst="rect">
            <a:avLst/>
          </a:prstGeom>
          <a:noFill/>
          <a:ln>
            <a:noFill/>
          </a:ln>
        </p:spPr>
      </p:pic>
      <p:sp>
        <p:nvSpPr>
          <p:cNvPr id="286" name="Google Shape;286;p10"/>
          <p:cNvSpPr/>
          <p:nvPr/>
        </p:nvSpPr>
        <p:spPr>
          <a:xfrm>
            <a:off x="530352" y="2743200"/>
            <a:ext cx="6766560" cy="713232"/>
          </a:xfrm>
          <a:prstGeom prst="roundRect">
            <a:avLst>
              <a:gd fmla="val 8974" name="adj"/>
            </a:avLst>
          </a:prstGeom>
          <a:solidFill>
            <a:srgbClr val="0D3146"/>
          </a:solidFill>
          <a:ln cap="flat" cmpd="sng" w="11425">
            <a:solidFill>
              <a:srgbClr val="1B83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0"/>
          <p:cNvSpPr/>
          <p:nvPr/>
        </p:nvSpPr>
        <p:spPr>
          <a:xfrm>
            <a:off x="694944" y="2871216"/>
            <a:ext cx="6437376"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350"/>
              <a:buFont typeface="Arial"/>
              <a:buNone/>
            </a:pPr>
            <a:r>
              <a:rPr b="1" lang="en-US" sz="1350">
                <a:solidFill>
                  <a:srgbClr val="F4FAFF"/>
                </a:solidFill>
                <a:latin typeface="Arial"/>
                <a:ea typeface="Arial"/>
                <a:cs typeface="Arial"/>
                <a:sym typeface="Arial"/>
              </a:rPr>
              <a:t>Business value</a:t>
            </a:r>
            <a:endParaRPr sz="1350">
              <a:solidFill>
                <a:schemeClr val="dk1"/>
              </a:solidFill>
              <a:latin typeface="Arial"/>
              <a:ea typeface="Arial"/>
              <a:cs typeface="Arial"/>
              <a:sym typeface="Arial"/>
            </a:endParaRPr>
          </a:p>
        </p:txBody>
      </p:sp>
      <p:sp>
        <p:nvSpPr>
          <p:cNvPr id="288" name="Google Shape;288;p10"/>
          <p:cNvSpPr/>
          <p:nvPr/>
        </p:nvSpPr>
        <p:spPr>
          <a:xfrm>
            <a:off x="694950" y="3118130"/>
            <a:ext cx="6437400" cy="20130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A7BED1"/>
              </a:buClr>
              <a:buSzPts val="1450"/>
              <a:buFont typeface="Arial"/>
              <a:buNone/>
            </a:pPr>
            <a:r>
              <a:rPr lang="en-US" sz="1450">
                <a:solidFill>
                  <a:srgbClr val="A7BED1"/>
                </a:solidFill>
                <a:latin typeface="Arial"/>
                <a:ea typeface="Arial"/>
                <a:cs typeface="Arial"/>
                <a:sym typeface="Arial"/>
              </a:rPr>
              <a:t>Reduce repetitive news-triage work and surface risk signals faster.</a:t>
            </a:r>
            <a:endParaRPr sz="1450">
              <a:solidFill>
                <a:schemeClr val="dk1"/>
              </a:solidFill>
              <a:latin typeface="Arial"/>
              <a:ea typeface="Arial"/>
              <a:cs typeface="Arial"/>
              <a:sym typeface="Arial"/>
            </a:endParaRPr>
          </a:p>
        </p:txBody>
      </p:sp>
      <p:sp>
        <p:nvSpPr>
          <p:cNvPr id="289" name="Google Shape;289;p10"/>
          <p:cNvSpPr/>
          <p:nvPr/>
        </p:nvSpPr>
        <p:spPr>
          <a:xfrm>
            <a:off x="530352" y="3730752"/>
            <a:ext cx="6766560" cy="713232"/>
          </a:xfrm>
          <a:prstGeom prst="roundRect">
            <a:avLst>
              <a:gd fmla="val 8974" name="adj"/>
            </a:avLst>
          </a:prstGeom>
          <a:solidFill>
            <a:srgbClr val="0D3146"/>
          </a:solidFill>
          <a:ln cap="flat" cmpd="sng" w="11425">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0"/>
          <p:cNvSpPr/>
          <p:nvPr/>
        </p:nvSpPr>
        <p:spPr>
          <a:xfrm>
            <a:off x="694944" y="3858768"/>
            <a:ext cx="6437376"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350"/>
              <a:buFont typeface="Arial"/>
              <a:buNone/>
            </a:pPr>
            <a:r>
              <a:rPr b="1" lang="en-US" sz="1350">
                <a:solidFill>
                  <a:srgbClr val="F4FAFF"/>
                </a:solidFill>
                <a:latin typeface="Arial"/>
                <a:ea typeface="Arial"/>
                <a:cs typeface="Arial"/>
                <a:sym typeface="Arial"/>
              </a:rPr>
              <a:t>Compliance posture</a:t>
            </a:r>
            <a:endParaRPr sz="1350">
              <a:solidFill>
                <a:schemeClr val="dk1"/>
              </a:solidFill>
              <a:latin typeface="Arial"/>
              <a:ea typeface="Arial"/>
              <a:cs typeface="Arial"/>
              <a:sym typeface="Arial"/>
            </a:endParaRPr>
          </a:p>
        </p:txBody>
      </p:sp>
      <p:sp>
        <p:nvSpPr>
          <p:cNvPr id="291" name="Google Shape;291;p10"/>
          <p:cNvSpPr/>
          <p:nvPr/>
        </p:nvSpPr>
        <p:spPr>
          <a:xfrm>
            <a:off x="694950" y="4123951"/>
            <a:ext cx="6437400" cy="18300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A7BED1"/>
              </a:buClr>
              <a:buSzPts val="1450"/>
              <a:buFont typeface="Arial"/>
              <a:buNone/>
            </a:pPr>
            <a:r>
              <a:rPr lang="en-US" sz="1450">
                <a:solidFill>
                  <a:srgbClr val="A7BED1"/>
                </a:solidFill>
                <a:latin typeface="Arial"/>
                <a:ea typeface="Arial"/>
                <a:cs typeface="Arial"/>
                <a:sym typeface="Arial"/>
              </a:rPr>
              <a:t>Current intended use is analyst assistance with human review and clear limits.</a:t>
            </a:r>
            <a:endParaRPr sz="1450">
              <a:solidFill>
                <a:schemeClr val="dk1"/>
              </a:solidFill>
              <a:latin typeface="Arial"/>
              <a:ea typeface="Arial"/>
              <a:cs typeface="Arial"/>
              <a:sym typeface="Arial"/>
            </a:endParaRPr>
          </a:p>
        </p:txBody>
      </p:sp>
      <p:sp>
        <p:nvSpPr>
          <p:cNvPr id="292" name="Google Shape;292;p10"/>
          <p:cNvSpPr/>
          <p:nvPr/>
        </p:nvSpPr>
        <p:spPr>
          <a:xfrm>
            <a:off x="530352" y="4718304"/>
            <a:ext cx="6766560" cy="713232"/>
          </a:xfrm>
          <a:prstGeom prst="roundRect">
            <a:avLst>
              <a:gd fmla="val 8974" name="adj"/>
            </a:avLst>
          </a:prstGeom>
          <a:solidFill>
            <a:srgbClr val="0D3146"/>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
          <p:cNvSpPr/>
          <p:nvPr/>
        </p:nvSpPr>
        <p:spPr>
          <a:xfrm>
            <a:off x="694944" y="4846320"/>
            <a:ext cx="6437376"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4FAFF"/>
              </a:buClr>
              <a:buSzPts val="1350"/>
              <a:buFont typeface="Arial"/>
              <a:buNone/>
            </a:pPr>
            <a:r>
              <a:rPr b="1" lang="en-US" sz="1350">
                <a:solidFill>
                  <a:srgbClr val="F4FAFF"/>
                </a:solidFill>
                <a:latin typeface="Arial"/>
                <a:ea typeface="Arial"/>
                <a:cs typeface="Arial"/>
                <a:sym typeface="Arial"/>
              </a:rPr>
              <a:t>Next step</a:t>
            </a:r>
            <a:endParaRPr sz="1350">
              <a:solidFill>
                <a:schemeClr val="dk1"/>
              </a:solidFill>
              <a:latin typeface="Arial"/>
              <a:ea typeface="Arial"/>
              <a:cs typeface="Arial"/>
              <a:sym typeface="Arial"/>
            </a:endParaRPr>
          </a:p>
        </p:txBody>
      </p:sp>
      <p:sp>
        <p:nvSpPr>
          <p:cNvPr id="294" name="Google Shape;294;p10"/>
          <p:cNvSpPr/>
          <p:nvPr/>
        </p:nvSpPr>
        <p:spPr>
          <a:xfrm>
            <a:off x="694950" y="5074923"/>
            <a:ext cx="6437400" cy="219600"/>
          </a:xfrm>
          <a:prstGeom prst="rect">
            <a:avLst/>
          </a:prstGeom>
          <a:noFill/>
          <a:ln>
            <a:noFill/>
          </a:ln>
        </p:spPr>
        <p:txBody>
          <a:bodyPr anchorCtr="0" anchor="t" bIns="250" lIns="250" spcFirstLastPara="1" rIns="250" wrap="square" tIns="250">
            <a:normAutofit/>
          </a:bodyPr>
          <a:lstStyle/>
          <a:p>
            <a:pPr indent="0" lvl="0" marL="0" marR="0" rtl="0" algn="l">
              <a:spcBef>
                <a:spcPts val="0"/>
              </a:spcBef>
              <a:spcAft>
                <a:spcPts val="0"/>
              </a:spcAft>
              <a:buClr>
                <a:srgbClr val="A7BED1"/>
              </a:buClr>
              <a:buSzPts val="1450"/>
              <a:buFont typeface="Arial"/>
              <a:buNone/>
            </a:pPr>
            <a:r>
              <a:rPr lang="en-US" sz="1450">
                <a:solidFill>
                  <a:srgbClr val="A7BED1"/>
                </a:solidFill>
                <a:latin typeface="Arial"/>
                <a:ea typeface="Arial"/>
                <a:cs typeface="Arial"/>
                <a:sym typeface="Arial"/>
              </a:rPr>
              <a:t>Validate ROI, accuracy, workflow adoption and governance before production.</a:t>
            </a:r>
            <a:endParaRPr sz="1450">
              <a:solidFill>
                <a:schemeClr val="dk1"/>
              </a:solidFill>
              <a:latin typeface="Arial"/>
              <a:ea typeface="Arial"/>
              <a:cs typeface="Arial"/>
              <a:sym typeface="Arial"/>
            </a:endParaRPr>
          </a:p>
        </p:txBody>
      </p:sp>
      <p:sp>
        <p:nvSpPr>
          <p:cNvPr id="295" name="Google Shape;295;p10"/>
          <p:cNvSpPr/>
          <p:nvPr/>
        </p:nvSpPr>
        <p:spPr>
          <a:xfrm>
            <a:off x="530352" y="5897880"/>
            <a:ext cx="43891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31D7F7"/>
              </a:buClr>
              <a:buSzPts val="2200"/>
              <a:buFont typeface="Arial"/>
              <a:buNone/>
            </a:pPr>
            <a:r>
              <a:rPr b="1" lang="en-US" sz="2200">
                <a:solidFill>
                  <a:srgbClr val="31D7F7"/>
                </a:solidFill>
                <a:latin typeface="Arial"/>
                <a:ea typeface="Arial"/>
                <a:cs typeface="Arial"/>
                <a:sym typeface="Arial"/>
              </a:rPr>
              <a:t>AI Assists - Humans Decide</a:t>
            </a:r>
            <a:endParaRPr sz="2200">
              <a:solidFill>
                <a:schemeClr val="dk1"/>
              </a:solidFill>
              <a:latin typeface="Arial"/>
              <a:ea typeface="Arial"/>
              <a:cs typeface="Arial"/>
              <a:sym typeface="Arial"/>
            </a:endParaRPr>
          </a:p>
        </p:txBody>
      </p:sp>
      <p:sp>
        <p:nvSpPr>
          <p:cNvPr id="296" name="Google Shape;296;p10"/>
          <p:cNvSpPr/>
          <p:nvPr/>
        </p:nvSpPr>
        <p:spPr>
          <a:xfrm>
            <a:off x="530352" y="6291072"/>
            <a:ext cx="2834640" cy="1828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A7BED1"/>
              </a:buClr>
              <a:buSzPts val="1000"/>
              <a:buFont typeface="Arial"/>
              <a:buNone/>
            </a:pPr>
            <a:r>
              <a:rPr lang="en-US" sz="1200">
                <a:solidFill>
                  <a:srgbClr val="A7BED1"/>
                </a:solidFill>
                <a:latin typeface="Arial"/>
                <a:ea typeface="Arial"/>
                <a:cs typeface="Arial"/>
                <a:sym typeface="Arial"/>
              </a:rPr>
              <a:t>Parisa Dehghani | FinRadar AI</a:t>
            </a:r>
            <a:endParaRPr sz="12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2026-09-03T23:43:24Z</dcterms:created>
  <dc:creator>Parisa Dehghani</dc:creator>
</cp:coreProperties>
</file>