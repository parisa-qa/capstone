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1675"/>
  <p:notesSz cx="6858000" cy="12191675"/>
  <p:embeddedFontLst>
    <p:embeddedFont>
      <p:font typeface="Alegreya SemiBold"/>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iq8iU697fsHTYskC5E5MQeMGo0m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AlegreyaSemiBold-bold.fntdata"/><Relationship Id="rId16" Type="http://schemas.openxmlformats.org/officeDocument/2006/relationships/font" Target="fonts/AlegreyaSemiBold-regular.fntdata"/><Relationship Id="rId5" Type="http://schemas.openxmlformats.org/officeDocument/2006/relationships/slide" Target="slides/slide1.xml"/><Relationship Id="rId19" Type="http://schemas.openxmlformats.org/officeDocument/2006/relationships/font" Target="fonts/AlegreyaSemiBold-boldItalic.fntdata"/><Relationship Id="rId6" Type="http://schemas.openxmlformats.org/officeDocument/2006/relationships/slide" Target="slides/slide2.xml"/><Relationship Id="rId18" Type="http://schemas.openxmlformats.org/officeDocument/2006/relationships/font" Target="fonts/AlegreyaSemi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Timing: about 30 seconds.</a:t>
            </a:r>
            <a:br>
              <a:rPr lang="en-US"/>
            </a:br>
            <a:br>
              <a:rPr lang="en-US"/>
            </a:br>
            <a:r>
              <a:rPr lang="en-US"/>
              <a:t>Good morning Chleo. Today I am proposing FinRadar AI: an AI-assisted financial-news intelligence solution for your analyst team. The key principle is simple: AI assists, humans decide. I will focus on the business problem, the working MVP, the evidence, the risks, and the controlled pilot decision I recommend.</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 name="Google Shape;3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Timing: about 1 minute.</a:t>
            </a:r>
            <a:br>
              <a:rPr lang="en-US"/>
            </a:br>
            <a:br>
              <a:rPr lang="en-US"/>
            </a:br>
            <a:r>
              <a:rPr lang="en-US"/>
              <a:t>Chleo, the problem is not that your analysts cannot find news. They already have access to feeds and market tools. The problem is that every article still needs human triage: what company is involved, what is the topic, what is the sentiment, does it create regulatory or legal risk, and does it require immediate attention. This consumes time, creates inconsistency, and can make important risk signals easier to miss.</a:t>
            </a:r>
            <a:endParaRPr/>
          </a:p>
        </p:txBody>
      </p:sp>
      <p:sp>
        <p:nvSpPr>
          <p:cNvPr id="33" name="Google Shape;3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 name="Google Shape;6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Arial"/>
                <a:ea typeface="Arial"/>
                <a:cs typeface="Arial"/>
                <a:sym typeface="Arial"/>
              </a:rPr>
              <a:t>Chleo, this slide explains how the Round 1 Tableau work informed the Round 2 AI taxonomy. I used the offline FiQA financial-sentiment dataset first because it gave me a repeatable way to explore financial text before connecting live APIs. In Tableau, I looked at sentiment distribution, business areas, topics and top-mentioned targets. The main lesson was that financial news classification is not only about positive, neutral or negative sentiment. Analysts need to know who is affected, what the business context is, what topic is involved, whether the item is routine or urgent, and whether it creates a risk signal. That is why the final FinRadar taxonomy includes target, business area, topic, sentiment, priority, risk type and summary. Tableau helped move the project from raw financial text to business-readable categories. In Round 2, those categories became the structured AI output used by the MVP and the deterministic escalation logic. The goal remains triage and risk awareness, not stock-price prediction or automated trading.</a:t>
            </a:r>
            <a:endParaRPr/>
          </a:p>
        </p:txBody>
      </p:sp>
      <p:sp>
        <p:nvSpPr>
          <p:cNvPr id="61" name="Google Shape;6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Timing: about 1 minute.</a:t>
            </a:r>
            <a:br>
              <a:rPr lang="en-US"/>
            </a:br>
            <a:br>
              <a:rPr lang="en-US"/>
            </a:br>
            <a:r>
              <a:rPr lang="en-US"/>
              <a:t>The solution I am proposing is an intelligence layer. FinRadar does not need to replace your current portal or market-data subscriptions. It can sit between the public news feed and analyst review. It uses natural-language analysis to classify and summarise news, then deterministic rules determine whether something should be escalated. This is designed to directly address transparency: the output fields are visible, the routing rule is visible, and the analyst stays in control.</a:t>
            </a:r>
            <a:endParaRPr/>
          </a:p>
        </p:txBody>
      </p:sp>
      <p:sp>
        <p:nvSpPr>
          <p:cNvPr id="111" name="Google Shape;11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Timing: about 2 minutes including the recording.</a:t>
            </a:r>
            <a:br>
              <a:rPr lang="en-US"/>
            </a:br>
            <a:br>
              <a:rPr lang="en-US"/>
            </a:br>
            <a:r>
              <a:rPr lang="en-US"/>
              <a:t>This is where I play or refer to the n8n recording. I show the whole workflow, point to the input, open the GPT-5 Mini analysis node, show the structured output, then open the IF node. The key message for Chleo is transparency: the AI produces the classification, but the routing logic is explicit. Round 1 proved feasibility. Round 2 turned that proof into a working analyst-facing MVP.</a:t>
            </a:r>
            <a:endParaRPr/>
          </a:p>
        </p:txBody>
      </p:sp>
      <p:sp>
        <p:nvSpPr>
          <p:cNvPr id="146" name="Google Shape;14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Timing: about 1 minute.</a:t>
            </a:r>
            <a:br>
              <a:rPr lang="en-US"/>
            </a:br>
            <a:br>
              <a:rPr lang="en-US"/>
            </a:br>
            <a:r>
              <a:rPr lang="en-US"/>
              <a:t>Chleo, the financial case is intentionally presented as a planning estimate. The base case estimates around 47.5 thousand euros in annual value, with about 20.1 thousand euros upfront and 8.8 thousand euros in ongoing annual cost. That gives a 64.4 percent estimated 12-month ROI, 206 percent over 36 months, and a break-even point around 6.2 months. These are not realised savings. The pilot would validate the time saved and the reliability of the workflow.</a:t>
            </a:r>
            <a:endParaRPr/>
          </a:p>
        </p:txBody>
      </p:sp>
      <p:sp>
        <p:nvSpPr>
          <p:cNvPr id="171" name="Google Shape;17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Timing: about 1 minute.</a:t>
            </a:r>
            <a:br>
              <a:rPr lang="en-US"/>
            </a:br>
            <a:br>
              <a:rPr lang="en-US"/>
            </a:br>
            <a:r>
              <a:rPr lang="en-US"/>
              <a:t>The main risks are not ignored. First, AI output can be wrong, so high-risk outputs require human review and deterministic routing. Second, the compliance position could change if the scope expands to client portfolios or personalised advice, so the pilot must keep a clear scope. Third, external APIs can fail, so the MVP includes a manual fallback, while production would require stronger vendor controls and monitoring. These risks are manageable, but not if we skip governance.</a:t>
            </a:r>
            <a:endParaRPr/>
          </a:p>
        </p:txBody>
      </p:sp>
      <p:sp>
        <p:nvSpPr>
          <p:cNvPr id="202" name="Google Shape;20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Timing: about 1 minute.</a:t>
            </a:r>
            <a:br>
              <a:rPr lang="en-US"/>
            </a:br>
            <a:br>
              <a:rPr lang="en-US"/>
            </a:br>
            <a:r>
              <a:rPr lang="en-US"/>
              <a:t>For the legal and compliance audience, the key point is scope. Under its current intended purpose, FinRadar is assessed as non-high-risk because it supports news triage and human review rather than making autonomous financial decisions. For GDPR, the system uses public financial information, but public news can still contain personal data, so the documentation covers data flows, legal basis, retention, rights and providers. This is a preliminary capstone assessment, not a legal certification, and production would require formal review.</a:t>
            </a:r>
            <a:endParaRPr/>
          </a:p>
        </p:txBody>
      </p:sp>
      <p:sp>
        <p:nvSpPr>
          <p:cNvPr id="234" name="Google Shape;23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Timing: about 1 minute.</a:t>
            </a:r>
            <a:br>
              <a:rPr lang="en-US"/>
            </a:br>
            <a:br>
              <a:rPr lang="en-US"/>
            </a:br>
            <a:r>
              <a:rPr lang="en-US"/>
              <a:t>Strategically, I would not recommend jumping into full production. The right path is POC, working MVP, 60-day analyst pilot, then a production decision. The pilot should have measurable greenlight criteria: time saved, priority and risk accuracy, escalation reliability, processing reliability, and zero critical compliance incidents. Commercially, this could start as an internal tool and later become a SaaS or managed service for investment research teams.</a:t>
            </a:r>
            <a:endParaRPr/>
          </a:p>
        </p:txBody>
      </p:sp>
      <p:sp>
        <p:nvSpPr>
          <p:cNvPr id="258" name="Google Shape;25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Timing: about 1 to 2 minutes.</a:t>
            </a:r>
            <a:br>
              <a:rPr lang="en-US"/>
            </a:br>
            <a:br>
              <a:rPr lang="en-US"/>
            </a:br>
            <a:r>
              <a:rPr lang="en-US"/>
              <a:t>This is the MVP demo slide. I should show live news retrieval, then article selection, then the structured AI result. If time is tight, I can use these screenshots instead of a live run. Chleo, this shows the upgrade from POC to product. The analyst searches a ticker, chooses which article to review, and then explicitly runs AI analysis. The evaluation results are also important: business area, priority, risk type, escalation and consistency all support a controlled pilot. Strict target accuracy is lower due to exact string matching, so I present this honestly as pilot evidence, not a production guarantee.</a:t>
            </a:r>
            <a:endParaRPr/>
          </a:p>
        </p:txBody>
      </p:sp>
      <p:sp>
        <p:nvSpPr>
          <p:cNvPr id="291" name="Google Shape;29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Timing: about 30 seconds.</a:t>
            </a:r>
            <a:br>
              <a:rPr lang="en-US"/>
            </a:br>
            <a:br>
              <a:rPr lang="en-US"/>
            </a:br>
            <a:r>
              <a:rPr lang="en-US"/>
              <a:t>Chleo, my recommendation is clear: proceed to a controlled 60-day analyst pilot, not autonomous production deployment. FinRadar can reduce repetitive triage and improve visibility of potentially important risk information, but the pilot should validate ROI, accuracy, operational adoption and compliance controls before any full rollout. The principle remains: AI assists, humans decide.</a:t>
            </a:r>
            <a:endParaRPr/>
          </a:p>
        </p:txBody>
      </p:sp>
      <p:sp>
        <p:nvSpPr>
          <p:cNvPr id="324" name="Google Shape;32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1724"/>
        </a:solidFill>
      </p:bgPr>
    </p:bg>
    <p:spTree>
      <p:nvGrpSpPr>
        <p:cNvPr id="15" name="Shape 15"/>
        <p:cNvGrpSpPr/>
        <p:nvPr/>
      </p:nvGrpSpPr>
      <p:grpSpPr>
        <a:xfrm>
          <a:off x="0" y="0"/>
          <a:ext cx="0" cy="0"/>
          <a:chOff x="0" y="0"/>
          <a:chExt cx="0" cy="0"/>
        </a:xfrm>
      </p:grpSpPr>
      <p:sp>
        <p:nvSpPr>
          <p:cNvPr id="16" name="Google Shape;16;p1"/>
          <p:cNvSpPr/>
          <p:nvPr/>
        </p:nvSpPr>
        <p:spPr>
          <a:xfrm>
            <a:off x="530350" y="438887"/>
            <a:ext cx="1015200" cy="492300"/>
          </a:xfrm>
          <a:prstGeom prst="roundRect">
            <a:avLst>
              <a:gd fmla="val 15385" name="adj"/>
            </a:avLst>
          </a:prstGeom>
          <a:solidFill>
            <a:srgbClr val="071B27">
              <a:alpha val="94902"/>
            </a:srgbClr>
          </a:solidFill>
          <a:ln cap="flat" cmpd="sng" w="9525">
            <a:solidFill>
              <a:srgbClr val="31D7F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
          <p:cNvSpPr/>
          <p:nvPr/>
        </p:nvSpPr>
        <p:spPr>
          <a:xfrm>
            <a:off x="603500" y="489191"/>
            <a:ext cx="759600" cy="3657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31D7F7"/>
              </a:buClr>
              <a:buSzPts val="640"/>
              <a:buFont typeface="Arial"/>
              <a:buNone/>
            </a:pPr>
            <a:r>
              <a:rPr b="1" i="0" lang="en-US" sz="1200" u="none" cap="none" strike="noStrike">
                <a:solidFill>
                  <a:srgbClr val="31D7F7"/>
                </a:solidFill>
                <a:latin typeface="Arial"/>
                <a:ea typeface="Arial"/>
                <a:cs typeface="Arial"/>
                <a:sym typeface="Arial"/>
              </a:rPr>
              <a:t>ROUND 2</a:t>
            </a:r>
            <a:endParaRPr b="0" i="0" sz="1200" u="none" cap="none" strike="noStrike">
              <a:solidFill>
                <a:schemeClr val="dk1"/>
              </a:solidFill>
              <a:latin typeface="Arial"/>
              <a:ea typeface="Arial"/>
              <a:cs typeface="Arial"/>
              <a:sym typeface="Arial"/>
            </a:endParaRPr>
          </a:p>
        </p:txBody>
      </p:sp>
      <p:sp>
        <p:nvSpPr>
          <p:cNvPr id="18" name="Google Shape;18;p1"/>
          <p:cNvSpPr/>
          <p:nvPr/>
        </p:nvSpPr>
        <p:spPr>
          <a:xfrm>
            <a:off x="530352" y="1417320"/>
            <a:ext cx="4480560" cy="54864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4FAFF"/>
              </a:buClr>
              <a:buSzPts val="3800"/>
              <a:buFont typeface="Arial"/>
              <a:buNone/>
            </a:pPr>
            <a:r>
              <a:rPr b="0" i="0" lang="en-US" sz="6000" u="none" cap="none" strike="noStrike">
                <a:solidFill>
                  <a:srgbClr val="F4FAFF"/>
                </a:solidFill>
                <a:latin typeface="Alegreya SemiBold"/>
                <a:ea typeface="Alegreya SemiBold"/>
                <a:cs typeface="Alegreya SemiBold"/>
                <a:sym typeface="Alegreya SemiBold"/>
              </a:rPr>
              <a:t>FinRadar AI</a:t>
            </a:r>
            <a:endParaRPr b="0" i="0" sz="6000" u="none" cap="none" strike="noStrike">
              <a:solidFill>
                <a:schemeClr val="dk1"/>
              </a:solidFill>
              <a:latin typeface="Alegreya SemiBold"/>
              <a:ea typeface="Alegreya SemiBold"/>
              <a:cs typeface="Alegreya SemiBold"/>
              <a:sym typeface="Alegreya SemiBold"/>
            </a:endParaRPr>
          </a:p>
        </p:txBody>
      </p:sp>
      <p:cxnSp>
        <p:nvCxnSpPr>
          <p:cNvPr id="19" name="Google Shape;19;p1"/>
          <p:cNvCxnSpPr/>
          <p:nvPr/>
        </p:nvCxnSpPr>
        <p:spPr>
          <a:xfrm>
            <a:off x="530352" y="2148840"/>
            <a:ext cx="640080" cy="0"/>
          </a:xfrm>
          <a:prstGeom prst="straightConnector1">
            <a:avLst/>
          </a:prstGeom>
          <a:noFill/>
          <a:ln cap="flat" cmpd="sng" w="38100">
            <a:solidFill>
              <a:srgbClr val="31D7F7"/>
            </a:solidFill>
            <a:prstDash val="solid"/>
            <a:round/>
            <a:headEnd len="sm" w="sm" type="none"/>
            <a:tailEnd len="sm" w="sm" type="none"/>
          </a:ln>
        </p:spPr>
      </p:cxnSp>
      <p:sp>
        <p:nvSpPr>
          <p:cNvPr id="20" name="Google Shape;20;p1"/>
          <p:cNvSpPr/>
          <p:nvPr/>
        </p:nvSpPr>
        <p:spPr>
          <a:xfrm>
            <a:off x="530352" y="2359152"/>
            <a:ext cx="4572000" cy="310896"/>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A7BED1"/>
              </a:buClr>
              <a:buSzPts val="1550"/>
              <a:buFont typeface="Arial"/>
              <a:buNone/>
            </a:pPr>
            <a:r>
              <a:rPr b="0" i="0" lang="en-US" sz="1550" u="none" cap="none" strike="noStrike">
                <a:solidFill>
                  <a:srgbClr val="A7BED1"/>
                </a:solidFill>
                <a:latin typeface="Alegreya SemiBold"/>
                <a:ea typeface="Alegreya SemiBold"/>
                <a:cs typeface="Alegreya SemiBold"/>
                <a:sym typeface="Alegreya SemiBold"/>
              </a:rPr>
              <a:t>Financial News Intelligence for Analysts</a:t>
            </a:r>
            <a:endParaRPr b="0" i="0" sz="1550" u="none" cap="none" strike="noStrike">
              <a:solidFill>
                <a:schemeClr val="dk1"/>
              </a:solidFill>
              <a:latin typeface="Alegreya SemiBold"/>
              <a:ea typeface="Alegreya SemiBold"/>
              <a:cs typeface="Alegreya SemiBold"/>
              <a:sym typeface="Alegreya SemiBold"/>
            </a:endParaRPr>
          </a:p>
        </p:txBody>
      </p:sp>
      <p:sp>
        <p:nvSpPr>
          <p:cNvPr id="21" name="Google Shape;21;p1"/>
          <p:cNvSpPr/>
          <p:nvPr/>
        </p:nvSpPr>
        <p:spPr>
          <a:xfrm>
            <a:off x="530350" y="4413094"/>
            <a:ext cx="3017400" cy="5853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A7BED1"/>
              </a:buClr>
              <a:buSzPts val="1150"/>
              <a:buFont typeface="Arial"/>
              <a:buNone/>
            </a:pPr>
            <a:r>
              <a:rPr b="0" i="0" lang="en-US" sz="1800" u="none" cap="none" strike="noStrike">
                <a:solidFill>
                  <a:srgbClr val="A7BED1"/>
                </a:solidFill>
                <a:latin typeface="Arial"/>
                <a:ea typeface="Arial"/>
                <a:cs typeface="Arial"/>
                <a:sym typeface="Arial"/>
              </a:rPr>
              <a:t>Prepared by Parisa Dehghani</a:t>
            </a:r>
            <a:endParaRPr b="0" i="0" sz="1800" u="none" cap="none" strike="noStrike">
              <a:solidFill>
                <a:schemeClr val="dk1"/>
              </a:solidFill>
              <a:latin typeface="Arial"/>
              <a:ea typeface="Arial"/>
              <a:cs typeface="Arial"/>
              <a:sym typeface="Arial"/>
            </a:endParaRPr>
          </a:p>
        </p:txBody>
      </p:sp>
      <p:sp>
        <p:nvSpPr>
          <p:cNvPr id="22" name="Google Shape;22;p1"/>
          <p:cNvSpPr/>
          <p:nvPr/>
        </p:nvSpPr>
        <p:spPr>
          <a:xfrm>
            <a:off x="530350" y="4374351"/>
            <a:ext cx="3749100" cy="12036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A7BED1"/>
              </a:buClr>
              <a:buSzPts val="1150"/>
              <a:buFont typeface="Arial"/>
              <a:buNone/>
            </a:pPr>
            <a:r>
              <a:rPr b="0" i="0" lang="en-US" sz="1600" u="none" cap="none" strike="noStrike">
                <a:solidFill>
                  <a:srgbClr val="A7BED1"/>
                </a:solidFill>
                <a:latin typeface="Alegreya SemiBold"/>
                <a:ea typeface="Alegreya SemiBold"/>
                <a:cs typeface="Alegreya SemiBold"/>
                <a:sym typeface="Alegreya SemiBold"/>
              </a:rPr>
              <a:t> For Chleo and the decision panel</a:t>
            </a:r>
            <a:endParaRPr b="0" i="0" sz="1600" u="none" cap="none" strike="noStrike">
              <a:solidFill>
                <a:schemeClr val="dk1"/>
              </a:solidFill>
              <a:latin typeface="Alegreya SemiBold"/>
              <a:ea typeface="Alegreya SemiBold"/>
              <a:cs typeface="Alegreya SemiBold"/>
              <a:sym typeface="Alegreya SemiBold"/>
            </a:endParaRPr>
          </a:p>
        </p:txBody>
      </p:sp>
      <p:sp>
        <p:nvSpPr>
          <p:cNvPr id="23" name="Google Shape;23;p1"/>
          <p:cNvSpPr/>
          <p:nvPr/>
        </p:nvSpPr>
        <p:spPr>
          <a:xfrm>
            <a:off x="530352" y="5824728"/>
            <a:ext cx="4663440" cy="36576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31D7F7"/>
              </a:buClr>
              <a:buSzPts val="1900"/>
              <a:buFont typeface="Arial"/>
              <a:buNone/>
            </a:pPr>
            <a:r>
              <a:rPr b="1" i="0" lang="en-US" sz="1900" u="none" cap="none" strike="noStrike">
                <a:solidFill>
                  <a:srgbClr val="31D7F7"/>
                </a:solidFill>
                <a:latin typeface="Arial"/>
                <a:ea typeface="Arial"/>
                <a:cs typeface="Arial"/>
                <a:sym typeface="Arial"/>
              </a:rPr>
              <a:t>AI Assists - Humans Decide</a:t>
            </a:r>
            <a:endParaRPr b="0" i="0" sz="1900" u="none" cap="none" strike="noStrike">
              <a:solidFill>
                <a:schemeClr val="dk1"/>
              </a:solidFill>
              <a:latin typeface="Arial"/>
              <a:ea typeface="Arial"/>
              <a:cs typeface="Arial"/>
              <a:sym typeface="Arial"/>
            </a:endParaRPr>
          </a:p>
        </p:txBody>
      </p:sp>
      <p:sp>
        <p:nvSpPr>
          <p:cNvPr id="24" name="Google Shape;24;p1"/>
          <p:cNvSpPr/>
          <p:nvPr/>
        </p:nvSpPr>
        <p:spPr>
          <a:xfrm>
            <a:off x="5806440" y="731520"/>
            <a:ext cx="5440680" cy="5166360"/>
          </a:xfrm>
          <a:prstGeom prst="roundRect">
            <a:avLst>
              <a:gd fmla="val 1416" name="adj"/>
            </a:avLst>
          </a:prstGeom>
          <a:solidFill>
            <a:srgbClr val="0A2230">
              <a:alpha val="98039"/>
            </a:srgbClr>
          </a:solidFill>
          <a:ln cap="flat" cmpd="sng" w="12700">
            <a:solidFill>
              <a:srgbClr val="0E4558"/>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mnt/data/finradar_logo_transparent.png" id="25" name="Google Shape;25;p1"/>
          <p:cNvPicPr preferRelativeResize="0"/>
          <p:nvPr/>
        </p:nvPicPr>
        <p:blipFill rotWithShape="1">
          <a:blip r:embed="rId3">
            <a:alphaModFix/>
          </a:blip>
          <a:srcRect b="0" l="0" r="0" t="0"/>
          <a:stretch/>
        </p:blipFill>
        <p:spPr>
          <a:xfrm>
            <a:off x="6446520" y="1078992"/>
            <a:ext cx="4114800" cy="4114800"/>
          </a:xfrm>
          <a:prstGeom prst="rect">
            <a:avLst/>
          </a:prstGeom>
          <a:noFill/>
          <a:ln>
            <a:noFill/>
          </a:ln>
        </p:spPr>
      </p:pic>
      <p:sp>
        <p:nvSpPr>
          <p:cNvPr id="26" name="Google Shape;26;p1"/>
          <p:cNvSpPr/>
          <p:nvPr/>
        </p:nvSpPr>
        <p:spPr>
          <a:xfrm>
            <a:off x="6080760" y="5321808"/>
            <a:ext cx="4892040" cy="256032"/>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A7BED1"/>
              </a:buClr>
              <a:buSzPts val="1150"/>
              <a:buFont typeface="Arial"/>
              <a:buNone/>
            </a:pPr>
            <a:r>
              <a:rPr b="0" i="0" lang="en-US" sz="1150" u="none" cap="none" strike="noStrike">
                <a:solidFill>
                  <a:srgbClr val="A7BED1"/>
                </a:solidFill>
                <a:latin typeface="Arial"/>
                <a:ea typeface="Arial"/>
                <a:cs typeface="Arial"/>
                <a:sym typeface="Arial"/>
              </a:rPr>
              <a:t>Use case: Financial News Triage &amp; Risk / Regulatory Alerting</a:t>
            </a:r>
            <a:endParaRPr b="0" i="0" sz="1150" u="none" cap="none" strike="noStrike">
              <a:solidFill>
                <a:schemeClr val="dk1"/>
              </a:solidFill>
              <a:latin typeface="Arial"/>
              <a:ea typeface="Arial"/>
              <a:cs typeface="Arial"/>
              <a:sym typeface="Arial"/>
            </a:endParaRPr>
          </a:p>
        </p:txBody>
      </p:sp>
      <p:cxnSp>
        <p:nvCxnSpPr>
          <p:cNvPr id="27" name="Google Shape;27;p1"/>
          <p:cNvCxnSpPr/>
          <p:nvPr/>
        </p:nvCxnSpPr>
        <p:spPr>
          <a:xfrm>
            <a:off x="530352" y="6473952"/>
            <a:ext cx="11219688" cy="0"/>
          </a:xfrm>
          <a:prstGeom prst="straightConnector1">
            <a:avLst/>
          </a:prstGeom>
          <a:noFill/>
          <a:ln cap="flat" cmpd="sng" w="12700">
            <a:solidFill>
              <a:srgbClr val="173545"/>
            </a:solidFill>
            <a:prstDash val="solid"/>
            <a:round/>
            <a:headEnd len="sm" w="sm" type="none"/>
            <a:tailEnd len="sm" w="sm" type="none"/>
          </a:ln>
        </p:spPr>
      </p:cxnSp>
      <p:sp>
        <p:nvSpPr>
          <p:cNvPr id="28" name="Google Shape;28;p1"/>
          <p:cNvSpPr/>
          <p:nvPr/>
        </p:nvSpPr>
        <p:spPr>
          <a:xfrm>
            <a:off x="530352" y="6528816"/>
            <a:ext cx="1737360" cy="164592"/>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66899D"/>
              </a:buClr>
              <a:buSzPts val="850"/>
              <a:buFont typeface="Arial"/>
              <a:buNone/>
            </a:pPr>
            <a:r>
              <a:rPr b="0" i="0" lang="en-US" sz="850" u="none" cap="none" strike="noStrike">
                <a:solidFill>
                  <a:srgbClr val="66899D"/>
                </a:solidFill>
                <a:latin typeface="Arial"/>
                <a:ea typeface="Arial"/>
                <a:cs typeface="Arial"/>
                <a:sym typeface="Arial"/>
              </a:rPr>
              <a:t>Capstone Round 2</a:t>
            </a:r>
            <a:endParaRPr b="0" i="0" sz="850" u="none" cap="none" strike="noStrike">
              <a:solidFill>
                <a:schemeClr val="dk1"/>
              </a:solidFill>
              <a:latin typeface="Arial"/>
              <a:ea typeface="Arial"/>
              <a:cs typeface="Arial"/>
              <a:sym typeface="Arial"/>
            </a:endParaRPr>
          </a:p>
        </p:txBody>
      </p:sp>
      <p:sp>
        <p:nvSpPr>
          <p:cNvPr id="29" name="Google Shape;29;p1"/>
          <p:cNvSpPr/>
          <p:nvPr/>
        </p:nvSpPr>
        <p:spPr>
          <a:xfrm>
            <a:off x="11475720" y="6528816"/>
            <a:ext cx="320040" cy="164592"/>
          </a:xfrm>
          <a:prstGeom prst="rect">
            <a:avLst/>
          </a:prstGeom>
          <a:noFill/>
          <a:ln>
            <a:noFill/>
          </a:ln>
        </p:spPr>
        <p:txBody>
          <a:bodyPr anchorCtr="0" anchor="ctr" bIns="0" lIns="0" spcFirstLastPara="1" rIns="0" wrap="square" tIns="0">
            <a:normAutofit/>
          </a:bodyPr>
          <a:lstStyle/>
          <a:p>
            <a:pPr indent="0" lvl="0" marL="0" marR="0" rtl="0" algn="r">
              <a:lnSpc>
                <a:spcPct val="100000"/>
              </a:lnSpc>
              <a:spcBef>
                <a:spcPts val="0"/>
              </a:spcBef>
              <a:spcAft>
                <a:spcPts val="0"/>
              </a:spcAft>
              <a:buClr>
                <a:srgbClr val="66899D"/>
              </a:buClr>
              <a:buSzPts val="850"/>
              <a:buFont typeface="Arial"/>
              <a:buNone/>
            </a:pPr>
            <a:r>
              <a:rPr b="0" i="0" lang="en-US" sz="1400" u="none" cap="none" strike="noStrike">
                <a:solidFill>
                  <a:srgbClr val="000000"/>
                </a:solidFill>
                <a:latin typeface="Arial"/>
                <a:ea typeface="Arial"/>
                <a:cs typeface="Arial"/>
                <a:sym typeface="Arial"/>
              </a:rPr>
              <a:t>01</a:t>
            </a:r>
            <a:endParaRPr b="0" i="0" sz="85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1724"/>
        </a:solidFill>
      </p:bgPr>
    </p:bg>
    <p:spTree>
      <p:nvGrpSpPr>
        <p:cNvPr id="34" name="Shape 34"/>
        <p:cNvGrpSpPr/>
        <p:nvPr/>
      </p:nvGrpSpPr>
      <p:grpSpPr>
        <a:xfrm>
          <a:off x="0" y="0"/>
          <a:ext cx="0" cy="0"/>
          <a:chOff x="0" y="0"/>
          <a:chExt cx="0" cy="0"/>
        </a:xfrm>
      </p:grpSpPr>
      <p:pic>
        <p:nvPicPr>
          <p:cNvPr descr="/mnt/data/finradar_logo_watermark_dark.png" id="35" name="Google Shape;35;p2"/>
          <p:cNvPicPr preferRelativeResize="0"/>
          <p:nvPr/>
        </p:nvPicPr>
        <p:blipFill rotWithShape="1">
          <a:blip r:embed="rId3">
            <a:alphaModFix/>
          </a:blip>
          <a:srcRect b="0" l="0" r="0" t="0"/>
          <a:stretch/>
        </p:blipFill>
        <p:spPr>
          <a:xfrm>
            <a:off x="10561320" y="502920"/>
            <a:ext cx="685800" cy="685800"/>
          </a:xfrm>
          <a:prstGeom prst="rect">
            <a:avLst/>
          </a:prstGeom>
          <a:noFill/>
          <a:ln>
            <a:noFill/>
          </a:ln>
        </p:spPr>
      </p:pic>
      <p:sp>
        <p:nvSpPr>
          <p:cNvPr id="36" name="Google Shape;36;p2"/>
          <p:cNvSpPr/>
          <p:nvPr/>
        </p:nvSpPr>
        <p:spPr>
          <a:xfrm>
            <a:off x="393192" y="228600"/>
            <a:ext cx="2743200" cy="219456"/>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31D7F7"/>
              </a:buClr>
              <a:buSzPts val="950"/>
              <a:buFont typeface="Arial"/>
              <a:buNone/>
            </a:pPr>
            <a:r>
              <a:rPr b="1" i="0" lang="en-US" sz="1200" u="none" cap="none" strike="noStrike">
                <a:solidFill>
                  <a:srgbClr val="31D7F7"/>
                </a:solidFill>
                <a:latin typeface="Arial"/>
                <a:ea typeface="Arial"/>
                <a:cs typeface="Arial"/>
                <a:sym typeface="Arial"/>
              </a:rPr>
              <a:t>FinRadar AI | Round 2</a:t>
            </a:r>
            <a:endParaRPr b="0" i="0" sz="1200" u="none" cap="none" strike="noStrike">
              <a:solidFill>
                <a:schemeClr val="dk1"/>
              </a:solidFill>
              <a:latin typeface="Arial"/>
              <a:ea typeface="Arial"/>
              <a:cs typeface="Arial"/>
              <a:sym typeface="Arial"/>
            </a:endParaRPr>
          </a:p>
        </p:txBody>
      </p:sp>
      <p:pic>
        <p:nvPicPr>
          <p:cNvPr descr="/mnt/data/ironhack-logo.png" id="37" name="Google Shape;37;p2"/>
          <p:cNvPicPr preferRelativeResize="0"/>
          <p:nvPr/>
        </p:nvPicPr>
        <p:blipFill rotWithShape="1">
          <a:blip r:embed="rId4">
            <a:alphaModFix/>
          </a:blip>
          <a:srcRect b="0" l="0" r="0" t="0"/>
          <a:stretch/>
        </p:blipFill>
        <p:spPr>
          <a:xfrm>
            <a:off x="10469880" y="173736"/>
            <a:ext cx="1234440" cy="201168"/>
          </a:xfrm>
          <a:prstGeom prst="rect">
            <a:avLst/>
          </a:prstGeom>
          <a:noFill/>
          <a:ln>
            <a:noFill/>
          </a:ln>
        </p:spPr>
      </p:pic>
      <p:cxnSp>
        <p:nvCxnSpPr>
          <p:cNvPr id="38" name="Google Shape;38;p2"/>
          <p:cNvCxnSpPr/>
          <p:nvPr/>
        </p:nvCxnSpPr>
        <p:spPr>
          <a:xfrm>
            <a:off x="393192" y="6473952"/>
            <a:ext cx="11384280" cy="0"/>
          </a:xfrm>
          <a:prstGeom prst="straightConnector1">
            <a:avLst/>
          </a:prstGeom>
          <a:noFill/>
          <a:ln cap="flat" cmpd="sng" w="12700">
            <a:solidFill>
              <a:srgbClr val="1A3949"/>
            </a:solidFill>
            <a:prstDash val="solid"/>
            <a:round/>
            <a:headEnd len="sm" w="sm" type="none"/>
            <a:tailEnd len="sm" w="sm" type="none"/>
          </a:ln>
        </p:spPr>
      </p:cxnSp>
      <p:sp>
        <p:nvSpPr>
          <p:cNvPr id="39" name="Google Shape;39;p2"/>
          <p:cNvSpPr/>
          <p:nvPr/>
        </p:nvSpPr>
        <p:spPr>
          <a:xfrm>
            <a:off x="393192" y="6528816"/>
            <a:ext cx="2377440" cy="201168"/>
          </a:xfrm>
          <a:prstGeom prst="rect">
            <a:avLst/>
          </a:prstGeom>
          <a:noFill/>
          <a:ln>
            <a:noFill/>
          </a:ln>
        </p:spPr>
        <p:txBody>
          <a:bodyPr anchorCtr="0" anchor="ctr" bIns="500" lIns="500" spcFirstLastPara="1" rIns="500" wrap="square" tIns="500">
            <a:normAutofit/>
          </a:bodyPr>
          <a:lstStyle/>
          <a:p>
            <a:pPr indent="0" lvl="0" marL="0" marR="0" rtl="0" algn="l">
              <a:lnSpc>
                <a:spcPct val="100000"/>
              </a:lnSpc>
              <a:spcBef>
                <a:spcPts val="0"/>
              </a:spcBef>
              <a:spcAft>
                <a:spcPts val="0"/>
              </a:spcAft>
              <a:buClr>
                <a:srgbClr val="A7BED1"/>
              </a:buClr>
              <a:buSzPts val="900"/>
              <a:buFont typeface="Arial"/>
              <a:buNone/>
            </a:pPr>
            <a:r>
              <a:rPr b="0" i="0" lang="en-US" sz="1200" u="none" cap="none" strike="noStrike">
                <a:solidFill>
                  <a:srgbClr val="A7BED1"/>
                </a:solidFill>
                <a:latin typeface="Arial"/>
                <a:ea typeface="Arial"/>
                <a:cs typeface="Arial"/>
                <a:sym typeface="Arial"/>
              </a:rPr>
              <a:t>AI Assists - Humans Decide</a:t>
            </a:r>
            <a:endParaRPr b="0" i="0" sz="1200" u="none" cap="none" strike="noStrike">
              <a:solidFill>
                <a:schemeClr val="dk1"/>
              </a:solidFill>
              <a:latin typeface="Arial"/>
              <a:ea typeface="Arial"/>
              <a:cs typeface="Arial"/>
              <a:sym typeface="Arial"/>
            </a:endParaRPr>
          </a:p>
        </p:txBody>
      </p:sp>
      <p:sp>
        <p:nvSpPr>
          <p:cNvPr id="40" name="Google Shape;40;p2"/>
          <p:cNvSpPr/>
          <p:nvPr/>
        </p:nvSpPr>
        <p:spPr>
          <a:xfrm>
            <a:off x="11475720" y="6528816"/>
            <a:ext cx="320040" cy="201168"/>
          </a:xfrm>
          <a:prstGeom prst="rect">
            <a:avLst/>
          </a:prstGeom>
          <a:noFill/>
          <a:ln>
            <a:noFill/>
          </a:ln>
        </p:spPr>
        <p:txBody>
          <a:bodyPr anchorCtr="0" anchor="ctr" bIns="500" lIns="500" spcFirstLastPara="1" rIns="500" wrap="square" tIns="500">
            <a:normAutofit/>
          </a:bodyPr>
          <a:lstStyle/>
          <a:p>
            <a:pPr indent="0" lvl="0" marL="0" marR="0" rtl="0" algn="r">
              <a:lnSpc>
                <a:spcPct val="100000"/>
              </a:lnSpc>
              <a:spcBef>
                <a:spcPts val="0"/>
              </a:spcBef>
              <a:spcAft>
                <a:spcPts val="0"/>
              </a:spcAft>
              <a:buClr>
                <a:srgbClr val="A7BED1"/>
              </a:buClr>
              <a:buSzPts val="900"/>
              <a:buFont typeface="Arial"/>
              <a:buNone/>
            </a:pPr>
            <a:r>
              <a:rPr b="0" i="0" lang="en-US" sz="1400" u="none" cap="none" strike="noStrike">
                <a:solidFill>
                  <a:srgbClr val="000000"/>
                </a:solidFill>
                <a:latin typeface="Arial"/>
                <a:ea typeface="Arial"/>
                <a:cs typeface="Arial"/>
                <a:sym typeface="Arial"/>
              </a:rPr>
              <a:t>02</a:t>
            </a:r>
            <a:endParaRPr b="0" i="0" sz="900" u="none" cap="none" strike="noStrike">
              <a:solidFill>
                <a:schemeClr val="dk1"/>
              </a:solidFill>
              <a:latin typeface="Arial"/>
              <a:ea typeface="Arial"/>
              <a:cs typeface="Arial"/>
              <a:sym typeface="Arial"/>
            </a:endParaRPr>
          </a:p>
        </p:txBody>
      </p:sp>
      <p:sp>
        <p:nvSpPr>
          <p:cNvPr id="41" name="Google Shape;41;p2"/>
          <p:cNvSpPr/>
          <p:nvPr/>
        </p:nvSpPr>
        <p:spPr>
          <a:xfrm>
            <a:off x="647925" y="868675"/>
            <a:ext cx="9547500" cy="10821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4FAFF"/>
              </a:buClr>
              <a:buSzPts val="3000"/>
              <a:buFont typeface="Arial"/>
              <a:buNone/>
            </a:pPr>
            <a:r>
              <a:rPr b="1" i="0" lang="en-US" sz="2600" u="none" cap="none" strike="noStrike">
                <a:solidFill>
                  <a:srgbClr val="F4FAFF"/>
                </a:solidFill>
                <a:latin typeface="Arial"/>
                <a:ea typeface="Arial"/>
                <a:cs typeface="Arial"/>
                <a:sym typeface="Arial"/>
              </a:rPr>
              <a:t>The Problem: Access to News not equal to Understanding it</a:t>
            </a:r>
            <a:endParaRPr b="0" i="0" sz="2600" u="none" cap="none" strike="noStrike">
              <a:solidFill>
                <a:schemeClr val="dk1"/>
              </a:solidFill>
              <a:latin typeface="Arial"/>
              <a:ea typeface="Arial"/>
              <a:cs typeface="Arial"/>
              <a:sym typeface="Arial"/>
            </a:endParaRPr>
          </a:p>
        </p:txBody>
      </p:sp>
      <p:cxnSp>
        <p:nvCxnSpPr>
          <p:cNvPr id="42" name="Google Shape;42;p2"/>
          <p:cNvCxnSpPr/>
          <p:nvPr/>
        </p:nvCxnSpPr>
        <p:spPr>
          <a:xfrm>
            <a:off x="2487168" y="2834640"/>
            <a:ext cx="758952" cy="0"/>
          </a:xfrm>
          <a:prstGeom prst="straightConnector1">
            <a:avLst/>
          </a:prstGeom>
          <a:noFill/>
          <a:ln cap="flat" cmpd="sng" w="26650">
            <a:solidFill>
              <a:srgbClr val="1B83F6"/>
            </a:solidFill>
            <a:prstDash val="solid"/>
            <a:round/>
            <a:headEnd len="sm" w="sm" type="none"/>
            <a:tailEnd len="med" w="med" type="triangle"/>
          </a:ln>
        </p:spPr>
      </p:cxnSp>
      <p:cxnSp>
        <p:nvCxnSpPr>
          <p:cNvPr id="43" name="Google Shape;43;p2"/>
          <p:cNvCxnSpPr/>
          <p:nvPr/>
        </p:nvCxnSpPr>
        <p:spPr>
          <a:xfrm>
            <a:off x="4992624" y="2834640"/>
            <a:ext cx="768096" cy="0"/>
          </a:xfrm>
          <a:prstGeom prst="straightConnector1">
            <a:avLst/>
          </a:prstGeom>
          <a:noFill/>
          <a:ln cap="flat" cmpd="sng" w="26650">
            <a:solidFill>
              <a:srgbClr val="1B83F6"/>
            </a:solidFill>
            <a:prstDash val="solid"/>
            <a:round/>
            <a:headEnd len="sm" w="sm" type="none"/>
            <a:tailEnd len="med" w="med" type="triangle"/>
          </a:ln>
        </p:spPr>
      </p:cxnSp>
      <p:cxnSp>
        <p:nvCxnSpPr>
          <p:cNvPr id="44" name="Google Shape;44;p2"/>
          <p:cNvCxnSpPr/>
          <p:nvPr/>
        </p:nvCxnSpPr>
        <p:spPr>
          <a:xfrm>
            <a:off x="7571232" y="2834640"/>
            <a:ext cx="768096" cy="0"/>
          </a:xfrm>
          <a:prstGeom prst="straightConnector1">
            <a:avLst/>
          </a:prstGeom>
          <a:noFill/>
          <a:ln cap="flat" cmpd="sng" w="26650">
            <a:solidFill>
              <a:srgbClr val="FF5A64"/>
            </a:solidFill>
            <a:prstDash val="solid"/>
            <a:round/>
            <a:headEnd len="sm" w="sm" type="none"/>
            <a:tailEnd len="med" w="med" type="triangle"/>
          </a:ln>
        </p:spPr>
      </p:cxnSp>
      <p:sp>
        <p:nvSpPr>
          <p:cNvPr id="45" name="Google Shape;45;p2"/>
          <p:cNvSpPr/>
          <p:nvPr/>
        </p:nvSpPr>
        <p:spPr>
          <a:xfrm>
            <a:off x="713232" y="2423160"/>
            <a:ext cx="1783080" cy="822960"/>
          </a:xfrm>
          <a:prstGeom prst="roundRect">
            <a:avLst>
              <a:gd fmla="val 6667" name="adj"/>
            </a:avLst>
          </a:prstGeom>
          <a:solidFill>
            <a:srgbClr val="0E3144"/>
          </a:solidFill>
          <a:ln cap="flat" cmpd="sng" w="13950">
            <a:solidFill>
              <a:srgbClr val="1B83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2"/>
          <p:cNvSpPr/>
          <p:nvPr/>
        </p:nvSpPr>
        <p:spPr>
          <a:xfrm>
            <a:off x="786384" y="2514600"/>
            <a:ext cx="1636776" cy="640080"/>
          </a:xfrm>
          <a:prstGeom prst="rect">
            <a:avLst/>
          </a:prstGeom>
          <a:noFill/>
          <a:ln>
            <a:noFill/>
          </a:ln>
        </p:spPr>
        <p:txBody>
          <a:bodyPr anchorCtr="0" anchor="ctr" bIns="250" lIns="250" spcFirstLastPara="1" rIns="250" wrap="square" tIns="250">
            <a:normAutofit/>
          </a:bodyPr>
          <a:lstStyle/>
          <a:p>
            <a:pPr indent="0" lvl="0" marL="0" marR="0" rtl="0" algn="ctr">
              <a:lnSpc>
                <a:spcPct val="100000"/>
              </a:lnSpc>
              <a:spcBef>
                <a:spcPts val="0"/>
              </a:spcBef>
              <a:spcAft>
                <a:spcPts val="0"/>
              </a:spcAft>
              <a:buClr>
                <a:srgbClr val="F4FAFF"/>
              </a:buClr>
              <a:buSzPts val="1400"/>
              <a:buFont typeface="Arial"/>
              <a:buNone/>
            </a:pPr>
            <a:r>
              <a:rPr b="1" i="0" lang="en-US" sz="1400" u="none" cap="none" strike="noStrike">
                <a:solidFill>
                  <a:srgbClr val="F4FAFF"/>
                </a:solidFill>
                <a:latin typeface="Arial"/>
                <a:ea typeface="Arial"/>
                <a:cs typeface="Arial"/>
                <a:sym typeface="Arial"/>
              </a:rPr>
              <a:t>News</a:t>
            </a: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F4FAFF"/>
              </a:buClr>
              <a:buSzPts val="1400"/>
              <a:buFont typeface="Arial"/>
              <a:buNone/>
            </a:pPr>
            <a:r>
              <a:rPr b="1" i="0" lang="en-US" sz="1400" u="none" cap="none" strike="noStrike">
                <a:solidFill>
                  <a:srgbClr val="F4FAFF"/>
                </a:solidFill>
                <a:latin typeface="Arial"/>
                <a:ea typeface="Arial"/>
                <a:cs typeface="Arial"/>
                <a:sym typeface="Arial"/>
              </a:rPr>
              <a:t>overload</a:t>
            </a:r>
            <a:endParaRPr b="0" i="0" sz="1400" u="none" cap="none" strike="noStrike">
              <a:solidFill>
                <a:schemeClr val="dk1"/>
              </a:solidFill>
              <a:latin typeface="Arial"/>
              <a:ea typeface="Arial"/>
              <a:cs typeface="Arial"/>
              <a:sym typeface="Arial"/>
            </a:endParaRPr>
          </a:p>
        </p:txBody>
      </p:sp>
      <p:sp>
        <p:nvSpPr>
          <p:cNvPr id="47" name="Google Shape;47;p2"/>
          <p:cNvSpPr/>
          <p:nvPr/>
        </p:nvSpPr>
        <p:spPr>
          <a:xfrm>
            <a:off x="3291840" y="2423160"/>
            <a:ext cx="1783080" cy="822960"/>
          </a:xfrm>
          <a:prstGeom prst="roundRect">
            <a:avLst>
              <a:gd fmla="val 6667" name="adj"/>
            </a:avLst>
          </a:prstGeom>
          <a:solidFill>
            <a:srgbClr val="0A2230"/>
          </a:solidFill>
          <a:ln cap="flat" cmpd="sng" w="13950">
            <a:solidFill>
              <a:srgbClr val="27495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2"/>
          <p:cNvSpPr/>
          <p:nvPr/>
        </p:nvSpPr>
        <p:spPr>
          <a:xfrm>
            <a:off x="3364992" y="2514600"/>
            <a:ext cx="1636776" cy="640080"/>
          </a:xfrm>
          <a:prstGeom prst="rect">
            <a:avLst/>
          </a:prstGeom>
          <a:noFill/>
          <a:ln>
            <a:noFill/>
          </a:ln>
        </p:spPr>
        <p:txBody>
          <a:bodyPr anchorCtr="0" anchor="ctr" bIns="250" lIns="250" spcFirstLastPara="1" rIns="250" wrap="square" tIns="250">
            <a:normAutofit/>
          </a:bodyPr>
          <a:lstStyle/>
          <a:p>
            <a:pPr indent="0" lvl="0" marL="0" marR="0" rtl="0" algn="ctr">
              <a:lnSpc>
                <a:spcPct val="100000"/>
              </a:lnSpc>
              <a:spcBef>
                <a:spcPts val="0"/>
              </a:spcBef>
              <a:spcAft>
                <a:spcPts val="0"/>
              </a:spcAft>
              <a:buClr>
                <a:srgbClr val="F4FAFF"/>
              </a:buClr>
              <a:buSzPts val="1400"/>
              <a:buFont typeface="Arial"/>
              <a:buNone/>
            </a:pPr>
            <a:r>
              <a:rPr b="1" i="0" lang="en-US" sz="1400" u="none" cap="none" strike="noStrike">
                <a:solidFill>
                  <a:srgbClr val="F4FAFF"/>
                </a:solidFill>
                <a:latin typeface="Arial"/>
                <a:ea typeface="Arial"/>
                <a:cs typeface="Arial"/>
                <a:sym typeface="Arial"/>
              </a:rPr>
              <a:t>Manual</a:t>
            </a: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F4FAFF"/>
              </a:buClr>
              <a:buSzPts val="1400"/>
              <a:buFont typeface="Arial"/>
              <a:buNone/>
            </a:pPr>
            <a:r>
              <a:rPr b="1" i="0" lang="en-US" sz="1400" u="none" cap="none" strike="noStrike">
                <a:solidFill>
                  <a:srgbClr val="F4FAFF"/>
                </a:solidFill>
                <a:latin typeface="Arial"/>
                <a:ea typeface="Arial"/>
                <a:cs typeface="Arial"/>
                <a:sym typeface="Arial"/>
              </a:rPr>
              <a:t>triage</a:t>
            </a:r>
            <a:endParaRPr b="0" i="0" sz="1400" u="none" cap="none" strike="noStrike">
              <a:solidFill>
                <a:schemeClr val="dk1"/>
              </a:solidFill>
              <a:latin typeface="Arial"/>
              <a:ea typeface="Arial"/>
              <a:cs typeface="Arial"/>
              <a:sym typeface="Arial"/>
            </a:endParaRPr>
          </a:p>
        </p:txBody>
      </p:sp>
      <p:sp>
        <p:nvSpPr>
          <p:cNvPr id="49" name="Google Shape;49;p2"/>
          <p:cNvSpPr/>
          <p:nvPr/>
        </p:nvSpPr>
        <p:spPr>
          <a:xfrm>
            <a:off x="5806440" y="2423160"/>
            <a:ext cx="1828800" cy="822960"/>
          </a:xfrm>
          <a:prstGeom prst="roundRect">
            <a:avLst>
              <a:gd fmla="val 6667" name="adj"/>
            </a:avLst>
          </a:prstGeom>
          <a:solidFill>
            <a:srgbClr val="2C2614"/>
          </a:solidFill>
          <a:ln cap="flat" cmpd="sng" w="13950">
            <a:solidFill>
              <a:srgbClr val="F6B84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2"/>
          <p:cNvSpPr/>
          <p:nvPr/>
        </p:nvSpPr>
        <p:spPr>
          <a:xfrm>
            <a:off x="5879592" y="2514600"/>
            <a:ext cx="1682496" cy="640080"/>
          </a:xfrm>
          <a:prstGeom prst="rect">
            <a:avLst/>
          </a:prstGeom>
          <a:noFill/>
          <a:ln>
            <a:noFill/>
          </a:ln>
        </p:spPr>
        <p:txBody>
          <a:bodyPr anchorCtr="0" anchor="ctr" bIns="250" lIns="250" spcFirstLastPara="1" rIns="250" wrap="square" tIns="250">
            <a:normAutofit/>
          </a:bodyPr>
          <a:lstStyle/>
          <a:p>
            <a:pPr indent="0" lvl="0" marL="0" marR="0" rtl="0" algn="ctr">
              <a:lnSpc>
                <a:spcPct val="100000"/>
              </a:lnSpc>
              <a:spcBef>
                <a:spcPts val="0"/>
              </a:spcBef>
              <a:spcAft>
                <a:spcPts val="0"/>
              </a:spcAft>
              <a:buClr>
                <a:srgbClr val="F4FAFF"/>
              </a:buClr>
              <a:buSzPts val="1320"/>
              <a:buFont typeface="Arial"/>
              <a:buNone/>
            </a:pPr>
            <a:r>
              <a:rPr b="1" i="0" lang="en-US" sz="1320" u="none" cap="none" strike="noStrike">
                <a:solidFill>
                  <a:srgbClr val="F4FAFF"/>
                </a:solidFill>
                <a:latin typeface="Arial"/>
                <a:ea typeface="Arial"/>
                <a:cs typeface="Arial"/>
                <a:sym typeface="Arial"/>
              </a:rPr>
              <a:t>Inconsistent</a:t>
            </a:r>
            <a:endParaRPr b="0" i="0" sz="132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F4FAFF"/>
              </a:buClr>
              <a:buSzPts val="1320"/>
              <a:buFont typeface="Arial"/>
              <a:buNone/>
            </a:pPr>
            <a:r>
              <a:rPr b="1" i="0" lang="en-US" sz="1320" u="none" cap="none" strike="noStrike">
                <a:solidFill>
                  <a:srgbClr val="F4FAFF"/>
                </a:solidFill>
                <a:latin typeface="Arial"/>
                <a:ea typeface="Arial"/>
                <a:cs typeface="Arial"/>
                <a:sym typeface="Arial"/>
              </a:rPr>
              <a:t>priority</a:t>
            </a:r>
            <a:endParaRPr b="0" i="0" sz="1320" u="none" cap="none" strike="noStrike">
              <a:solidFill>
                <a:schemeClr val="dk1"/>
              </a:solidFill>
              <a:latin typeface="Arial"/>
              <a:ea typeface="Arial"/>
              <a:cs typeface="Arial"/>
              <a:sym typeface="Arial"/>
            </a:endParaRPr>
          </a:p>
        </p:txBody>
      </p:sp>
      <p:sp>
        <p:nvSpPr>
          <p:cNvPr id="51" name="Google Shape;51;p2"/>
          <p:cNvSpPr/>
          <p:nvPr/>
        </p:nvSpPr>
        <p:spPr>
          <a:xfrm>
            <a:off x="8394192" y="2423160"/>
            <a:ext cx="1874520" cy="822960"/>
          </a:xfrm>
          <a:prstGeom prst="roundRect">
            <a:avLst>
              <a:gd fmla="val 6667" name="adj"/>
            </a:avLst>
          </a:prstGeom>
          <a:solidFill>
            <a:srgbClr val="351720"/>
          </a:solidFill>
          <a:ln cap="flat" cmpd="sng" w="13950">
            <a:solidFill>
              <a:srgbClr val="FF5A6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2"/>
          <p:cNvSpPr/>
          <p:nvPr/>
        </p:nvSpPr>
        <p:spPr>
          <a:xfrm>
            <a:off x="8467344" y="2514600"/>
            <a:ext cx="1728216" cy="640080"/>
          </a:xfrm>
          <a:prstGeom prst="rect">
            <a:avLst/>
          </a:prstGeom>
          <a:noFill/>
          <a:ln>
            <a:noFill/>
          </a:ln>
        </p:spPr>
        <p:txBody>
          <a:bodyPr anchorCtr="0" anchor="ctr" bIns="250" lIns="250" spcFirstLastPara="1" rIns="250" wrap="square" tIns="250">
            <a:normAutofit/>
          </a:bodyPr>
          <a:lstStyle/>
          <a:p>
            <a:pPr indent="0" lvl="0" marL="0" marR="0" rtl="0" algn="ctr">
              <a:lnSpc>
                <a:spcPct val="100000"/>
              </a:lnSpc>
              <a:spcBef>
                <a:spcPts val="0"/>
              </a:spcBef>
              <a:spcAft>
                <a:spcPts val="0"/>
              </a:spcAft>
              <a:buClr>
                <a:srgbClr val="F4FAFF"/>
              </a:buClr>
              <a:buSzPts val="1350"/>
              <a:buFont typeface="Arial"/>
              <a:buNone/>
            </a:pPr>
            <a:r>
              <a:rPr b="1" i="0" lang="en-US" sz="1350" u="none" cap="none" strike="noStrike">
                <a:solidFill>
                  <a:srgbClr val="F4FAFF"/>
                </a:solidFill>
                <a:latin typeface="Arial"/>
                <a:ea typeface="Arial"/>
                <a:cs typeface="Arial"/>
                <a:sym typeface="Arial"/>
              </a:rPr>
              <a:t>Missed risk</a:t>
            </a:r>
            <a:endParaRPr b="0" i="0" sz="135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F4FAFF"/>
              </a:buClr>
              <a:buSzPts val="1350"/>
              <a:buFont typeface="Arial"/>
              <a:buNone/>
            </a:pPr>
            <a:r>
              <a:rPr b="1" i="0" lang="en-US" sz="1350" u="none" cap="none" strike="noStrike">
                <a:solidFill>
                  <a:srgbClr val="F4FAFF"/>
                </a:solidFill>
                <a:latin typeface="Arial"/>
                <a:ea typeface="Arial"/>
                <a:cs typeface="Arial"/>
                <a:sym typeface="Arial"/>
              </a:rPr>
              <a:t>signals</a:t>
            </a:r>
            <a:endParaRPr b="0" i="0" sz="1350" u="none" cap="none" strike="noStrike">
              <a:solidFill>
                <a:schemeClr val="dk1"/>
              </a:solidFill>
              <a:latin typeface="Arial"/>
              <a:ea typeface="Arial"/>
              <a:cs typeface="Arial"/>
              <a:sym typeface="Arial"/>
            </a:endParaRPr>
          </a:p>
        </p:txBody>
      </p:sp>
      <p:sp>
        <p:nvSpPr>
          <p:cNvPr id="53" name="Google Shape;53;p2"/>
          <p:cNvSpPr/>
          <p:nvPr/>
        </p:nvSpPr>
        <p:spPr>
          <a:xfrm>
            <a:off x="777240" y="3977640"/>
            <a:ext cx="2148840" cy="868680"/>
          </a:xfrm>
          <a:prstGeom prst="rect">
            <a:avLst/>
          </a:prstGeom>
          <a:solidFill>
            <a:srgbClr val="0C2A3A"/>
          </a:solidFill>
          <a:ln cap="flat" cmpd="sng" w="12700">
            <a:solidFill>
              <a:srgbClr val="1B83F6"/>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625" lIns="625" spcFirstLastPara="1" rIns="625" wrap="square" tIns="625">
            <a:normAutofit/>
          </a:bodyPr>
          <a:lstStyle/>
          <a:p>
            <a:pPr indent="0" lvl="0" marL="0" marR="0" rtl="0" algn="ctr">
              <a:lnSpc>
                <a:spcPct val="100000"/>
              </a:lnSpc>
              <a:spcBef>
                <a:spcPts val="0"/>
              </a:spcBef>
              <a:spcAft>
                <a:spcPts val="0"/>
              </a:spcAft>
              <a:buClr>
                <a:srgbClr val="1B83F6"/>
              </a:buClr>
              <a:buSzPts val="1130"/>
              <a:buFont typeface="Arial"/>
              <a:buNone/>
            </a:pPr>
            <a:r>
              <a:rPr b="1" i="0" lang="en-US" sz="1130" u="none" cap="none" strike="noStrike">
                <a:solidFill>
                  <a:srgbClr val="1B83F6"/>
                </a:solidFill>
                <a:latin typeface="Arial"/>
                <a:ea typeface="Arial"/>
                <a:cs typeface="Arial"/>
                <a:sym typeface="Arial"/>
              </a:rPr>
              <a:t>Time</a:t>
            </a:r>
            <a:endParaRPr b="0" i="0" sz="113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1B83F6"/>
              </a:buClr>
              <a:buSzPts val="1130"/>
              <a:buFont typeface="Arial"/>
              <a:buNone/>
            </a:pPr>
            <a:r>
              <a:rPr b="1" i="0" lang="en-US" sz="1130" u="none" cap="none" strike="noStrike">
                <a:solidFill>
                  <a:srgbClr val="1B83F6"/>
                </a:solidFill>
                <a:latin typeface="Arial"/>
                <a:ea typeface="Arial"/>
                <a:cs typeface="Arial"/>
                <a:sym typeface="Arial"/>
              </a:rPr>
              <a:t>repetitive review</a:t>
            </a:r>
            <a:endParaRPr b="0" i="0" sz="1130" u="none" cap="none" strike="noStrike">
              <a:solidFill>
                <a:schemeClr val="dk1"/>
              </a:solidFill>
              <a:latin typeface="Arial"/>
              <a:ea typeface="Arial"/>
              <a:cs typeface="Arial"/>
              <a:sym typeface="Arial"/>
            </a:endParaRPr>
          </a:p>
        </p:txBody>
      </p:sp>
      <p:sp>
        <p:nvSpPr>
          <p:cNvPr id="54" name="Google Shape;54;p2"/>
          <p:cNvSpPr/>
          <p:nvPr/>
        </p:nvSpPr>
        <p:spPr>
          <a:xfrm>
            <a:off x="3246120" y="3977640"/>
            <a:ext cx="2148840" cy="868680"/>
          </a:xfrm>
          <a:prstGeom prst="rect">
            <a:avLst/>
          </a:prstGeom>
          <a:solidFill>
            <a:srgbClr val="0C2A3A"/>
          </a:solidFill>
          <a:ln cap="flat" cmpd="sng" w="12700">
            <a:solidFill>
              <a:srgbClr val="00C5B4"/>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625" lIns="625" spcFirstLastPara="1" rIns="625" wrap="square" tIns="625">
            <a:normAutofit/>
          </a:bodyPr>
          <a:lstStyle/>
          <a:p>
            <a:pPr indent="0" lvl="0" marL="0" marR="0" rtl="0" algn="ctr">
              <a:lnSpc>
                <a:spcPct val="100000"/>
              </a:lnSpc>
              <a:spcBef>
                <a:spcPts val="0"/>
              </a:spcBef>
              <a:spcAft>
                <a:spcPts val="0"/>
              </a:spcAft>
              <a:buClr>
                <a:srgbClr val="00C5B4"/>
              </a:buClr>
              <a:buSzPts val="1130"/>
              <a:buFont typeface="Arial"/>
              <a:buNone/>
            </a:pPr>
            <a:r>
              <a:rPr b="1" i="0" lang="en-US" sz="1130" u="none" cap="none" strike="noStrike">
                <a:solidFill>
                  <a:srgbClr val="00C5B4"/>
                </a:solidFill>
                <a:latin typeface="Arial"/>
                <a:ea typeface="Arial"/>
                <a:cs typeface="Arial"/>
                <a:sym typeface="Arial"/>
              </a:rPr>
              <a:t>Quality</a:t>
            </a:r>
            <a:endParaRPr b="0" i="0" sz="113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C5B4"/>
              </a:buClr>
              <a:buSzPts val="1130"/>
              <a:buFont typeface="Arial"/>
              <a:buNone/>
            </a:pPr>
            <a:r>
              <a:rPr b="1" i="0" lang="en-US" sz="1130" u="none" cap="none" strike="noStrike">
                <a:solidFill>
                  <a:srgbClr val="00C5B4"/>
                </a:solidFill>
                <a:latin typeface="Arial"/>
                <a:ea typeface="Arial"/>
                <a:cs typeface="Arial"/>
                <a:sym typeface="Arial"/>
              </a:rPr>
              <a:t>inconsistent tagging</a:t>
            </a:r>
            <a:endParaRPr b="0" i="0" sz="1130" u="none" cap="none" strike="noStrike">
              <a:solidFill>
                <a:schemeClr val="dk1"/>
              </a:solidFill>
              <a:latin typeface="Arial"/>
              <a:ea typeface="Arial"/>
              <a:cs typeface="Arial"/>
              <a:sym typeface="Arial"/>
            </a:endParaRPr>
          </a:p>
        </p:txBody>
      </p:sp>
      <p:sp>
        <p:nvSpPr>
          <p:cNvPr id="55" name="Google Shape;55;p2"/>
          <p:cNvSpPr/>
          <p:nvPr/>
        </p:nvSpPr>
        <p:spPr>
          <a:xfrm>
            <a:off x="5715000" y="3977640"/>
            <a:ext cx="2148840" cy="868680"/>
          </a:xfrm>
          <a:prstGeom prst="rect">
            <a:avLst/>
          </a:prstGeom>
          <a:solidFill>
            <a:srgbClr val="0C2A3A"/>
          </a:solidFill>
          <a:ln cap="flat" cmpd="sng" w="12700">
            <a:solidFill>
              <a:srgbClr val="FF5A64"/>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625" lIns="625" spcFirstLastPara="1" rIns="625" wrap="square" tIns="625">
            <a:normAutofit/>
          </a:bodyPr>
          <a:lstStyle/>
          <a:p>
            <a:pPr indent="0" lvl="0" marL="0" marR="0" rtl="0" algn="ctr">
              <a:lnSpc>
                <a:spcPct val="100000"/>
              </a:lnSpc>
              <a:spcBef>
                <a:spcPts val="0"/>
              </a:spcBef>
              <a:spcAft>
                <a:spcPts val="0"/>
              </a:spcAft>
              <a:buClr>
                <a:srgbClr val="FF5A64"/>
              </a:buClr>
              <a:buSzPts val="1130"/>
              <a:buFont typeface="Arial"/>
              <a:buNone/>
            </a:pPr>
            <a:r>
              <a:rPr b="1" i="0" lang="en-US" sz="1130" u="none" cap="none" strike="noStrike">
                <a:solidFill>
                  <a:srgbClr val="FF5A64"/>
                </a:solidFill>
                <a:latin typeface="Arial"/>
                <a:ea typeface="Arial"/>
                <a:cs typeface="Arial"/>
                <a:sym typeface="Arial"/>
              </a:rPr>
              <a:t>Risk</a:t>
            </a:r>
            <a:endParaRPr b="0" i="0" sz="113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FF5A64"/>
              </a:buClr>
              <a:buSzPts val="1130"/>
              <a:buFont typeface="Arial"/>
              <a:buNone/>
            </a:pPr>
            <a:r>
              <a:rPr b="1" i="0" lang="en-US" sz="1130" u="none" cap="none" strike="noStrike">
                <a:solidFill>
                  <a:srgbClr val="FF5A64"/>
                </a:solidFill>
                <a:latin typeface="Arial"/>
                <a:ea typeface="Arial"/>
                <a:cs typeface="Arial"/>
                <a:sym typeface="Arial"/>
              </a:rPr>
              <a:t>signals can be missed</a:t>
            </a:r>
            <a:endParaRPr b="0" i="0" sz="1130" u="none" cap="none" strike="noStrike">
              <a:solidFill>
                <a:schemeClr val="dk1"/>
              </a:solidFill>
              <a:latin typeface="Arial"/>
              <a:ea typeface="Arial"/>
              <a:cs typeface="Arial"/>
              <a:sym typeface="Arial"/>
            </a:endParaRPr>
          </a:p>
        </p:txBody>
      </p:sp>
      <p:sp>
        <p:nvSpPr>
          <p:cNvPr id="56" name="Google Shape;56;p2"/>
          <p:cNvSpPr/>
          <p:nvPr/>
        </p:nvSpPr>
        <p:spPr>
          <a:xfrm>
            <a:off x="8183880" y="3977640"/>
            <a:ext cx="2148840" cy="868680"/>
          </a:xfrm>
          <a:prstGeom prst="rect">
            <a:avLst/>
          </a:prstGeom>
          <a:solidFill>
            <a:srgbClr val="0C2A3A"/>
          </a:solidFill>
          <a:ln cap="flat" cmpd="sng" w="12700">
            <a:solidFill>
              <a:srgbClr val="6F6AF8"/>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625" lIns="625" spcFirstLastPara="1" rIns="625" wrap="square" tIns="625">
            <a:normAutofit/>
          </a:bodyPr>
          <a:lstStyle/>
          <a:p>
            <a:pPr indent="0" lvl="0" marL="0" marR="0" rtl="0" algn="ctr">
              <a:lnSpc>
                <a:spcPct val="100000"/>
              </a:lnSpc>
              <a:spcBef>
                <a:spcPts val="0"/>
              </a:spcBef>
              <a:spcAft>
                <a:spcPts val="0"/>
              </a:spcAft>
              <a:buClr>
                <a:srgbClr val="6F6AF8"/>
              </a:buClr>
              <a:buSzPts val="1130"/>
              <a:buFont typeface="Arial"/>
              <a:buNone/>
            </a:pPr>
            <a:r>
              <a:rPr b="1" i="0" lang="en-US" sz="1130" u="none" cap="none" strike="noStrike">
                <a:solidFill>
                  <a:srgbClr val="6F6AF8"/>
                </a:solidFill>
                <a:latin typeface="Arial"/>
                <a:ea typeface="Arial"/>
                <a:cs typeface="Arial"/>
                <a:sym typeface="Arial"/>
              </a:rPr>
              <a:t>Trust</a:t>
            </a:r>
            <a:endParaRPr b="0" i="0" sz="113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6F6AF8"/>
              </a:buClr>
              <a:buSzPts val="1130"/>
              <a:buFont typeface="Arial"/>
              <a:buNone/>
            </a:pPr>
            <a:r>
              <a:rPr b="1" i="0" lang="en-US" sz="1130" u="none" cap="none" strike="noStrike">
                <a:solidFill>
                  <a:srgbClr val="6F6AF8"/>
                </a:solidFill>
                <a:latin typeface="Arial"/>
                <a:ea typeface="Arial"/>
                <a:cs typeface="Arial"/>
                <a:sym typeface="Arial"/>
              </a:rPr>
              <a:t>AI must be transparent</a:t>
            </a:r>
            <a:endParaRPr b="0" i="0" sz="1130" u="none" cap="none" strike="noStrike">
              <a:solidFill>
                <a:schemeClr val="dk1"/>
              </a:solidFill>
              <a:latin typeface="Arial"/>
              <a:ea typeface="Arial"/>
              <a:cs typeface="Arial"/>
              <a:sym typeface="Arial"/>
            </a:endParaRPr>
          </a:p>
        </p:txBody>
      </p:sp>
      <p:sp>
        <p:nvSpPr>
          <p:cNvPr id="57" name="Google Shape;57;p2"/>
          <p:cNvSpPr/>
          <p:nvPr/>
        </p:nvSpPr>
        <p:spPr>
          <a:xfrm>
            <a:off x="1078992" y="5669280"/>
            <a:ext cx="9829800" cy="2286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31D7F7"/>
              </a:buClr>
              <a:buSzPts val="1350"/>
              <a:buFont typeface="Arial"/>
              <a:buNone/>
            </a:pPr>
            <a:r>
              <a:rPr b="1" i="0" lang="en-US" sz="1350" u="none" cap="none" strike="noStrike">
                <a:solidFill>
                  <a:srgbClr val="31D7F7"/>
                </a:solidFill>
                <a:latin typeface="Arial"/>
                <a:ea typeface="Arial"/>
                <a:cs typeface="Arial"/>
                <a:sym typeface="Arial"/>
              </a:rPr>
              <a:t>Why it persists: financial news is unstructured, fast-moving and context-heavy — exactly where assisted classification can help.</a:t>
            </a:r>
            <a:endParaRPr b="0" i="0" sz="135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A2F"/>
        </a:solidFill>
      </p:bgPr>
    </p:bg>
    <p:spTree>
      <p:nvGrpSpPr>
        <p:cNvPr id="62" name="Shape 62"/>
        <p:cNvGrpSpPr/>
        <p:nvPr/>
      </p:nvGrpSpPr>
      <p:grpSpPr>
        <a:xfrm>
          <a:off x="0" y="0"/>
          <a:ext cx="0" cy="0"/>
          <a:chOff x="0" y="0"/>
          <a:chExt cx="0" cy="0"/>
        </a:xfrm>
      </p:grpSpPr>
      <p:pic>
        <p:nvPicPr>
          <p:cNvPr descr="image.png" id="63" name="Google Shape;63;p13"/>
          <p:cNvPicPr preferRelativeResize="0"/>
          <p:nvPr/>
        </p:nvPicPr>
        <p:blipFill rotWithShape="1">
          <a:blip r:embed="rId3">
            <a:alphaModFix/>
          </a:blip>
          <a:srcRect b="0" l="0" r="0" t="0"/>
          <a:stretch/>
        </p:blipFill>
        <p:spPr>
          <a:xfrm>
            <a:off x="10378440" y="237744"/>
            <a:ext cx="1234440" cy="1234440"/>
          </a:xfrm>
          <a:prstGeom prst="rect">
            <a:avLst/>
          </a:prstGeom>
          <a:noFill/>
          <a:ln>
            <a:noFill/>
          </a:ln>
        </p:spPr>
      </p:pic>
      <p:sp>
        <p:nvSpPr>
          <p:cNvPr id="64" name="Google Shape;64;p13"/>
          <p:cNvSpPr/>
          <p:nvPr/>
        </p:nvSpPr>
        <p:spPr>
          <a:xfrm>
            <a:off x="502920" y="256032"/>
            <a:ext cx="2377440" cy="237744"/>
          </a:xfrm>
          <a:prstGeom prst="rect">
            <a:avLst/>
          </a:prstGeom>
          <a:noFill/>
          <a:ln>
            <a:noFill/>
          </a:ln>
        </p:spPr>
        <p:txBody>
          <a:bodyPr anchorCtr="0" anchor="ctr" bIns="500" lIns="500" spcFirstLastPara="1" rIns="500" wrap="square" tIns="500">
            <a:normAutofit/>
          </a:bodyPr>
          <a:lstStyle/>
          <a:p>
            <a:pPr indent="0" lvl="0" marL="0" marR="0" rtl="0" algn="l">
              <a:lnSpc>
                <a:spcPct val="100000"/>
              </a:lnSpc>
              <a:spcBef>
                <a:spcPts val="0"/>
              </a:spcBef>
              <a:spcAft>
                <a:spcPts val="0"/>
              </a:spcAft>
              <a:buClr>
                <a:srgbClr val="20D3FF"/>
              </a:buClr>
              <a:buSzPts val="1300"/>
              <a:buFont typeface="Arial"/>
              <a:buNone/>
            </a:pPr>
            <a:r>
              <a:rPr b="1" i="0" lang="en-US" sz="1200" u="none" cap="none" strike="noStrike">
                <a:solidFill>
                  <a:srgbClr val="20D3FF"/>
                </a:solidFill>
                <a:latin typeface="Arial"/>
                <a:ea typeface="Arial"/>
                <a:cs typeface="Arial"/>
                <a:sym typeface="Arial"/>
              </a:rPr>
              <a:t>FinRadar AI | Round 2</a:t>
            </a:r>
            <a:endParaRPr b="0" i="0" sz="1200" u="none" cap="none" strike="noStrike">
              <a:solidFill>
                <a:schemeClr val="dk1"/>
              </a:solidFill>
              <a:latin typeface="Arial"/>
              <a:ea typeface="Arial"/>
              <a:cs typeface="Arial"/>
              <a:sym typeface="Arial"/>
            </a:endParaRPr>
          </a:p>
        </p:txBody>
      </p:sp>
      <p:sp>
        <p:nvSpPr>
          <p:cNvPr id="65" name="Google Shape;65;p13"/>
          <p:cNvSpPr/>
          <p:nvPr/>
        </p:nvSpPr>
        <p:spPr>
          <a:xfrm>
            <a:off x="502920" y="713232"/>
            <a:ext cx="8412480" cy="594360"/>
          </a:xfrm>
          <a:prstGeom prst="rect">
            <a:avLst/>
          </a:prstGeom>
          <a:noFill/>
          <a:ln>
            <a:noFill/>
          </a:ln>
        </p:spPr>
        <p:txBody>
          <a:bodyPr anchorCtr="0" anchor="ctr" bIns="500" lIns="500" spcFirstLastPara="1" rIns="500" wrap="square" tIns="500">
            <a:normAutofit/>
          </a:bodyPr>
          <a:lstStyle/>
          <a:p>
            <a:pPr indent="0" lvl="0" marL="0" marR="0" rtl="0" algn="l">
              <a:lnSpc>
                <a:spcPct val="100000"/>
              </a:lnSpc>
              <a:spcBef>
                <a:spcPts val="0"/>
              </a:spcBef>
              <a:spcAft>
                <a:spcPts val="0"/>
              </a:spcAft>
              <a:buClr>
                <a:srgbClr val="FFFFFF"/>
              </a:buClr>
              <a:buSzPts val="3000"/>
              <a:buFont typeface="Arial"/>
              <a:buNone/>
            </a:pPr>
            <a:r>
              <a:rPr b="1" i="0" lang="en-US" sz="3000" u="none" cap="none" strike="noStrike">
                <a:solidFill>
                  <a:srgbClr val="FFFFFF"/>
                </a:solidFill>
                <a:latin typeface="Arial"/>
                <a:ea typeface="Arial"/>
                <a:cs typeface="Arial"/>
                <a:sym typeface="Arial"/>
              </a:rPr>
              <a:t>From Tableau Exploration to AI Taxonomy</a:t>
            </a:r>
            <a:endParaRPr b="0" i="0" sz="3000" u="none" cap="none" strike="noStrike">
              <a:solidFill>
                <a:schemeClr val="dk1"/>
              </a:solidFill>
              <a:latin typeface="Arial"/>
              <a:ea typeface="Arial"/>
              <a:cs typeface="Arial"/>
              <a:sym typeface="Arial"/>
            </a:endParaRPr>
          </a:p>
        </p:txBody>
      </p:sp>
      <p:sp>
        <p:nvSpPr>
          <p:cNvPr id="66" name="Google Shape;66;p13"/>
          <p:cNvSpPr/>
          <p:nvPr/>
        </p:nvSpPr>
        <p:spPr>
          <a:xfrm>
            <a:off x="530350" y="1172800"/>
            <a:ext cx="8686800" cy="483900"/>
          </a:xfrm>
          <a:prstGeom prst="rect">
            <a:avLst/>
          </a:prstGeom>
          <a:noFill/>
          <a:ln>
            <a:noFill/>
          </a:ln>
        </p:spPr>
        <p:txBody>
          <a:bodyPr anchorCtr="0" anchor="ctr" bIns="500" lIns="500" spcFirstLastPara="1" rIns="500" wrap="square" tIns="500">
            <a:normAutofit/>
          </a:bodyPr>
          <a:lstStyle/>
          <a:p>
            <a:pPr indent="0" lvl="0" marL="0" marR="0" rtl="0" algn="l">
              <a:lnSpc>
                <a:spcPct val="100000"/>
              </a:lnSpc>
              <a:spcBef>
                <a:spcPts val="0"/>
              </a:spcBef>
              <a:spcAft>
                <a:spcPts val="0"/>
              </a:spcAft>
              <a:buClr>
                <a:srgbClr val="B8C7D9"/>
              </a:buClr>
              <a:buSzPts val="1600"/>
              <a:buFont typeface="Arial"/>
              <a:buNone/>
            </a:pPr>
            <a:r>
              <a:rPr b="0" i="0" lang="en-US" sz="1600" u="none" cap="none" strike="noStrike">
                <a:solidFill>
                  <a:srgbClr val="B8C7D9"/>
                </a:solidFill>
                <a:latin typeface="Arial"/>
                <a:ea typeface="Arial"/>
                <a:cs typeface="Arial"/>
                <a:sym typeface="Arial"/>
              </a:rPr>
              <a:t>How Round 1 analysis shaped the structured labels used by the Round 2 MVP</a:t>
            </a:r>
            <a:endParaRPr b="0" i="0" sz="1600" u="none" cap="none" strike="noStrike">
              <a:solidFill>
                <a:schemeClr val="dk1"/>
              </a:solidFill>
              <a:latin typeface="Arial"/>
              <a:ea typeface="Arial"/>
              <a:cs typeface="Arial"/>
              <a:sym typeface="Arial"/>
            </a:endParaRPr>
          </a:p>
        </p:txBody>
      </p:sp>
      <p:sp>
        <p:nvSpPr>
          <p:cNvPr id="67" name="Google Shape;67;p13"/>
          <p:cNvSpPr/>
          <p:nvPr/>
        </p:nvSpPr>
        <p:spPr>
          <a:xfrm>
            <a:off x="502925" y="1656550"/>
            <a:ext cx="3886200" cy="3674400"/>
          </a:xfrm>
          <a:prstGeom prst="roundRect">
            <a:avLst>
              <a:gd fmla="val 2597" name="adj"/>
            </a:avLst>
          </a:prstGeom>
          <a:solidFill>
            <a:srgbClr val="081D34"/>
          </a:solidFill>
          <a:ln cap="flat" cmpd="sng" w="15225">
            <a:solidFill>
              <a:srgbClr val="2D6CD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13"/>
          <p:cNvSpPr/>
          <p:nvPr/>
        </p:nvSpPr>
        <p:spPr>
          <a:xfrm>
            <a:off x="713225" y="1884900"/>
            <a:ext cx="3291900" cy="310800"/>
          </a:xfrm>
          <a:prstGeom prst="rect">
            <a:avLst/>
          </a:prstGeom>
          <a:solidFill>
            <a:srgbClr val="1D4ED8"/>
          </a:solidFill>
          <a:ln cap="flat" cmpd="sng" w="9525">
            <a:solidFill>
              <a:srgbClr val="1D4ED8">
                <a:alpha val="0"/>
              </a:srgbClr>
            </a:solidFill>
            <a:prstDash val="solid"/>
            <a:round/>
            <a:headEnd len="sm" w="sm" type="none"/>
            <a:tailEnd len="sm" w="sm" type="none"/>
          </a:ln>
        </p:spPr>
        <p:txBody>
          <a:bodyPr anchorCtr="0" anchor="ctr" bIns="375" lIns="375" spcFirstLastPara="1" rIns="375" wrap="square" tIns="375">
            <a:noAutofit/>
          </a:bodyPr>
          <a:lstStyle/>
          <a:p>
            <a:pPr indent="0" lvl="0" marL="0" marR="0" rtl="0" algn="ctr">
              <a:lnSpc>
                <a:spcPct val="100000"/>
              </a:lnSpc>
              <a:spcBef>
                <a:spcPts val="0"/>
              </a:spcBef>
              <a:spcAft>
                <a:spcPts val="0"/>
              </a:spcAft>
              <a:buClr>
                <a:srgbClr val="FFFFFF"/>
              </a:buClr>
              <a:buSzPts val="1050"/>
              <a:buFont typeface="Arial"/>
              <a:buNone/>
            </a:pPr>
            <a:r>
              <a:rPr b="1" i="0" lang="en-US" sz="1200" u="none" cap="none" strike="noStrike">
                <a:solidFill>
                  <a:schemeClr val="dk1"/>
                </a:solidFill>
                <a:latin typeface="Arial"/>
                <a:ea typeface="Arial"/>
                <a:cs typeface="Arial"/>
                <a:sym typeface="Arial"/>
              </a:rPr>
              <a:t>ROUND 1 TABLEAU WORK</a:t>
            </a:r>
            <a:endParaRPr b="1" i="0" sz="1200" u="none" cap="none" strike="noStrike">
              <a:solidFill>
                <a:schemeClr val="dk1"/>
              </a:solidFill>
              <a:latin typeface="Arial"/>
              <a:ea typeface="Arial"/>
              <a:cs typeface="Arial"/>
              <a:sym typeface="Arial"/>
            </a:endParaRPr>
          </a:p>
        </p:txBody>
      </p:sp>
      <p:pic>
        <p:nvPicPr>
          <p:cNvPr descr="image.png" id="69" name="Google Shape;69;p13"/>
          <p:cNvPicPr preferRelativeResize="0"/>
          <p:nvPr/>
        </p:nvPicPr>
        <p:blipFill rotWithShape="1">
          <a:blip r:embed="rId4">
            <a:alphaModFix/>
          </a:blip>
          <a:srcRect b="0" l="0" r="0" t="0"/>
          <a:stretch/>
        </p:blipFill>
        <p:spPr>
          <a:xfrm>
            <a:off x="591825" y="2331725"/>
            <a:ext cx="3739850" cy="2907775"/>
          </a:xfrm>
          <a:prstGeom prst="rect">
            <a:avLst/>
          </a:prstGeom>
          <a:noFill/>
          <a:ln>
            <a:noFill/>
          </a:ln>
        </p:spPr>
      </p:pic>
      <p:sp>
        <p:nvSpPr>
          <p:cNvPr id="70" name="Google Shape;70;p13"/>
          <p:cNvSpPr/>
          <p:nvPr/>
        </p:nvSpPr>
        <p:spPr>
          <a:xfrm>
            <a:off x="713232" y="4965192"/>
            <a:ext cx="3429000" cy="274320"/>
          </a:xfrm>
          <a:prstGeom prst="rect">
            <a:avLst/>
          </a:prstGeom>
          <a:noFill/>
          <a:ln>
            <a:noFill/>
          </a:ln>
        </p:spPr>
        <p:txBody>
          <a:bodyPr anchorCtr="0" anchor="ctr" bIns="500" lIns="500" spcFirstLastPara="1" rIns="500" wrap="square" tIns="500">
            <a:normAutofit/>
          </a:bodyPr>
          <a:lstStyle/>
          <a:p>
            <a:pPr indent="0" lvl="0" marL="0" marR="0" rtl="0" algn="l">
              <a:lnSpc>
                <a:spcPct val="100000"/>
              </a:lnSpc>
              <a:spcBef>
                <a:spcPts val="0"/>
              </a:spcBef>
              <a:spcAft>
                <a:spcPts val="0"/>
              </a:spcAft>
              <a:buClr>
                <a:srgbClr val="DCEBFF"/>
              </a:buClr>
              <a:buSzPts val="1230"/>
              <a:buFont typeface="Arial"/>
              <a:buNone/>
            </a:pPr>
            <a:r>
              <a:t/>
            </a:r>
            <a:endParaRPr b="0" i="0" sz="1230" u="none" cap="none" strike="noStrike">
              <a:solidFill>
                <a:schemeClr val="dk1"/>
              </a:solidFill>
              <a:latin typeface="Arial"/>
              <a:ea typeface="Arial"/>
              <a:cs typeface="Arial"/>
              <a:sym typeface="Arial"/>
            </a:endParaRPr>
          </a:p>
        </p:txBody>
      </p:sp>
      <p:sp>
        <p:nvSpPr>
          <p:cNvPr id="71" name="Google Shape;71;p13"/>
          <p:cNvSpPr/>
          <p:nvPr/>
        </p:nvSpPr>
        <p:spPr>
          <a:xfrm>
            <a:off x="4617725" y="1656700"/>
            <a:ext cx="2971800" cy="3674400"/>
          </a:xfrm>
          <a:prstGeom prst="roundRect">
            <a:avLst>
              <a:gd fmla="val 3077" name="adj"/>
            </a:avLst>
          </a:prstGeom>
          <a:solidFill>
            <a:srgbClr val="0B243F"/>
          </a:solidFill>
          <a:ln cap="flat" cmpd="sng" w="15225">
            <a:solidFill>
              <a:srgbClr val="20D3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3"/>
          <p:cNvSpPr/>
          <p:nvPr/>
        </p:nvSpPr>
        <p:spPr>
          <a:xfrm>
            <a:off x="4828025" y="1911100"/>
            <a:ext cx="2377500" cy="310800"/>
          </a:xfrm>
          <a:prstGeom prst="rect">
            <a:avLst/>
          </a:prstGeom>
          <a:solidFill>
            <a:srgbClr val="20D3FF"/>
          </a:solidFill>
          <a:ln cap="flat" cmpd="sng" w="9525">
            <a:solidFill>
              <a:srgbClr val="20D3FF">
                <a:alpha val="0"/>
              </a:srgbClr>
            </a:solidFill>
            <a:prstDash val="solid"/>
            <a:round/>
            <a:headEnd len="sm" w="sm" type="none"/>
            <a:tailEnd len="sm" w="sm" type="none"/>
          </a:ln>
        </p:spPr>
        <p:txBody>
          <a:bodyPr anchorCtr="0" anchor="ctr" bIns="375" lIns="375" spcFirstLastPara="1" rIns="375" wrap="square" tIns="375">
            <a:noAutofit/>
          </a:bodyPr>
          <a:lstStyle/>
          <a:p>
            <a:pPr indent="0" lvl="0" marL="0" marR="0" rtl="0" algn="ctr">
              <a:lnSpc>
                <a:spcPct val="100000"/>
              </a:lnSpc>
              <a:spcBef>
                <a:spcPts val="0"/>
              </a:spcBef>
              <a:spcAft>
                <a:spcPts val="0"/>
              </a:spcAft>
              <a:buClr>
                <a:srgbClr val="FFFFFF"/>
              </a:buClr>
              <a:buSzPts val="1050"/>
              <a:buFont typeface="Arial"/>
              <a:buNone/>
            </a:pPr>
            <a:r>
              <a:rPr b="1" i="0" lang="en-US" sz="1200" u="none" cap="none" strike="noStrike">
                <a:solidFill>
                  <a:schemeClr val="dk1"/>
                </a:solidFill>
                <a:latin typeface="Arial"/>
                <a:ea typeface="Arial"/>
                <a:cs typeface="Arial"/>
                <a:sym typeface="Arial"/>
              </a:rPr>
              <a:t>CLASSIFICATION LEARNING</a:t>
            </a:r>
            <a:endParaRPr b="1" i="0" sz="1200" u="none" cap="none" strike="noStrike">
              <a:solidFill>
                <a:schemeClr val="dk1"/>
              </a:solidFill>
              <a:latin typeface="Arial"/>
              <a:ea typeface="Arial"/>
              <a:cs typeface="Arial"/>
              <a:sym typeface="Arial"/>
            </a:endParaRPr>
          </a:p>
        </p:txBody>
      </p:sp>
      <p:sp>
        <p:nvSpPr>
          <p:cNvPr id="73" name="Google Shape;73;p13"/>
          <p:cNvSpPr/>
          <p:nvPr/>
        </p:nvSpPr>
        <p:spPr>
          <a:xfrm>
            <a:off x="4828032" y="2331720"/>
            <a:ext cx="2542032" cy="566928"/>
          </a:xfrm>
          <a:prstGeom prst="rect">
            <a:avLst/>
          </a:prstGeom>
          <a:noFill/>
          <a:ln>
            <a:noFill/>
          </a:ln>
        </p:spPr>
        <p:txBody>
          <a:bodyPr anchorCtr="0" anchor="ctr" bIns="500" lIns="500" spcFirstLastPara="1" rIns="500" wrap="square" tIns="500">
            <a:normAutofit/>
          </a:bodyPr>
          <a:lstStyle/>
          <a:p>
            <a:pPr indent="0" lvl="0" marL="0" marR="0" rtl="0" algn="l">
              <a:lnSpc>
                <a:spcPct val="100000"/>
              </a:lnSpc>
              <a:spcBef>
                <a:spcPts val="0"/>
              </a:spcBef>
              <a:spcAft>
                <a:spcPts val="0"/>
              </a:spcAft>
              <a:buClr>
                <a:srgbClr val="FFFFFF"/>
              </a:buClr>
              <a:buSzPts val="1700"/>
              <a:buFont typeface="Arial"/>
              <a:buNone/>
            </a:pPr>
            <a:r>
              <a:t/>
            </a:r>
            <a:endParaRPr b="0" i="0" sz="1200" u="none" cap="none" strike="noStrike">
              <a:solidFill>
                <a:schemeClr val="dk1"/>
              </a:solidFill>
              <a:latin typeface="Arial"/>
              <a:ea typeface="Arial"/>
              <a:cs typeface="Arial"/>
              <a:sym typeface="Arial"/>
            </a:endParaRPr>
          </a:p>
        </p:txBody>
      </p:sp>
      <p:sp>
        <p:nvSpPr>
          <p:cNvPr id="74" name="Google Shape;74;p13"/>
          <p:cNvSpPr/>
          <p:nvPr/>
        </p:nvSpPr>
        <p:spPr>
          <a:xfrm>
            <a:off x="4740300" y="2221900"/>
            <a:ext cx="2629800" cy="2130600"/>
          </a:xfrm>
          <a:prstGeom prst="rect">
            <a:avLst/>
          </a:prstGeom>
          <a:noFill/>
          <a:ln>
            <a:noFill/>
          </a:ln>
        </p:spPr>
        <p:txBody>
          <a:bodyPr anchorCtr="0" anchor="ctr" bIns="500" lIns="500" spcFirstLastPara="1" rIns="500" wrap="square" tIns="500">
            <a:normAutofit/>
          </a:bodyPr>
          <a:lstStyle/>
          <a:p>
            <a:pPr indent="0" lvl="0" marL="0" marR="0" rtl="0" algn="l">
              <a:lnSpc>
                <a:spcPct val="100000"/>
              </a:lnSpc>
              <a:spcBef>
                <a:spcPts val="0"/>
              </a:spcBef>
              <a:spcAft>
                <a:spcPts val="0"/>
              </a:spcAft>
              <a:buClr>
                <a:srgbClr val="DCEBFF"/>
              </a:buClr>
              <a:buSzPts val="1500"/>
              <a:buFont typeface="Arial"/>
              <a:buNone/>
            </a:pPr>
            <a:r>
              <a:rPr b="0" i="0" lang="en-US" sz="1400" u="none" cap="none" strike="noStrike">
                <a:solidFill>
                  <a:schemeClr val="lt1"/>
                </a:solidFill>
                <a:latin typeface="Arial"/>
                <a:ea typeface="Arial"/>
                <a:cs typeface="Arial"/>
                <a:sym typeface="Arial"/>
              </a:rPr>
              <a:t>In Short:</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DCEBFF"/>
              </a:buClr>
              <a:buSzPts val="1500"/>
              <a:buFont typeface="Arial"/>
              <a:buNone/>
            </a:pPr>
            <a:r>
              <a:rPr b="0" i="0" lang="en-US" sz="1400" u="none" cap="none" strike="noStrike">
                <a:solidFill>
                  <a:schemeClr val="lt1"/>
                </a:solidFill>
                <a:latin typeface="Arial"/>
                <a:ea typeface="Arial"/>
                <a:cs typeface="Arial"/>
                <a:sym typeface="Arial"/>
              </a:rPr>
              <a:t>FiQA provided the financial text, target, aspect and sentiment score. </a:t>
            </a:r>
            <a:endParaRPr b="0" i="0" sz="14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DCEBFF"/>
              </a:buClr>
              <a:buSzPts val="1500"/>
              <a:buFont typeface="Arial"/>
              <a:buNone/>
            </a:pPr>
            <a:r>
              <a:rPr b="0" i="0" lang="en-US" sz="1400" u="none" cap="none" strike="noStrike">
                <a:solidFill>
                  <a:schemeClr val="lt1"/>
                </a:solidFill>
                <a:latin typeface="Arial"/>
                <a:ea typeface="Arial"/>
                <a:cs typeface="Arial"/>
                <a:sym typeface="Arial"/>
              </a:rPr>
              <a:t>Those fields used as a foundation, then created the FinRadar taxonomy and business rules required for the use cases</a:t>
            </a:r>
            <a:endParaRPr b="0" i="0" sz="1400" u="none" cap="none" strike="noStrike">
              <a:solidFill>
                <a:schemeClr val="lt1"/>
              </a:solidFill>
              <a:latin typeface="Arial"/>
              <a:ea typeface="Arial"/>
              <a:cs typeface="Arial"/>
              <a:sym typeface="Arial"/>
            </a:endParaRPr>
          </a:p>
        </p:txBody>
      </p:sp>
      <p:sp>
        <p:nvSpPr>
          <p:cNvPr id="75" name="Google Shape;75;p13"/>
          <p:cNvSpPr/>
          <p:nvPr/>
        </p:nvSpPr>
        <p:spPr>
          <a:xfrm>
            <a:off x="4828025" y="4416550"/>
            <a:ext cx="2542200" cy="841200"/>
          </a:xfrm>
          <a:prstGeom prst="rect">
            <a:avLst/>
          </a:prstGeom>
          <a:noFill/>
          <a:ln>
            <a:noFill/>
          </a:ln>
        </p:spPr>
        <p:txBody>
          <a:bodyPr anchorCtr="0" anchor="ctr" bIns="500" lIns="500" spcFirstLastPara="1" rIns="500" wrap="square" tIns="500">
            <a:normAutofit/>
          </a:bodyPr>
          <a:lstStyle/>
          <a:p>
            <a:pPr indent="0" lvl="0" marL="0" marR="0" rtl="0" algn="l">
              <a:lnSpc>
                <a:spcPct val="100000"/>
              </a:lnSpc>
              <a:spcBef>
                <a:spcPts val="0"/>
              </a:spcBef>
              <a:spcAft>
                <a:spcPts val="0"/>
              </a:spcAft>
              <a:buClr>
                <a:srgbClr val="B8C7D9"/>
              </a:buClr>
              <a:buSzPts val="1260"/>
              <a:buFont typeface="Arial"/>
              <a:buNone/>
            </a:pPr>
            <a:r>
              <a:rPr b="0" i="0" lang="en-US" sz="1260" u="none" cap="none" strike="noStrike">
                <a:solidFill>
                  <a:srgbClr val="B8C7D9"/>
                </a:solidFill>
                <a:latin typeface="Arial"/>
                <a:ea typeface="Arial"/>
                <a:cs typeface="Arial"/>
                <a:sym typeface="Arial"/>
              </a:rPr>
              <a:t>Important lesson: </a:t>
            </a:r>
            <a:r>
              <a:rPr b="1" i="0" lang="en-US" sz="1260" u="none" cap="none" strike="noStrike">
                <a:solidFill>
                  <a:srgbClr val="BF9000"/>
                </a:solidFill>
                <a:latin typeface="Arial"/>
                <a:ea typeface="Arial"/>
                <a:cs typeface="Arial"/>
                <a:sym typeface="Arial"/>
              </a:rPr>
              <a:t>Target aliases and multi-entity news can be ambiguous, so exact-match evaluation is not enough.</a:t>
            </a:r>
            <a:endParaRPr b="1" i="0" sz="1260" u="none" cap="none" strike="noStrike">
              <a:solidFill>
                <a:srgbClr val="BF9000"/>
              </a:solidFill>
              <a:latin typeface="Arial"/>
              <a:ea typeface="Arial"/>
              <a:cs typeface="Arial"/>
              <a:sym typeface="Arial"/>
            </a:endParaRPr>
          </a:p>
        </p:txBody>
      </p:sp>
      <p:sp>
        <p:nvSpPr>
          <p:cNvPr id="76" name="Google Shape;76;p13"/>
          <p:cNvSpPr/>
          <p:nvPr/>
        </p:nvSpPr>
        <p:spPr>
          <a:xfrm>
            <a:off x="7818125" y="1656550"/>
            <a:ext cx="3840600" cy="3674400"/>
          </a:xfrm>
          <a:prstGeom prst="roundRect">
            <a:avLst>
              <a:gd fmla="val 2597" name="adj"/>
            </a:avLst>
          </a:prstGeom>
          <a:solidFill>
            <a:srgbClr val="0B243F"/>
          </a:solidFill>
          <a:ln cap="flat" cmpd="sng" w="15225">
            <a:solidFill>
              <a:srgbClr val="38D39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3"/>
          <p:cNvSpPr/>
          <p:nvPr/>
        </p:nvSpPr>
        <p:spPr>
          <a:xfrm>
            <a:off x="8028425" y="1884800"/>
            <a:ext cx="3109800" cy="310800"/>
          </a:xfrm>
          <a:prstGeom prst="rect">
            <a:avLst/>
          </a:prstGeom>
          <a:solidFill>
            <a:srgbClr val="38D39F"/>
          </a:solidFill>
          <a:ln cap="flat" cmpd="sng" w="9525">
            <a:solidFill>
              <a:srgbClr val="38D39F">
                <a:alpha val="0"/>
              </a:srgbClr>
            </a:solidFill>
            <a:prstDash val="solid"/>
            <a:round/>
            <a:headEnd len="sm" w="sm" type="none"/>
            <a:tailEnd len="sm" w="sm" type="none"/>
          </a:ln>
        </p:spPr>
        <p:txBody>
          <a:bodyPr anchorCtr="0" anchor="ctr" bIns="375" lIns="375" spcFirstLastPara="1" rIns="375" wrap="square" tIns="375">
            <a:noAutofit/>
          </a:bodyPr>
          <a:lstStyle/>
          <a:p>
            <a:pPr indent="0" lvl="0" marL="0" marR="0" rtl="0" algn="ctr">
              <a:lnSpc>
                <a:spcPct val="100000"/>
              </a:lnSpc>
              <a:spcBef>
                <a:spcPts val="0"/>
              </a:spcBef>
              <a:spcAft>
                <a:spcPts val="0"/>
              </a:spcAft>
              <a:buClr>
                <a:srgbClr val="FFFFFF"/>
              </a:buClr>
              <a:buSzPts val="1050"/>
              <a:buFont typeface="Arial"/>
              <a:buNone/>
            </a:pPr>
            <a:r>
              <a:rPr b="1" i="0" lang="en-US" sz="1200" u="none" cap="none" strike="noStrike">
                <a:solidFill>
                  <a:srgbClr val="0B243F"/>
                </a:solidFill>
                <a:latin typeface="Arial"/>
                <a:ea typeface="Arial"/>
                <a:cs typeface="Arial"/>
                <a:sym typeface="Arial"/>
              </a:rPr>
              <a:t>FINRADAR AI TAXONOMY</a:t>
            </a:r>
            <a:endParaRPr b="1" i="0" sz="1200" u="none" cap="none" strike="noStrike">
              <a:solidFill>
                <a:srgbClr val="0B243F"/>
              </a:solidFill>
              <a:latin typeface="Arial"/>
              <a:ea typeface="Arial"/>
              <a:cs typeface="Arial"/>
              <a:sym typeface="Arial"/>
            </a:endParaRPr>
          </a:p>
        </p:txBody>
      </p:sp>
      <p:sp>
        <p:nvSpPr>
          <p:cNvPr id="78" name="Google Shape;78;p13"/>
          <p:cNvSpPr/>
          <p:nvPr/>
        </p:nvSpPr>
        <p:spPr>
          <a:xfrm>
            <a:off x="8046726" y="2331725"/>
            <a:ext cx="1417200" cy="274200"/>
          </a:xfrm>
          <a:prstGeom prst="rect">
            <a:avLst/>
          </a:prstGeom>
          <a:noFill/>
          <a:ln>
            <a:noFill/>
          </a:ln>
        </p:spPr>
        <p:txBody>
          <a:bodyPr anchorCtr="0" anchor="ctr" bIns="500" lIns="500" spcFirstLastPara="1" rIns="500" wrap="square" tIns="500">
            <a:normAutofit/>
          </a:bodyPr>
          <a:lstStyle/>
          <a:p>
            <a:pPr indent="0" lvl="0" marL="0" marR="0" rtl="0" algn="l">
              <a:lnSpc>
                <a:spcPct val="100000"/>
              </a:lnSpc>
              <a:spcBef>
                <a:spcPts val="0"/>
              </a:spcBef>
              <a:spcAft>
                <a:spcPts val="0"/>
              </a:spcAft>
              <a:buClr>
                <a:srgbClr val="FFFFFF"/>
              </a:buClr>
              <a:buSzPts val="1600"/>
              <a:buFont typeface="Arial"/>
              <a:buNone/>
            </a:pPr>
            <a:r>
              <a:rPr b="1" i="0" lang="en-US" sz="1200" u="none" cap="none" strike="noStrike">
                <a:solidFill>
                  <a:srgbClr val="FFFFFF"/>
                </a:solidFill>
                <a:latin typeface="Arial"/>
                <a:ea typeface="Arial"/>
                <a:cs typeface="Arial"/>
                <a:sym typeface="Arial"/>
              </a:rPr>
              <a:t>AI output fields</a:t>
            </a:r>
            <a:endParaRPr b="0" i="0" sz="1200" u="none" cap="none" strike="noStrike">
              <a:solidFill>
                <a:schemeClr val="dk1"/>
              </a:solidFill>
              <a:latin typeface="Arial"/>
              <a:ea typeface="Arial"/>
              <a:cs typeface="Arial"/>
              <a:sym typeface="Arial"/>
            </a:endParaRPr>
          </a:p>
        </p:txBody>
      </p:sp>
      <p:sp>
        <p:nvSpPr>
          <p:cNvPr id="79" name="Google Shape;79;p13"/>
          <p:cNvSpPr/>
          <p:nvPr/>
        </p:nvSpPr>
        <p:spPr>
          <a:xfrm>
            <a:off x="9692640" y="2331720"/>
            <a:ext cx="1737360" cy="292608"/>
          </a:xfrm>
          <a:prstGeom prst="rect">
            <a:avLst/>
          </a:prstGeom>
          <a:noFill/>
          <a:ln>
            <a:noFill/>
          </a:ln>
        </p:spPr>
        <p:txBody>
          <a:bodyPr anchorCtr="0" anchor="ctr" bIns="500" lIns="500" spcFirstLastPara="1" rIns="500" wrap="square" tIns="500">
            <a:normAutofit/>
          </a:bodyPr>
          <a:lstStyle/>
          <a:p>
            <a:pPr indent="0" lvl="0" marL="0" marR="0" rtl="0" algn="l">
              <a:lnSpc>
                <a:spcPct val="100000"/>
              </a:lnSpc>
              <a:spcBef>
                <a:spcPts val="0"/>
              </a:spcBef>
              <a:spcAft>
                <a:spcPts val="0"/>
              </a:spcAft>
              <a:buClr>
                <a:srgbClr val="FFFFFF"/>
              </a:buClr>
              <a:buSzPts val="1600"/>
              <a:buFont typeface="Arial"/>
              <a:buNone/>
            </a:pPr>
            <a:r>
              <a:rPr b="1" i="0" lang="en-US" sz="1200" u="none" cap="none" strike="noStrike">
                <a:solidFill>
                  <a:srgbClr val="FFFFFF"/>
                </a:solidFill>
                <a:latin typeface="Arial"/>
                <a:ea typeface="Arial"/>
                <a:cs typeface="Arial"/>
                <a:sym typeface="Arial"/>
              </a:rPr>
              <a:t>Purpose for analysts</a:t>
            </a:r>
            <a:endParaRPr b="0" i="0" sz="1200" u="none" cap="none" strike="noStrike">
              <a:solidFill>
                <a:schemeClr val="dk1"/>
              </a:solidFill>
              <a:latin typeface="Arial"/>
              <a:ea typeface="Arial"/>
              <a:cs typeface="Arial"/>
              <a:sym typeface="Arial"/>
            </a:endParaRPr>
          </a:p>
        </p:txBody>
      </p:sp>
      <p:sp>
        <p:nvSpPr>
          <p:cNvPr id="80" name="Google Shape;80;p13"/>
          <p:cNvSpPr/>
          <p:nvPr/>
        </p:nvSpPr>
        <p:spPr>
          <a:xfrm>
            <a:off x="8028432" y="2697480"/>
            <a:ext cx="1417320" cy="292608"/>
          </a:xfrm>
          <a:prstGeom prst="rect">
            <a:avLst/>
          </a:prstGeom>
          <a:solidFill>
            <a:srgbClr val="102F55"/>
          </a:solidFill>
          <a:ln cap="flat" cmpd="sng" w="9525">
            <a:solidFill>
              <a:srgbClr val="1E4978">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3"/>
          <p:cNvSpPr/>
          <p:nvPr/>
        </p:nvSpPr>
        <p:spPr>
          <a:xfrm>
            <a:off x="8101584" y="2724912"/>
            <a:ext cx="1280160" cy="201168"/>
          </a:xfrm>
          <a:prstGeom prst="rect">
            <a:avLst/>
          </a:prstGeom>
          <a:noFill/>
          <a:ln>
            <a:noFill/>
          </a:ln>
        </p:spPr>
        <p:txBody>
          <a:bodyPr anchorCtr="0" anchor="ctr" bIns="125" lIns="125" spcFirstLastPara="1" rIns="125" wrap="square" tIns="125">
            <a:normAutofit/>
          </a:bodyPr>
          <a:lstStyle/>
          <a:p>
            <a:pPr indent="0" lvl="0" marL="0" marR="0" rtl="0" algn="l">
              <a:lnSpc>
                <a:spcPct val="100000"/>
              </a:lnSpc>
              <a:spcBef>
                <a:spcPts val="0"/>
              </a:spcBef>
              <a:spcAft>
                <a:spcPts val="0"/>
              </a:spcAft>
              <a:buClr>
                <a:srgbClr val="FFFFFF"/>
              </a:buClr>
              <a:buSzPts val="1150"/>
              <a:buFont typeface="Arial"/>
              <a:buNone/>
            </a:pPr>
            <a:r>
              <a:rPr b="1" i="0" lang="en-US" sz="1150" u="none" cap="none" strike="noStrike">
                <a:solidFill>
                  <a:srgbClr val="FFFFFF"/>
                </a:solidFill>
                <a:latin typeface="Arial"/>
                <a:ea typeface="Arial"/>
                <a:cs typeface="Arial"/>
                <a:sym typeface="Arial"/>
              </a:rPr>
              <a:t>Target</a:t>
            </a:r>
            <a:endParaRPr b="0" i="0" sz="1150" u="none" cap="none" strike="noStrike">
              <a:solidFill>
                <a:schemeClr val="dk1"/>
              </a:solidFill>
              <a:latin typeface="Arial"/>
              <a:ea typeface="Arial"/>
              <a:cs typeface="Arial"/>
              <a:sym typeface="Arial"/>
            </a:endParaRPr>
          </a:p>
        </p:txBody>
      </p:sp>
      <p:sp>
        <p:nvSpPr>
          <p:cNvPr id="82" name="Google Shape;82;p13"/>
          <p:cNvSpPr/>
          <p:nvPr/>
        </p:nvSpPr>
        <p:spPr>
          <a:xfrm>
            <a:off x="9692640" y="2724912"/>
            <a:ext cx="1700784" cy="201168"/>
          </a:xfrm>
          <a:prstGeom prst="rect">
            <a:avLst/>
          </a:prstGeom>
          <a:noFill/>
          <a:ln>
            <a:noFill/>
          </a:ln>
        </p:spPr>
        <p:txBody>
          <a:bodyPr anchorCtr="0" anchor="ctr" bIns="125" lIns="125" spcFirstLastPara="1" rIns="125" wrap="square" tIns="125">
            <a:normAutofit/>
          </a:bodyPr>
          <a:lstStyle/>
          <a:p>
            <a:pPr indent="0" lvl="0" marL="0" marR="0" rtl="0" algn="l">
              <a:lnSpc>
                <a:spcPct val="100000"/>
              </a:lnSpc>
              <a:spcBef>
                <a:spcPts val="0"/>
              </a:spcBef>
              <a:spcAft>
                <a:spcPts val="0"/>
              </a:spcAft>
              <a:buClr>
                <a:srgbClr val="DCEBFF"/>
              </a:buClr>
              <a:buSzPts val="1150"/>
              <a:buFont typeface="Arial"/>
              <a:buNone/>
            </a:pPr>
            <a:r>
              <a:rPr b="0" i="0" lang="en-US" sz="1150" u="none" cap="none" strike="noStrike">
                <a:solidFill>
                  <a:srgbClr val="DCEBFF"/>
                </a:solidFill>
                <a:latin typeface="Arial"/>
                <a:ea typeface="Arial"/>
                <a:cs typeface="Arial"/>
                <a:sym typeface="Arial"/>
              </a:rPr>
              <a:t>who / what is affected</a:t>
            </a:r>
            <a:endParaRPr b="0" i="0" sz="1150" u="none" cap="none" strike="noStrike">
              <a:solidFill>
                <a:schemeClr val="dk1"/>
              </a:solidFill>
              <a:latin typeface="Arial"/>
              <a:ea typeface="Arial"/>
              <a:cs typeface="Arial"/>
              <a:sym typeface="Arial"/>
            </a:endParaRPr>
          </a:p>
        </p:txBody>
      </p:sp>
      <p:sp>
        <p:nvSpPr>
          <p:cNvPr id="83" name="Google Shape;83;p13"/>
          <p:cNvSpPr/>
          <p:nvPr/>
        </p:nvSpPr>
        <p:spPr>
          <a:xfrm>
            <a:off x="8028432" y="3054096"/>
            <a:ext cx="1417320" cy="292608"/>
          </a:xfrm>
          <a:prstGeom prst="rect">
            <a:avLst/>
          </a:prstGeom>
          <a:solidFill>
            <a:srgbClr val="102F55"/>
          </a:solidFill>
          <a:ln cap="flat" cmpd="sng" w="9525">
            <a:solidFill>
              <a:srgbClr val="1E4978">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3"/>
          <p:cNvSpPr/>
          <p:nvPr/>
        </p:nvSpPr>
        <p:spPr>
          <a:xfrm>
            <a:off x="8101584" y="3081528"/>
            <a:ext cx="1280160" cy="201168"/>
          </a:xfrm>
          <a:prstGeom prst="rect">
            <a:avLst/>
          </a:prstGeom>
          <a:noFill/>
          <a:ln>
            <a:noFill/>
          </a:ln>
        </p:spPr>
        <p:txBody>
          <a:bodyPr anchorCtr="0" anchor="ctr" bIns="125" lIns="125" spcFirstLastPara="1" rIns="125" wrap="square" tIns="125">
            <a:normAutofit/>
          </a:bodyPr>
          <a:lstStyle/>
          <a:p>
            <a:pPr indent="0" lvl="0" marL="0" marR="0" rtl="0" algn="l">
              <a:lnSpc>
                <a:spcPct val="100000"/>
              </a:lnSpc>
              <a:spcBef>
                <a:spcPts val="0"/>
              </a:spcBef>
              <a:spcAft>
                <a:spcPts val="0"/>
              </a:spcAft>
              <a:buClr>
                <a:srgbClr val="FFFFFF"/>
              </a:buClr>
              <a:buSzPts val="1150"/>
              <a:buFont typeface="Arial"/>
              <a:buNone/>
            </a:pPr>
            <a:r>
              <a:rPr b="1" i="0" lang="en-US" sz="1150" u="none" cap="none" strike="noStrike">
                <a:solidFill>
                  <a:srgbClr val="FFFFFF"/>
                </a:solidFill>
                <a:latin typeface="Arial"/>
                <a:ea typeface="Arial"/>
                <a:cs typeface="Arial"/>
                <a:sym typeface="Arial"/>
              </a:rPr>
              <a:t>Business Area</a:t>
            </a:r>
            <a:endParaRPr b="0" i="0" sz="1150" u="none" cap="none" strike="noStrike">
              <a:solidFill>
                <a:schemeClr val="dk1"/>
              </a:solidFill>
              <a:latin typeface="Arial"/>
              <a:ea typeface="Arial"/>
              <a:cs typeface="Arial"/>
              <a:sym typeface="Arial"/>
            </a:endParaRPr>
          </a:p>
        </p:txBody>
      </p:sp>
      <p:sp>
        <p:nvSpPr>
          <p:cNvPr id="85" name="Google Shape;85;p13"/>
          <p:cNvSpPr/>
          <p:nvPr/>
        </p:nvSpPr>
        <p:spPr>
          <a:xfrm>
            <a:off x="9692640" y="3081528"/>
            <a:ext cx="1700784" cy="201168"/>
          </a:xfrm>
          <a:prstGeom prst="rect">
            <a:avLst/>
          </a:prstGeom>
          <a:noFill/>
          <a:ln>
            <a:noFill/>
          </a:ln>
        </p:spPr>
        <p:txBody>
          <a:bodyPr anchorCtr="0" anchor="ctr" bIns="125" lIns="125" spcFirstLastPara="1" rIns="125" wrap="square" tIns="125">
            <a:normAutofit/>
          </a:bodyPr>
          <a:lstStyle/>
          <a:p>
            <a:pPr indent="0" lvl="0" marL="0" marR="0" rtl="0" algn="l">
              <a:lnSpc>
                <a:spcPct val="100000"/>
              </a:lnSpc>
              <a:spcBef>
                <a:spcPts val="0"/>
              </a:spcBef>
              <a:spcAft>
                <a:spcPts val="0"/>
              </a:spcAft>
              <a:buClr>
                <a:srgbClr val="DCEBFF"/>
              </a:buClr>
              <a:buSzPts val="1150"/>
              <a:buFont typeface="Arial"/>
              <a:buNone/>
            </a:pPr>
            <a:r>
              <a:rPr b="0" i="0" lang="en-US" sz="1150" u="none" cap="none" strike="noStrike">
                <a:solidFill>
                  <a:srgbClr val="DCEBFF"/>
                </a:solidFill>
                <a:latin typeface="Arial"/>
                <a:ea typeface="Arial"/>
                <a:cs typeface="Arial"/>
                <a:sym typeface="Arial"/>
              </a:rPr>
              <a:t>Corporate · Stock · Market · Economy</a:t>
            </a:r>
            <a:endParaRPr b="0" i="0" sz="1150" u="none" cap="none" strike="noStrike">
              <a:solidFill>
                <a:schemeClr val="dk1"/>
              </a:solidFill>
              <a:latin typeface="Arial"/>
              <a:ea typeface="Arial"/>
              <a:cs typeface="Arial"/>
              <a:sym typeface="Arial"/>
            </a:endParaRPr>
          </a:p>
        </p:txBody>
      </p:sp>
      <p:sp>
        <p:nvSpPr>
          <p:cNvPr id="86" name="Google Shape;86;p13"/>
          <p:cNvSpPr/>
          <p:nvPr/>
        </p:nvSpPr>
        <p:spPr>
          <a:xfrm>
            <a:off x="8028432" y="3410712"/>
            <a:ext cx="1417320" cy="292608"/>
          </a:xfrm>
          <a:prstGeom prst="rect">
            <a:avLst/>
          </a:prstGeom>
          <a:solidFill>
            <a:srgbClr val="102F55"/>
          </a:solidFill>
          <a:ln cap="flat" cmpd="sng" w="9525">
            <a:solidFill>
              <a:srgbClr val="1E4978">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3"/>
          <p:cNvSpPr/>
          <p:nvPr/>
        </p:nvSpPr>
        <p:spPr>
          <a:xfrm>
            <a:off x="8101584" y="3438144"/>
            <a:ext cx="1280160" cy="201168"/>
          </a:xfrm>
          <a:prstGeom prst="rect">
            <a:avLst/>
          </a:prstGeom>
          <a:noFill/>
          <a:ln>
            <a:noFill/>
          </a:ln>
        </p:spPr>
        <p:txBody>
          <a:bodyPr anchorCtr="0" anchor="ctr" bIns="125" lIns="125" spcFirstLastPara="1" rIns="125" wrap="square" tIns="125">
            <a:normAutofit/>
          </a:bodyPr>
          <a:lstStyle/>
          <a:p>
            <a:pPr indent="0" lvl="0" marL="0" marR="0" rtl="0" algn="l">
              <a:lnSpc>
                <a:spcPct val="100000"/>
              </a:lnSpc>
              <a:spcBef>
                <a:spcPts val="0"/>
              </a:spcBef>
              <a:spcAft>
                <a:spcPts val="0"/>
              </a:spcAft>
              <a:buClr>
                <a:srgbClr val="FFFFFF"/>
              </a:buClr>
              <a:buSzPts val="1150"/>
              <a:buFont typeface="Arial"/>
              <a:buNone/>
            </a:pPr>
            <a:r>
              <a:rPr b="1" i="0" lang="en-US" sz="1150" u="none" cap="none" strike="noStrike">
                <a:solidFill>
                  <a:srgbClr val="FFFFFF"/>
                </a:solidFill>
                <a:latin typeface="Arial"/>
                <a:ea typeface="Arial"/>
                <a:cs typeface="Arial"/>
                <a:sym typeface="Arial"/>
              </a:rPr>
              <a:t>Topic</a:t>
            </a:r>
            <a:endParaRPr b="0" i="0" sz="1150" u="none" cap="none" strike="noStrike">
              <a:solidFill>
                <a:schemeClr val="dk1"/>
              </a:solidFill>
              <a:latin typeface="Arial"/>
              <a:ea typeface="Arial"/>
              <a:cs typeface="Arial"/>
              <a:sym typeface="Arial"/>
            </a:endParaRPr>
          </a:p>
        </p:txBody>
      </p:sp>
      <p:sp>
        <p:nvSpPr>
          <p:cNvPr id="88" name="Google Shape;88;p13"/>
          <p:cNvSpPr/>
          <p:nvPr/>
        </p:nvSpPr>
        <p:spPr>
          <a:xfrm>
            <a:off x="9692640" y="3438144"/>
            <a:ext cx="1700784" cy="201168"/>
          </a:xfrm>
          <a:prstGeom prst="rect">
            <a:avLst/>
          </a:prstGeom>
          <a:noFill/>
          <a:ln>
            <a:noFill/>
          </a:ln>
        </p:spPr>
        <p:txBody>
          <a:bodyPr anchorCtr="0" anchor="ctr" bIns="125" lIns="125" spcFirstLastPara="1" rIns="125" wrap="square" tIns="125">
            <a:normAutofit/>
          </a:bodyPr>
          <a:lstStyle/>
          <a:p>
            <a:pPr indent="0" lvl="0" marL="0" marR="0" rtl="0" algn="l">
              <a:lnSpc>
                <a:spcPct val="100000"/>
              </a:lnSpc>
              <a:spcBef>
                <a:spcPts val="0"/>
              </a:spcBef>
              <a:spcAft>
                <a:spcPts val="0"/>
              </a:spcAft>
              <a:buClr>
                <a:srgbClr val="DCEBFF"/>
              </a:buClr>
              <a:buSzPts val="1150"/>
              <a:buFont typeface="Arial"/>
              <a:buNone/>
            </a:pPr>
            <a:r>
              <a:rPr b="0" i="0" lang="en-US" sz="1150" u="none" cap="none" strike="noStrike">
                <a:solidFill>
                  <a:srgbClr val="DCEBFF"/>
                </a:solidFill>
                <a:latin typeface="Arial"/>
                <a:ea typeface="Arial"/>
                <a:cs typeface="Arial"/>
                <a:sym typeface="Arial"/>
              </a:rPr>
              <a:t>earnings, M&amp;A, regulation, risk…</a:t>
            </a:r>
            <a:endParaRPr b="0" i="0" sz="1150" u="none" cap="none" strike="noStrike">
              <a:solidFill>
                <a:schemeClr val="dk1"/>
              </a:solidFill>
              <a:latin typeface="Arial"/>
              <a:ea typeface="Arial"/>
              <a:cs typeface="Arial"/>
              <a:sym typeface="Arial"/>
            </a:endParaRPr>
          </a:p>
        </p:txBody>
      </p:sp>
      <p:sp>
        <p:nvSpPr>
          <p:cNvPr id="89" name="Google Shape;89;p13"/>
          <p:cNvSpPr/>
          <p:nvPr/>
        </p:nvSpPr>
        <p:spPr>
          <a:xfrm>
            <a:off x="8028432" y="3767328"/>
            <a:ext cx="1417320" cy="292608"/>
          </a:xfrm>
          <a:prstGeom prst="rect">
            <a:avLst/>
          </a:prstGeom>
          <a:solidFill>
            <a:srgbClr val="102F55"/>
          </a:solidFill>
          <a:ln cap="flat" cmpd="sng" w="9525">
            <a:solidFill>
              <a:srgbClr val="1E4978">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3"/>
          <p:cNvSpPr/>
          <p:nvPr/>
        </p:nvSpPr>
        <p:spPr>
          <a:xfrm>
            <a:off x="8101584" y="3794760"/>
            <a:ext cx="1280160" cy="201168"/>
          </a:xfrm>
          <a:prstGeom prst="rect">
            <a:avLst/>
          </a:prstGeom>
          <a:noFill/>
          <a:ln>
            <a:noFill/>
          </a:ln>
        </p:spPr>
        <p:txBody>
          <a:bodyPr anchorCtr="0" anchor="ctr" bIns="125" lIns="125" spcFirstLastPara="1" rIns="125" wrap="square" tIns="125">
            <a:normAutofit/>
          </a:bodyPr>
          <a:lstStyle/>
          <a:p>
            <a:pPr indent="0" lvl="0" marL="0" marR="0" rtl="0" algn="l">
              <a:lnSpc>
                <a:spcPct val="100000"/>
              </a:lnSpc>
              <a:spcBef>
                <a:spcPts val="0"/>
              </a:spcBef>
              <a:spcAft>
                <a:spcPts val="0"/>
              </a:spcAft>
              <a:buClr>
                <a:srgbClr val="FFFFFF"/>
              </a:buClr>
              <a:buSzPts val="1150"/>
              <a:buFont typeface="Arial"/>
              <a:buNone/>
            </a:pPr>
            <a:r>
              <a:rPr b="1" i="0" lang="en-US" sz="1150" u="none" cap="none" strike="noStrike">
                <a:solidFill>
                  <a:srgbClr val="FFFFFF"/>
                </a:solidFill>
                <a:latin typeface="Arial"/>
                <a:ea typeface="Arial"/>
                <a:cs typeface="Arial"/>
                <a:sym typeface="Arial"/>
              </a:rPr>
              <a:t>Sentiment</a:t>
            </a:r>
            <a:endParaRPr b="0" i="0" sz="1150" u="none" cap="none" strike="noStrike">
              <a:solidFill>
                <a:schemeClr val="dk1"/>
              </a:solidFill>
              <a:latin typeface="Arial"/>
              <a:ea typeface="Arial"/>
              <a:cs typeface="Arial"/>
              <a:sym typeface="Arial"/>
            </a:endParaRPr>
          </a:p>
        </p:txBody>
      </p:sp>
      <p:sp>
        <p:nvSpPr>
          <p:cNvPr id="91" name="Google Shape;91;p13"/>
          <p:cNvSpPr/>
          <p:nvPr/>
        </p:nvSpPr>
        <p:spPr>
          <a:xfrm>
            <a:off x="9692640" y="3794760"/>
            <a:ext cx="1700784" cy="201168"/>
          </a:xfrm>
          <a:prstGeom prst="rect">
            <a:avLst/>
          </a:prstGeom>
          <a:noFill/>
          <a:ln>
            <a:noFill/>
          </a:ln>
        </p:spPr>
        <p:txBody>
          <a:bodyPr anchorCtr="0" anchor="ctr" bIns="125" lIns="125" spcFirstLastPara="1" rIns="125" wrap="square" tIns="125">
            <a:normAutofit/>
          </a:bodyPr>
          <a:lstStyle/>
          <a:p>
            <a:pPr indent="0" lvl="0" marL="0" marR="0" rtl="0" algn="l">
              <a:lnSpc>
                <a:spcPct val="100000"/>
              </a:lnSpc>
              <a:spcBef>
                <a:spcPts val="0"/>
              </a:spcBef>
              <a:spcAft>
                <a:spcPts val="0"/>
              </a:spcAft>
              <a:buClr>
                <a:srgbClr val="DCEBFF"/>
              </a:buClr>
              <a:buSzPts val="1150"/>
              <a:buFont typeface="Arial"/>
              <a:buNone/>
            </a:pPr>
            <a:r>
              <a:rPr b="0" i="0" lang="en-US" sz="1150" u="none" cap="none" strike="noStrike">
                <a:solidFill>
                  <a:srgbClr val="DCEBFF"/>
                </a:solidFill>
                <a:latin typeface="Arial"/>
                <a:ea typeface="Arial"/>
                <a:cs typeface="Arial"/>
                <a:sym typeface="Arial"/>
              </a:rPr>
              <a:t>Positive · Neutral · Negative</a:t>
            </a:r>
            <a:endParaRPr b="0" i="0" sz="1150" u="none" cap="none" strike="noStrike">
              <a:solidFill>
                <a:schemeClr val="dk1"/>
              </a:solidFill>
              <a:latin typeface="Arial"/>
              <a:ea typeface="Arial"/>
              <a:cs typeface="Arial"/>
              <a:sym typeface="Arial"/>
            </a:endParaRPr>
          </a:p>
        </p:txBody>
      </p:sp>
      <p:sp>
        <p:nvSpPr>
          <p:cNvPr id="92" name="Google Shape;92;p13"/>
          <p:cNvSpPr/>
          <p:nvPr/>
        </p:nvSpPr>
        <p:spPr>
          <a:xfrm>
            <a:off x="8028432" y="4123944"/>
            <a:ext cx="1417320" cy="292608"/>
          </a:xfrm>
          <a:prstGeom prst="rect">
            <a:avLst/>
          </a:prstGeom>
          <a:solidFill>
            <a:srgbClr val="102F55"/>
          </a:solidFill>
          <a:ln cap="flat" cmpd="sng" w="9525">
            <a:solidFill>
              <a:srgbClr val="1E4978">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13"/>
          <p:cNvSpPr/>
          <p:nvPr/>
        </p:nvSpPr>
        <p:spPr>
          <a:xfrm>
            <a:off x="8101584" y="4151376"/>
            <a:ext cx="1280160" cy="201168"/>
          </a:xfrm>
          <a:prstGeom prst="rect">
            <a:avLst/>
          </a:prstGeom>
          <a:noFill/>
          <a:ln>
            <a:noFill/>
          </a:ln>
        </p:spPr>
        <p:txBody>
          <a:bodyPr anchorCtr="0" anchor="ctr" bIns="125" lIns="125" spcFirstLastPara="1" rIns="125" wrap="square" tIns="125">
            <a:normAutofit/>
          </a:bodyPr>
          <a:lstStyle/>
          <a:p>
            <a:pPr indent="0" lvl="0" marL="0" marR="0" rtl="0" algn="l">
              <a:lnSpc>
                <a:spcPct val="100000"/>
              </a:lnSpc>
              <a:spcBef>
                <a:spcPts val="0"/>
              </a:spcBef>
              <a:spcAft>
                <a:spcPts val="0"/>
              </a:spcAft>
              <a:buClr>
                <a:srgbClr val="FFFFFF"/>
              </a:buClr>
              <a:buSzPts val="1150"/>
              <a:buFont typeface="Arial"/>
              <a:buNone/>
            </a:pPr>
            <a:r>
              <a:rPr b="1" i="0" lang="en-US" sz="1150" u="none" cap="none" strike="noStrike">
                <a:solidFill>
                  <a:srgbClr val="FFFFFF"/>
                </a:solidFill>
                <a:latin typeface="Arial"/>
                <a:ea typeface="Arial"/>
                <a:cs typeface="Arial"/>
                <a:sym typeface="Arial"/>
              </a:rPr>
              <a:t>Priority</a:t>
            </a:r>
            <a:endParaRPr b="0" i="0" sz="1150" u="none" cap="none" strike="noStrike">
              <a:solidFill>
                <a:schemeClr val="dk1"/>
              </a:solidFill>
              <a:latin typeface="Arial"/>
              <a:ea typeface="Arial"/>
              <a:cs typeface="Arial"/>
              <a:sym typeface="Arial"/>
            </a:endParaRPr>
          </a:p>
        </p:txBody>
      </p:sp>
      <p:sp>
        <p:nvSpPr>
          <p:cNvPr id="94" name="Google Shape;94;p13"/>
          <p:cNvSpPr/>
          <p:nvPr/>
        </p:nvSpPr>
        <p:spPr>
          <a:xfrm>
            <a:off x="9692640" y="4151376"/>
            <a:ext cx="1700784" cy="201168"/>
          </a:xfrm>
          <a:prstGeom prst="rect">
            <a:avLst/>
          </a:prstGeom>
          <a:noFill/>
          <a:ln>
            <a:noFill/>
          </a:ln>
        </p:spPr>
        <p:txBody>
          <a:bodyPr anchorCtr="0" anchor="ctr" bIns="125" lIns="125" spcFirstLastPara="1" rIns="125" wrap="square" tIns="125">
            <a:normAutofit/>
          </a:bodyPr>
          <a:lstStyle/>
          <a:p>
            <a:pPr indent="0" lvl="0" marL="0" marR="0" rtl="0" algn="l">
              <a:lnSpc>
                <a:spcPct val="100000"/>
              </a:lnSpc>
              <a:spcBef>
                <a:spcPts val="0"/>
              </a:spcBef>
              <a:spcAft>
                <a:spcPts val="0"/>
              </a:spcAft>
              <a:buClr>
                <a:srgbClr val="DCEBFF"/>
              </a:buClr>
              <a:buSzPts val="1150"/>
              <a:buFont typeface="Arial"/>
              <a:buNone/>
            </a:pPr>
            <a:r>
              <a:rPr b="0" i="0" lang="en-US" sz="1150" u="none" cap="none" strike="noStrike">
                <a:solidFill>
                  <a:srgbClr val="DCEBFF"/>
                </a:solidFill>
                <a:latin typeface="Arial"/>
                <a:ea typeface="Arial"/>
                <a:cs typeface="Arial"/>
                <a:sym typeface="Arial"/>
              </a:rPr>
              <a:t>Low · Medium · High</a:t>
            </a:r>
            <a:endParaRPr b="0" i="0" sz="1150" u="none" cap="none" strike="noStrike">
              <a:solidFill>
                <a:schemeClr val="dk1"/>
              </a:solidFill>
              <a:latin typeface="Arial"/>
              <a:ea typeface="Arial"/>
              <a:cs typeface="Arial"/>
              <a:sym typeface="Arial"/>
            </a:endParaRPr>
          </a:p>
        </p:txBody>
      </p:sp>
      <p:sp>
        <p:nvSpPr>
          <p:cNvPr id="95" name="Google Shape;95;p13"/>
          <p:cNvSpPr/>
          <p:nvPr/>
        </p:nvSpPr>
        <p:spPr>
          <a:xfrm>
            <a:off x="8028432" y="4480560"/>
            <a:ext cx="1417320" cy="292608"/>
          </a:xfrm>
          <a:prstGeom prst="rect">
            <a:avLst/>
          </a:prstGeom>
          <a:solidFill>
            <a:srgbClr val="102F55"/>
          </a:solidFill>
          <a:ln cap="flat" cmpd="sng" w="9525">
            <a:solidFill>
              <a:srgbClr val="1E4978">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3"/>
          <p:cNvSpPr/>
          <p:nvPr/>
        </p:nvSpPr>
        <p:spPr>
          <a:xfrm>
            <a:off x="8101584" y="4507992"/>
            <a:ext cx="1280160" cy="201168"/>
          </a:xfrm>
          <a:prstGeom prst="rect">
            <a:avLst/>
          </a:prstGeom>
          <a:noFill/>
          <a:ln>
            <a:noFill/>
          </a:ln>
        </p:spPr>
        <p:txBody>
          <a:bodyPr anchorCtr="0" anchor="ctr" bIns="125" lIns="125" spcFirstLastPara="1" rIns="125" wrap="square" tIns="125">
            <a:normAutofit/>
          </a:bodyPr>
          <a:lstStyle/>
          <a:p>
            <a:pPr indent="0" lvl="0" marL="0" marR="0" rtl="0" algn="l">
              <a:lnSpc>
                <a:spcPct val="100000"/>
              </a:lnSpc>
              <a:spcBef>
                <a:spcPts val="0"/>
              </a:spcBef>
              <a:spcAft>
                <a:spcPts val="0"/>
              </a:spcAft>
              <a:buClr>
                <a:srgbClr val="FFFFFF"/>
              </a:buClr>
              <a:buSzPts val="1150"/>
              <a:buFont typeface="Arial"/>
              <a:buNone/>
            </a:pPr>
            <a:r>
              <a:rPr b="1" i="0" lang="en-US" sz="1150" u="none" cap="none" strike="noStrike">
                <a:solidFill>
                  <a:srgbClr val="FFFFFF"/>
                </a:solidFill>
                <a:latin typeface="Arial"/>
                <a:ea typeface="Arial"/>
                <a:cs typeface="Arial"/>
                <a:sym typeface="Arial"/>
              </a:rPr>
              <a:t>Risk Type</a:t>
            </a:r>
            <a:endParaRPr b="0" i="0" sz="1150" u="none" cap="none" strike="noStrike">
              <a:solidFill>
                <a:schemeClr val="dk1"/>
              </a:solidFill>
              <a:latin typeface="Arial"/>
              <a:ea typeface="Arial"/>
              <a:cs typeface="Arial"/>
              <a:sym typeface="Arial"/>
            </a:endParaRPr>
          </a:p>
        </p:txBody>
      </p:sp>
      <p:sp>
        <p:nvSpPr>
          <p:cNvPr id="97" name="Google Shape;97;p13"/>
          <p:cNvSpPr/>
          <p:nvPr/>
        </p:nvSpPr>
        <p:spPr>
          <a:xfrm>
            <a:off x="9692640" y="4507992"/>
            <a:ext cx="1700784" cy="201168"/>
          </a:xfrm>
          <a:prstGeom prst="rect">
            <a:avLst/>
          </a:prstGeom>
          <a:noFill/>
          <a:ln>
            <a:noFill/>
          </a:ln>
        </p:spPr>
        <p:txBody>
          <a:bodyPr anchorCtr="0" anchor="ctr" bIns="125" lIns="125" spcFirstLastPara="1" rIns="125" wrap="square" tIns="125">
            <a:normAutofit/>
          </a:bodyPr>
          <a:lstStyle/>
          <a:p>
            <a:pPr indent="0" lvl="0" marL="0" marR="0" rtl="0" algn="l">
              <a:lnSpc>
                <a:spcPct val="100000"/>
              </a:lnSpc>
              <a:spcBef>
                <a:spcPts val="0"/>
              </a:spcBef>
              <a:spcAft>
                <a:spcPts val="0"/>
              </a:spcAft>
              <a:buClr>
                <a:srgbClr val="DCEBFF"/>
              </a:buClr>
              <a:buSzPts val="1150"/>
              <a:buFont typeface="Arial"/>
              <a:buNone/>
            </a:pPr>
            <a:r>
              <a:rPr b="0" i="0" lang="en-US" sz="1150" u="none" cap="none" strike="noStrike">
                <a:solidFill>
                  <a:srgbClr val="DCEBFF"/>
                </a:solidFill>
                <a:latin typeface="Arial"/>
                <a:ea typeface="Arial"/>
                <a:cs typeface="Arial"/>
                <a:sym typeface="Arial"/>
              </a:rPr>
              <a:t>Regulatory · Legal · Fraud · Compliance · None</a:t>
            </a:r>
            <a:endParaRPr b="0" i="0" sz="1150" u="none" cap="none" strike="noStrike">
              <a:solidFill>
                <a:schemeClr val="dk1"/>
              </a:solidFill>
              <a:latin typeface="Arial"/>
              <a:ea typeface="Arial"/>
              <a:cs typeface="Arial"/>
              <a:sym typeface="Arial"/>
            </a:endParaRPr>
          </a:p>
        </p:txBody>
      </p:sp>
      <p:sp>
        <p:nvSpPr>
          <p:cNvPr id="98" name="Google Shape;98;p13"/>
          <p:cNvSpPr/>
          <p:nvPr/>
        </p:nvSpPr>
        <p:spPr>
          <a:xfrm>
            <a:off x="8028432" y="4837176"/>
            <a:ext cx="1417320" cy="292608"/>
          </a:xfrm>
          <a:prstGeom prst="rect">
            <a:avLst/>
          </a:prstGeom>
          <a:solidFill>
            <a:srgbClr val="102F55"/>
          </a:solidFill>
          <a:ln cap="flat" cmpd="sng" w="9525">
            <a:solidFill>
              <a:srgbClr val="1E4978">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13"/>
          <p:cNvSpPr/>
          <p:nvPr/>
        </p:nvSpPr>
        <p:spPr>
          <a:xfrm>
            <a:off x="8101584" y="4864608"/>
            <a:ext cx="1280160" cy="201168"/>
          </a:xfrm>
          <a:prstGeom prst="rect">
            <a:avLst/>
          </a:prstGeom>
          <a:noFill/>
          <a:ln>
            <a:noFill/>
          </a:ln>
        </p:spPr>
        <p:txBody>
          <a:bodyPr anchorCtr="0" anchor="ctr" bIns="125" lIns="125" spcFirstLastPara="1" rIns="125" wrap="square" tIns="125">
            <a:normAutofit/>
          </a:bodyPr>
          <a:lstStyle/>
          <a:p>
            <a:pPr indent="0" lvl="0" marL="0" marR="0" rtl="0" algn="l">
              <a:lnSpc>
                <a:spcPct val="100000"/>
              </a:lnSpc>
              <a:spcBef>
                <a:spcPts val="0"/>
              </a:spcBef>
              <a:spcAft>
                <a:spcPts val="0"/>
              </a:spcAft>
              <a:buClr>
                <a:srgbClr val="FFFFFF"/>
              </a:buClr>
              <a:buSzPts val="1150"/>
              <a:buFont typeface="Arial"/>
              <a:buNone/>
            </a:pPr>
            <a:r>
              <a:rPr b="1" i="0" lang="en-US" sz="1150" u="none" cap="none" strike="noStrike">
                <a:solidFill>
                  <a:srgbClr val="FFFFFF"/>
                </a:solidFill>
                <a:latin typeface="Arial"/>
                <a:ea typeface="Arial"/>
                <a:cs typeface="Arial"/>
                <a:sym typeface="Arial"/>
              </a:rPr>
              <a:t>Summary</a:t>
            </a:r>
            <a:endParaRPr b="0" i="0" sz="1150" u="none" cap="none" strike="noStrike">
              <a:solidFill>
                <a:schemeClr val="dk1"/>
              </a:solidFill>
              <a:latin typeface="Arial"/>
              <a:ea typeface="Arial"/>
              <a:cs typeface="Arial"/>
              <a:sym typeface="Arial"/>
            </a:endParaRPr>
          </a:p>
        </p:txBody>
      </p:sp>
      <p:sp>
        <p:nvSpPr>
          <p:cNvPr id="100" name="Google Shape;100;p13"/>
          <p:cNvSpPr/>
          <p:nvPr/>
        </p:nvSpPr>
        <p:spPr>
          <a:xfrm>
            <a:off x="9692650" y="4937650"/>
            <a:ext cx="1700700" cy="237900"/>
          </a:xfrm>
          <a:prstGeom prst="rect">
            <a:avLst/>
          </a:prstGeom>
          <a:noFill/>
          <a:ln>
            <a:noFill/>
          </a:ln>
        </p:spPr>
        <p:txBody>
          <a:bodyPr anchorCtr="0" anchor="ctr" bIns="125" lIns="125" spcFirstLastPara="1" rIns="125" wrap="square" tIns="125">
            <a:normAutofit/>
          </a:bodyPr>
          <a:lstStyle/>
          <a:p>
            <a:pPr indent="0" lvl="0" marL="0" marR="0" rtl="0" algn="l">
              <a:lnSpc>
                <a:spcPct val="100000"/>
              </a:lnSpc>
              <a:spcBef>
                <a:spcPts val="0"/>
              </a:spcBef>
              <a:spcAft>
                <a:spcPts val="0"/>
              </a:spcAft>
              <a:buClr>
                <a:srgbClr val="DCEBFF"/>
              </a:buClr>
              <a:buSzPts val="1150"/>
              <a:buFont typeface="Arial"/>
              <a:buNone/>
            </a:pPr>
            <a:r>
              <a:rPr b="0" i="0" lang="en-US" sz="1150" u="none" cap="none" strike="noStrike">
                <a:solidFill>
                  <a:srgbClr val="DCEBFF"/>
                </a:solidFill>
                <a:latin typeface="Arial"/>
                <a:ea typeface="Arial"/>
                <a:cs typeface="Arial"/>
                <a:sym typeface="Arial"/>
              </a:rPr>
              <a:t>short analyst-readable explanation</a:t>
            </a:r>
            <a:endParaRPr b="0" i="0" sz="1150" u="none" cap="none" strike="noStrike">
              <a:solidFill>
                <a:schemeClr val="dk1"/>
              </a:solidFill>
              <a:latin typeface="Arial"/>
              <a:ea typeface="Arial"/>
              <a:cs typeface="Arial"/>
              <a:sym typeface="Arial"/>
            </a:endParaRPr>
          </a:p>
        </p:txBody>
      </p:sp>
      <p:sp>
        <p:nvSpPr>
          <p:cNvPr id="101" name="Google Shape;101;p13"/>
          <p:cNvSpPr/>
          <p:nvPr/>
        </p:nvSpPr>
        <p:spPr>
          <a:xfrm>
            <a:off x="502925" y="5561886"/>
            <a:ext cx="11155800" cy="747600"/>
          </a:xfrm>
          <a:prstGeom prst="roundRect">
            <a:avLst>
              <a:gd fmla="val 13889" name="adj"/>
            </a:avLst>
          </a:prstGeom>
          <a:solidFill>
            <a:srgbClr val="0B243F"/>
          </a:solidFill>
          <a:ln cap="flat" cmpd="sng" w="15225">
            <a:solidFill>
              <a:srgbClr val="2D6CD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13"/>
          <p:cNvSpPr/>
          <p:nvPr/>
        </p:nvSpPr>
        <p:spPr>
          <a:xfrm>
            <a:off x="749808" y="5779008"/>
            <a:ext cx="1417320" cy="237744"/>
          </a:xfrm>
          <a:prstGeom prst="rect">
            <a:avLst/>
          </a:prstGeom>
          <a:noFill/>
          <a:ln>
            <a:noFill/>
          </a:ln>
        </p:spPr>
        <p:txBody>
          <a:bodyPr anchorCtr="0" anchor="ctr" bIns="500" lIns="500" spcFirstLastPara="1" rIns="500" wrap="square" tIns="500">
            <a:normAutofit/>
          </a:bodyPr>
          <a:lstStyle/>
          <a:p>
            <a:pPr indent="0" lvl="0" marL="0" marR="0" rtl="0" algn="l">
              <a:lnSpc>
                <a:spcPct val="100000"/>
              </a:lnSpc>
              <a:spcBef>
                <a:spcPts val="0"/>
              </a:spcBef>
              <a:spcAft>
                <a:spcPts val="0"/>
              </a:spcAft>
              <a:buClr>
                <a:srgbClr val="20D3FF"/>
              </a:buClr>
              <a:buSzPts val="1400"/>
              <a:buFont typeface="Arial"/>
              <a:buNone/>
            </a:pPr>
            <a:r>
              <a:rPr b="1" i="0" lang="en-US" sz="1400" u="none" cap="none" strike="noStrike">
                <a:solidFill>
                  <a:srgbClr val="20D3FF"/>
                </a:solidFill>
                <a:latin typeface="Arial"/>
                <a:ea typeface="Arial"/>
                <a:cs typeface="Arial"/>
                <a:sym typeface="Arial"/>
              </a:rPr>
              <a:t>Design decision</a:t>
            </a:r>
            <a:endParaRPr b="0" i="0" sz="1400" u="none" cap="none" strike="noStrike">
              <a:solidFill>
                <a:schemeClr val="dk1"/>
              </a:solidFill>
              <a:latin typeface="Arial"/>
              <a:ea typeface="Arial"/>
              <a:cs typeface="Arial"/>
              <a:sym typeface="Arial"/>
            </a:endParaRPr>
          </a:p>
        </p:txBody>
      </p:sp>
      <p:sp>
        <p:nvSpPr>
          <p:cNvPr id="103" name="Google Shape;103;p13"/>
          <p:cNvSpPr/>
          <p:nvPr/>
        </p:nvSpPr>
        <p:spPr>
          <a:xfrm>
            <a:off x="2377440" y="5742432"/>
            <a:ext cx="6720840" cy="310896"/>
          </a:xfrm>
          <a:prstGeom prst="rect">
            <a:avLst/>
          </a:prstGeom>
          <a:noFill/>
          <a:ln>
            <a:noFill/>
          </a:ln>
        </p:spPr>
        <p:txBody>
          <a:bodyPr anchorCtr="0" anchor="ctr" bIns="500" lIns="500" spcFirstLastPara="1" rIns="500" wrap="square" tIns="500">
            <a:normAutofit/>
          </a:bodyPr>
          <a:lstStyle/>
          <a:p>
            <a:pPr indent="0" lvl="0" marL="0" marR="0" rtl="0" algn="l">
              <a:lnSpc>
                <a:spcPct val="10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Tableau insight → AI-ready taxonomy → structured output → deterministic escalation → human analyst review</a:t>
            </a:r>
            <a:endParaRPr b="0" i="0" sz="1600" u="none" cap="none" strike="noStrike">
              <a:solidFill>
                <a:schemeClr val="dk1"/>
              </a:solidFill>
              <a:latin typeface="Arial"/>
              <a:ea typeface="Arial"/>
              <a:cs typeface="Arial"/>
              <a:sym typeface="Arial"/>
            </a:endParaRPr>
          </a:p>
        </p:txBody>
      </p:sp>
      <p:sp>
        <p:nvSpPr>
          <p:cNvPr id="104" name="Google Shape;104;p13"/>
          <p:cNvSpPr/>
          <p:nvPr/>
        </p:nvSpPr>
        <p:spPr>
          <a:xfrm>
            <a:off x="9372600" y="5651750"/>
            <a:ext cx="2240400" cy="594300"/>
          </a:xfrm>
          <a:prstGeom prst="rect">
            <a:avLst/>
          </a:prstGeom>
          <a:noFill/>
          <a:ln>
            <a:noFill/>
          </a:ln>
        </p:spPr>
        <p:txBody>
          <a:bodyPr anchorCtr="0" anchor="ctr" bIns="500" lIns="500" spcFirstLastPara="1" rIns="500" wrap="square" tIns="500">
            <a:normAutofit/>
          </a:bodyPr>
          <a:lstStyle/>
          <a:p>
            <a:pPr indent="0" lvl="0" marL="0" marR="0" rtl="0" algn="ctr">
              <a:lnSpc>
                <a:spcPct val="100000"/>
              </a:lnSpc>
              <a:spcBef>
                <a:spcPts val="0"/>
              </a:spcBef>
              <a:spcAft>
                <a:spcPts val="0"/>
              </a:spcAft>
              <a:buClr>
                <a:srgbClr val="F59E0B"/>
              </a:buClr>
              <a:buSzPts val="1450"/>
              <a:buFont typeface="Arial"/>
              <a:buNone/>
            </a:pPr>
            <a:r>
              <a:rPr b="1" i="0" lang="en-US" sz="1450" u="none" cap="none" strike="noStrike">
                <a:solidFill>
                  <a:srgbClr val="F59E0B"/>
                </a:solidFill>
                <a:latin typeface="Arial"/>
                <a:ea typeface="Arial"/>
                <a:cs typeface="Arial"/>
                <a:sym typeface="Arial"/>
              </a:rPr>
              <a:t>Not price prediction. </a:t>
            </a:r>
            <a:endParaRPr b="1" i="0" sz="1450" u="none" cap="none" strike="noStrike">
              <a:solidFill>
                <a:srgbClr val="F59E0B"/>
              </a:solidFill>
              <a:latin typeface="Arial"/>
              <a:ea typeface="Arial"/>
              <a:cs typeface="Arial"/>
              <a:sym typeface="Arial"/>
            </a:endParaRPr>
          </a:p>
          <a:p>
            <a:pPr indent="0" lvl="0" marL="0" marR="0" rtl="0" algn="ctr">
              <a:lnSpc>
                <a:spcPct val="100000"/>
              </a:lnSpc>
              <a:spcBef>
                <a:spcPts val="0"/>
              </a:spcBef>
              <a:spcAft>
                <a:spcPts val="0"/>
              </a:spcAft>
              <a:buClr>
                <a:srgbClr val="F59E0B"/>
              </a:buClr>
              <a:buSzPts val="1450"/>
              <a:buFont typeface="Arial"/>
              <a:buNone/>
            </a:pPr>
            <a:r>
              <a:rPr b="1" i="0" lang="en-US" sz="1450" u="none" cap="none" strike="noStrike">
                <a:solidFill>
                  <a:srgbClr val="F59E0B"/>
                </a:solidFill>
                <a:latin typeface="Arial"/>
                <a:ea typeface="Arial"/>
                <a:cs typeface="Arial"/>
                <a:sym typeface="Arial"/>
              </a:rPr>
              <a:t>Not automated trading.</a:t>
            </a:r>
            <a:endParaRPr b="0" i="0" sz="1450" u="none" cap="none" strike="noStrike">
              <a:solidFill>
                <a:schemeClr val="dk1"/>
              </a:solidFill>
              <a:latin typeface="Arial"/>
              <a:ea typeface="Arial"/>
              <a:cs typeface="Arial"/>
              <a:sym typeface="Arial"/>
            </a:endParaRPr>
          </a:p>
        </p:txBody>
      </p:sp>
      <p:sp>
        <p:nvSpPr>
          <p:cNvPr id="105" name="Google Shape;105;p13"/>
          <p:cNvSpPr/>
          <p:nvPr/>
        </p:nvSpPr>
        <p:spPr>
          <a:xfrm>
            <a:off x="502920" y="6528816"/>
            <a:ext cx="2377440" cy="201168"/>
          </a:xfrm>
          <a:prstGeom prst="rect">
            <a:avLst/>
          </a:prstGeom>
          <a:noFill/>
          <a:ln>
            <a:noFill/>
          </a:ln>
        </p:spPr>
        <p:txBody>
          <a:bodyPr anchorCtr="0" anchor="ctr" bIns="500" lIns="500" spcFirstLastPara="1" rIns="500" wrap="square" tIns="500">
            <a:normAutofit/>
          </a:bodyPr>
          <a:lstStyle/>
          <a:p>
            <a:pPr indent="0" lvl="0" marL="0" marR="0" rtl="0" algn="l">
              <a:lnSpc>
                <a:spcPct val="100000"/>
              </a:lnSpc>
              <a:spcBef>
                <a:spcPts val="0"/>
              </a:spcBef>
              <a:spcAft>
                <a:spcPts val="0"/>
              </a:spcAft>
              <a:buClr>
                <a:srgbClr val="B8C7D9"/>
              </a:buClr>
              <a:buSzPts val="1150"/>
              <a:buFont typeface="Arial"/>
              <a:buNone/>
            </a:pPr>
            <a:r>
              <a:rPr b="0" i="0" lang="en-US" sz="1150" u="none" cap="none" strike="noStrike">
                <a:solidFill>
                  <a:srgbClr val="B8C7D9"/>
                </a:solidFill>
                <a:latin typeface="Arial"/>
                <a:ea typeface="Arial"/>
                <a:cs typeface="Arial"/>
                <a:sym typeface="Arial"/>
              </a:rPr>
              <a:t>AI Assists - Humans Decide</a:t>
            </a:r>
            <a:endParaRPr b="0" i="0" sz="1150" u="none" cap="none" strike="noStrike">
              <a:solidFill>
                <a:schemeClr val="dk1"/>
              </a:solidFill>
              <a:latin typeface="Arial"/>
              <a:ea typeface="Arial"/>
              <a:cs typeface="Arial"/>
              <a:sym typeface="Arial"/>
            </a:endParaRPr>
          </a:p>
        </p:txBody>
      </p:sp>
      <p:sp>
        <p:nvSpPr>
          <p:cNvPr id="106" name="Google Shape;106;p13"/>
          <p:cNvSpPr/>
          <p:nvPr/>
        </p:nvSpPr>
        <p:spPr>
          <a:xfrm>
            <a:off x="4498848" y="6528816"/>
            <a:ext cx="3291840" cy="201168"/>
          </a:xfrm>
          <a:prstGeom prst="rect">
            <a:avLst/>
          </a:prstGeom>
          <a:noFill/>
          <a:ln>
            <a:noFill/>
          </a:ln>
        </p:spPr>
        <p:txBody>
          <a:bodyPr anchorCtr="0" anchor="ctr" bIns="500" lIns="500" spcFirstLastPara="1" rIns="500" wrap="square" tIns="500">
            <a:normAutofit/>
          </a:bodyPr>
          <a:lstStyle/>
          <a:p>
            <a:pPr indent="0" lvl="0" marL="0" marR="0" rtl="0" algn="ctr">
              <a:lnSpc>
                <a:spcPct val="100000"/>
              </a:lnSpc>
              <a:spcBef>
                <a:spcPts val="0"/>
              </a:spcBef>
              <a:spcAft>
                <a:spcPts val="0"/>
              </a:spcAft>
              <a:buClr>
                <a:srgbClr val="B8C7D9"/>
              </a:buClr>
              <a:buSzPts val="1050"/>
              <a:buFont typeface="Arial"/>
              <a:buNone/>
            </a:pPr>
            <a:r>
              <a:rPr b="0" i="0" lang="en-US" sz="1050" u="none" cap="none" strike="noStrike">
                <a:solidFill>
                  <a:srgbClr val="B8C7D9"/>
                </a:solidFill>
                <a:latin typeface="Arial"/>
                <a:ea typeface="Arial"/>
                <a:cs typeface="Arial"/>
                <a:sym typeface="Arial"/>
              </a:rPr>
              <a:t>Parisa Dehghani | FinRadar AI</a:t>
            </a:r>
            <a:endParaRPr b="0" i="0" sz="1050" u="none" cap="none" strike="noStrike">
              <a:solidFill>
                <a:schemeClr val="dk1"/>
              </a:solidFill>
              <a:latin typeface="Arial"/>
              <a:ea typeface="Arial"/>
              <a:cs typeface="Arial"/>
              <a:sym typeface="Arial"/>
            </a:endParaRPr>
          </a:p>
        </p:txBody>
      </p:sp>
      <p:sp>
        <p:nvSpPr>
          <p:cNvPr id="107" name="Google Shape;107;p13"/>
          <p:cNvSpPr/>
          <p:nvPr/>
        </p:nvSpPr>
        <p:spPr>
          <a:xfrm>
            <a:off x="10927080" y="6528816"/>
            <a:ext cx="777240" cy="201168"/>
          </a:xfrm>
          <a:prstGeom prst="rect">
            <a:avLst/>
          </a:prstGeom>
          <a:noFill/>
          <a:ln>
            <a:noFill/>
          </a:ln>
        </p:spPr>
        <p:txBody>
          <a:bodyPr anchorCtr="0" anchor="ctr" bIns="500" lIns="500" spcFirstLastPara="1" rIns="500" wrap="square" tIns="500">
            <a:normAutofit/>
          </a:bodyPr>
          <a:lstStyle/>
          <a:p>
            <a:pPr indent="0" lvl="0" marL="0" marR="0" rtl="0" algn="r">
              <a:lnSpc>
                <a:spcPct val="100000"/>
              </a:lnSpc>
              <a:spcBef>
                <a:spcPts val="0"/>
              </a:spcBef>
              <a:spcAft>
                <a:spcPts val="0"/>
              </a:spcAft>
              <a:buClr>
                <a:srgbClr val="B8C7D9"/>
              </a:buClr>
              <a:buSzPts val="1050"/>
              <a:buFont typeface="Arial"/>
              <a:buNone/>
            </a:pPr>
            <a:r>
              <a:rPr b="0" i="0" lang="en-US" sz="1400" u="none" cap="none" strike="noStrike">
                <a:solidFill>
                  <a:srgbClr val="000000"/>
                </a:solidFill>
                <a:latin typeface="Arial"/>
                <a:ea typeface="Arial"/>
                <a:cs typeface="Arial"/>
                <a:sym typeface="Arial"/>
              </a:rPr>
              <a:t>03</a:t>
            </a:r>
            <a:endParaRPr b="0" i="0" sz="105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1724"/>
        </a:solidFill>
      </p:bgPr>
    </p:bg>
    <p:spTree>
      <p:nvGrpSpPr>
        <p:cNvPr id="112" name="Shape 112"/>
        <p:cNvGrpSpPr/>
        <p:nvPr/>
      </p:nvGrpSpPr>
      <p:grpSpPr>
        <a:xfrm>
          <a:off x="0" y="0"/>
          <a:ext cx="0" cy="0"/>
          <a:chOff x="0" y="0"/>
          <a:chExt cx="0" cy="0"/>
        </a:xfrm>
      </p:grpSpPr>
      <p:pic>
        <p:nvPicPr>
          <p:cNvPr descr="/mnt/data/finradar_logo_watermark_dark.png" id="113" name="Google Shape;113;p3"/>
          <p:cNvPicPr preferRelativeResize="0"/>
          <p:nvPr/>
        </p:nvPicPr>
        <p:blipFill rotWithShape="1">
          <a:blip r:embed="rId3">
            <a:alphaModFix/>
          </a:blip>
          <a:srcRect b="0" l="0" r="0" t="0"/>
          <a:stretch/>
        </p:blipFill>
        <p:spPr>
          <a:xfrm>
            <a:off x="10561320" y="502920"/>
            <a:ext cx="685800" cy="685800"/>
          </a:xfrm>
          <a:prstGeom prst="rect">
            <a:avLst/>
          </a:prstGeom>
          <a:noFill/>
          <a:ln>
            <a:noFill/>
          </a:ln>
        </p:spPr>
      </p:pic>
      <p:sp>
        <p:nvSpPr>
          <p:cNvPr id="114" name="Google Shape;114;p3"/>
          <p:cNvSpPr/>
          <p:nvPr/>
        </p:nvSpPr>
        <p:spPr>
          <a:xfrm>
            <a:off x="393192" y="228600"/>
            <a:ext cx="2743200" cy="219456"/>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31D7F7"/>
              </a:buClr>
              <a:buSzPts val="950"/>
              <a:buFont typeface="Arial"/>
              <a:buNone/>
            </a:pPr>
            <a:r>
              <a:rPr b="1" i="0" lang="en-US" sz="1200" u="none" cap="none" strike="noStrike">
                <a:solidFill>
                  <a:srgbClr val="31D7F7"/>
                </a:solidFill>
                <a:latin typeface="Arial"/>
                <a:ea typeface="Arial"/>
                <a:cs typeface="Arial"/>
                <a:sym typeface="Arial"/>
              </a:rPr>
              <a:t>FinRadar AI | Round 2</a:t>
            </a:r>
            <a:endParaRPr b="0" i="0" sz="1200" u="none" cap="none" strike="noStrike">
              <a:solidFill>
                <a:schemeClr val="dk1"/>
              </a:solidFill>
              <a:latin typeface="Arial"/>
              <a:ea typeface="Arial"/>
              <a:cs typeface="Arial"/>
              <a:sym typeface="Arial"/>
            </a:endParaRPr>
          </a:p>
        </p:txBody>
      </p:sp>
      <p:pic>
        <p:nvPicPr>
          <p:cNvPr descr="/mnt/data/ironhack-logo.png" id="115" name="Google Shape;115;p3"/>
          <p:cNvPicPr preferRelativeResize="0"/>
          <p:nvPr/>
        </p:nvPicPr>
        <p:blipFill rotWithShape="1">
          <a:blip r:embed="rId4">
            <a:alphaModFix/>
          </a:blip>
          <a:srcRect b="0" l="0" r="0" t="0"/>
          <a:stretch/>
        </p:blipFill>
        <p:spPr>
          <a:xfrm>
            <a:off x="10469880" y="173736"/>
            <a:ext cx="1234440" cy="201168"/>
          </a:xfrm>
          <a:prstGeom prst="rect">
            <a:avLst/>
          </a:prstGeom>
          <a:noFill/>
          <a:ln>
            <a:noFill/>
          </a:ln>
        </p:spPr>
      </p:pic>
      <p:cxnSp>
        <p:nvCxnSpPr>
          <p:cNvPr id="116" name="Google Shape;116;p3"/>
          <p:cNvCxnSpPr/>
          <p:nvPr/>
        </p:nvCxnSpPr>
        <p:spPr>
          <a:xfrm>
            <a:off x="393192" y="6473952"/>
            <a:ext cx="11384280" cy="0"/>
          </a:xfrm>
          <a:prstGeom prst="straightConnector1">
            <a:avLst/>
          </a:prstGeom>
          <a:noFill/>
          <a:ln cap="flat" cmpd="sng" w="12700">
            <a:solidFill>
              <a:srgbClr val="1A3949"/>
            </a:solidFill>
            <a:prstDash val="solid"/>
            <a:round/>
            <a:headEnd len="sm" w="sm" type="none"/>
            <a:tailEnd len="sm" w="sm" type="none"/>
          </a:ln>
        </p:spPr>
      </p:cxnSp>
      <p:sp>
        <p:nvSpPr>
          <p:cNvPr id="117" name="Google Shape;117;p3"/>
          <p:cNvSpPr/>
          <p:nvPr/>
        </p:nvSpPr>
        <p:spPr>
          <a:xfrm>
            <a:off x="393192" y="6528816"/>
            <a:ext cx="2377440" cy="201168"/>
          </a:xfrm>
          <a:prstGeom prst="rect">
            <a:avLst/>
          </a:prstGeom>
          <a:noFill/>
          <a:ln>
            <a:noFill/>
          </a:ln>
        </p:spPr>
        <p:txBody>
          <a:bodyPr anchorCtr="0" anchor="ctr" bIns="500" lIns="500" spcFirstLastPara="1" rIns="500" wrap="square" tIns="500">
            <a:normAutofit/>
          </a:bodyPr>
          <a:lstStyle/>
          <a:p>
            <a:pPr indent="0" lvl="0" marL="0" marR="0" rtl="0" algn="l">
              <a:lnSpc>
                <a:spcPct val="100000"/>
              </a:lnSpc>
              <a:spcBef>
                <a:spcPts val="0"/>
              </a:spcBef>
              <a:spcAft>
                <a:spcPts val="0"/>
              </a:spcAft>
              <a:buClr>
                <a:srgbClr val="A7BED1"/>
              </a:buClr>
              <a:buSzPts val="900"/>
              <a:buFont typeface="Arial"/>
              <a:buNone/>
            </a:pPr>
            <a:r>
              <a:rPr b="0" i="0" lang="en-US" sz="900" u="none" cap="none" strike="noStrike">
                <a:solidFill>
                  <a:srgbClr val="A7BED1"/>
                </a:solidFill>
                <a:latin typeface="Arial"/>
                <a:ea typeface="Arial"/>
                <a:cs typeface="Arial"/>
                <a:sym typeface="Arial"/>
              </a:rPr>
              <a:t>AI Assists - Humans Decide</a:t>
            </a:r>
            <a:endParaRPr b="0" i="0" sz="900" u="none" cap="none" strike="noStrike">
              <a:solidFill>
                <a:schemeClr val="dk1"/>
              </a:solidFill>
              <a:latin typeface="Arial"/>
              <a:ea typeface="Arial"/>
              <a:cs typeface="Arial"/>
              <a:sym typeface="Arial"/>
            </a:endParaRPr>
          </a:p>
        </p:txBody>
      </p:sp>
      <p:sp>
        <p:nvSpPr>
          <p:cNvPr id="118" name="Google Shape;118;p3"/>
          <p:cNvSpPr/>
          <p:nvPr/>
        </p:nvSpPr>
        <p:spPr>
          <a:xfrm>
            <a:off x="11475720" y="6528816"/>
            <a:ext cx="320040" cy="201168"/>
          </a:xfrm>
          <a:prstGeom prst="rect">
            <a:avLst/>
          </a:prstGeom>
          <a:noFill/>
          <a:ln>
            <a:noFill/>
          </a:ln>
        </p:spPr>
        <p:txBody>
          <a:bodyPr anchorCtr="0" anchor="ctr" bIns="500" lIns="500" spcFirstLastPara="1" rIns="500" wrap="square" tIns="500">
            <a:normAutofit/>
          </a:bodyPr>
          <a:lstStyle/>
          <a:p>
            <a:pPr indent="0" lvl="0" marL="0" marR="0" rtl="0" algn="r">
              <a:lnSpc>
                <a:spcPct val="100000"/>
              </a:lnSpc>
              <a:spcBef>
                <a:spcPts val="0"/>
              </a:spcBef>
              <a:spcAft>
                <a:spcPts val="0"/>
              </a:spcAft>
              <a:buClr>
                <a:srgbClr val="A7BED1"/>
              </a:buClr>
              <a:buSzPts val="900"/>
              <a:buFont typeface="Arial"/>
              <a:buNone/>
            </a:pPr>
            <a:r>
              <a:rPr b="0" i="0" lang="en-US" sz="1400" u="none" cap="none" strike="noStrike">
                <a:solidFill>
                  <a:srgbClr val="000000"/>
                </a:solidFill>
                <a:latin typeface="Arial"/>
                <a:ea typeface="Arial"/>
                <a:cs typeface="Arial"/>
                <a:sym typeface="Arial"/>
              </a:rPr>
              <a:t>04</a:t>
            </a:r>
            <a:endParaRPr b="0" i="0" sz="900" u="none" cap="none" strike="noStrike">
              <a:solidFill>
                <a:schemeClr val="dk1"/>
              </a:solidFill>
              <a:latin typeface="Arial"/>
              <a:ea typeface="Arial"/>
              <a:cs typeface="Arial"/>
              <a:sym typeface="Arial"/>
            </a:endParaRPr>
          </a:p>
        </p:txBody>
      </p:sp>
      <p:sp>
        <p:nvSpPr>
          <p:cNvPr id="119" name="Google Shape;119;p3"/>
          <p:cNvSpPr/>
          <p:nvPr/>
        </p:nvSpPr>
        <p:spPr>
          <a:xfrm>
            <a:off x="685800" y="749800"/>
            <a:ext cx="9720000" cy="7518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4FAFF"/>
              </a:buClr>
              <a:buSzPts val="2700"/>
              <a:buFont typeface="Arial"/>
              <a:buNone/>
            </a:pPr>
            <a:r>
              <a:rPr b="1" i="0" lang="en-US" sz="2700" u="none" cap="none" strike="noStrike">
                <a:solidFill>
                  <a:srgbClr val="F4FAFF"/>
                </a:solidFill>
                <a:latin typeface="Arial"/>
                <a:ea typeface="Arial"/>
                <a:cs typeface="Arial"/>
                <a:sym typeface="Arial"/>
              </a:rPr>
              <a:t>The Proposed AI Solution: </a:t>
            </a:r>
            <a:endParaRPr b="1" i="0" sz="2700" u="none" cap="none" strike="noStrike">
              <a:solidFill>
                <a:srgbClr val="F4FAFF"/>
              </a:solidFill>
              <a:latin typeface="Arial"/>
              <a:ea typeface="Arial"/>
              <a:cs typeface="Arial"/>
              <a:sym typeface="Arial"/>
            </a:endParaRPr>
          </a:p>
          <a:p>
            <a:pPr indent="0" lvl="0" marL="0" marR="0" rtl="0" algn="l">
              <a:lnSpc>
                <a:spcPct val="100000"/>
              </a:lnSpc>
              <a:spcBef>
                <a:spcPts val="0"/>
              </a:spcBef>
              <a:spcAft>
                <a:spcPts val="0"/>
              </a:spcAft>
              <a:buClr>
                <a:srgbClr val="F4FAFF"/>
              </a:buClr>
              <a:buSzPts val="2700"/>
              <a:buFont typeface="Arial"/>
              <a:buNone/>
            </a:pPr>
            <a:r>
              <a:rPr b="1" i="0" lang="en-US" sz="2700" u="none" cap="none" strike="noStrike">
                <a:solidFill>
                  <a:srgbClr val="F4FAFF"/>
                </a:solidFill>
                <a:latin typeface="Arial"/>
                <a:ea typeface="Arial"/>
                <a:cs typeface="Arial"/>
                <a:sym typeface="Arial"/>
              </a:rPr>
              <a:t>An intelligence layer</a:t>
            </a:r>
            <a:r>
              <a:rPr b="1" lang="en-US" sz="2700">
                <a:solidFill>
                  <a:srgbClr val="F4FAFF"/>
                </a:solidFill>
              </a:rPr>
              <a:t> </a:t>
            </a:r>
            <a:r>
              <a:rPr b="1" i="0" lang="en-US" sz="2700" u="none" cap="none" strike="noStrike">
                <a:solidFill>
                  <a:srgbClr val="F4FAFF"/>
                </a:solidFill>
                <a:latin typeface="Arial"/>
                <a:ea typeface="Arial"/>
                <a:cs typeface="Arial"/>
                <a:sym typeface="Arial"/>
              </a:rPr>
              <a:t>Not a replacement</a:t>
            </a:r>
            <a:endParaRPr b="0" i="0" sz="2700" u="none" cap="none" strike="noStrike">
              <a:solidFill>
                <a:schemeClr val="dk1"/>
              </a:solidFill>
              <a:latin typeface="Arial"/>
              <a:ea typeface="Arial"/>
              <a:cs typeface="Arial"/>
              <a:sym typeface="Arial"/>
            </a:endParaRPr>
          </a:p>
        </p:txBody>
      </p:sp>
      <p:sp>
        <p:nvSpPr>
          <p:cNvPr id="120" name="Google Shape;120;p3"/>
          <p:cNvSpPr/>
          <p:nvPr/>
        </p:nvSpPr>
        <p:spPr>
          <a:xfrm>
            <a:off x="685800" y="1612925"/>
            <a:ext cx="7086600" cy="3201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A7BED1"/>
              </a:buClr>
              <a:buSzPts val="1420"/>
              <a:buFont typeface="Arial"/>
              <a:buNone/>
            </a:pPr>
            <a:r>
              <a:rPr b="0" i="0" lang="en-US" sz="1420" u="none" cap="none" strike="noStrike">
                <a:solidFill>
                  <a:srgbClr val="A7BED1"/>
                </a:solidFill>
                <a:latin typeface="Arial"/>
                <a:ea typeface="Arial"/>
                <a:cs typeface="Arial"/>
                <a:sym typeface="Arial"/>
              </a:rPr>
              <a:t>FinRadar sits between public news feeds and human analyst review.</a:t>
            </a:r>
            <a:endParaRPr b="0" i="0" sz="1420" u="none" cap="none" strike="noStrike">
              <a:solidFill>
                <a:schemeClr val="dk1"/>
              </a:solidFill>
              <a:latin typeface="Arial"/>
              <a:ea typeface="Arial"/>
              <a:cs typeface="Arial"/>
              <a:sym typeface="Arial"/>
            </a:endParaRPr>
          </a:p>
        </p:txBody>
      </p:sp>
      <p:sp>
        <p:nvSpPr>
          <p:cNvPr id="121" name="Google Shape;121;p3"/>
          <p:cNvSpPr/>
          <p:nvPr/>
        </p:nvSpPr>
        <p:spPr>
          <a:xfrm>
            <a:off x="722375" y="2044375"/>
            <a:ext cx="7507200" cy="2559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A7BED1"/>
              </a:buClr>
              <a:buSzPts val="1320"/>
              <a:buFont typeface="Arial"/>
              <a:buNone/>
            </a:pPr>
            <a:r>
              <a:rPr b="0" i="0" lang="en-US" sz="1320" u="none" cap="none" strike="noStrike">
                <a:solidFill>
                  <a:srgbClr val="A7BED1"/>
                </a:solidFill>
                <a:latin typeface="Arial"/>
                <a:ea typeface="Arial"/>
                <a:cs typeface="Arial"/>
                <a:sym typeface="Arial"/>
              </a:rPr>
              <a:t>Capabilities: NLP classification, summarisation, risk tagging and deterministic escalation.</a:t>
            </a:r>
            <a:endParaRPr b="0" i="0" sz="1320" u="none" cap="none" strike="noStrike">
              <a:solidFill>
                <a:schemeClr val="dk1"/>
              </a:solidFill>
              <a:latin typeface="Arial"/>
              <a:ea typeface="Arial"/>
              <a:cs typeface="Arial"/>
              <a:sym typeface="Arial"/>
            </a:endParaRPr>
          </a:p>
        </p:txBody>
      </p:sp>
      <p:cxnSp>
        <p:nvCxnSpPr>
          <p:cNvPr id="122" name="Google Shape;122;p3"/>
          <p:cNvCxnSpPr/>
          <p:nvPr/>
        </p:nvCxnSpPr>
        <p:spPr>
          <a:xfrm>
            <a:off x="1691640" y="2907792"/>
            <a:ext cx="704088" cy="0"/>
          </a:xfrm>
          <a:prstGeom prst="straightConnector1">
            <a:avLst/>
          </a:prstGeom>
          <a:noFill/>
          <a:ln cap="flat" cmpd="sng" w="25400">
            <a:solidFill>
              <a:srgbClr val="1B83F6"/>
            </a:solidFill>
            <a:prstDash val="solid"/>
            <a:round/>
            <a:headEnd len="sm" w="sm" type="none"/>
            <a:tailEnd len="med" w="med" type="triangle"/>
          </a:ln>
        </p:spPr>
      </p:cxnSp>
      <p:cxnSp>
        <p:nvCxnSpPr>
          <p:cNvPr id="123" name="Google Shape;123;p3"/>
          <p:cNvCxnSpPr/>
          <p:nvPr/>
        </p:nvCxnSpPr>
        <p:spPr>
          <a:xfrm>
            <a:off x="3794760" y="2907792"/>
            <a:ext cx="704088" cy="0"/>
          </a:xfrm>
          <a:prstGeom prst="straightConnector1">
            <a:avLst/>
          </a:prstGeom>
          <a:noFill/>
          <a:ln cap="flat" cmpd="sng" w="25400">
            <a:solidFill>
              <a:srgbClr val="1B83F6"/>
            </a:solidFill>
            <a:prstDash val="solid"/>
            <a:round/>
            <a:headEnd len="sm" w="sm" type="none"/>
            <a:tailEnd len="med" w="med" type="triangle"/>
          </a:ln>
        </p:spPr>
      </p:cxnSp>
      <p:cxnSp>
        <p:nvCxnSpPr>
          <p:cNvPr id="124" name="Google Shape;124;p3"/>
          <p:cNvCxnSpPr/>
          <p:nvPr/>
        </p:nvCxnSpPr>
        <p:spPr>
          <a:xfrm>
            <a:off x="5961897" y="2889505"/>
            <a:ext cx="713100" cy="0"/>
          </a:xfrm>
          <a:prstGeom prst="straightConnector1">
            <a:avLst/>
          </a:prstGeom>
          <a:noFill/>
          <a:ln cap="flat" cmpd="sng" w="25400">
            <a:solidFill>
              <a:srgbClr val="1B83F6"/>
            </a:solidFill>
            <a:prstDash val="solid"/>
            <a:round/>
            <a:headEnd len="sm" w="sm" type="none"/>
            <a:tailEnd len="med" w="med" type="triangle"/>
          </a:ln>
        </p:spPr>
      </p:cxnSp>
      <p:cxnSp>
        <p:nvCxnSpPr>
          <p:cNvPr id="125" name="Google Shape;125;p3"/>
          <p:cNvCxnSpPr/>
          <p:nvPr/>
        </p:nvCxnSpPr>
        <p:spPr>
          <a:xfrm>
            <a:off x="7927853" y="2907792"/>
            <a:ext cx="713100" cy="0"/>
          </a:xfrm>
          <a:prstGeom prst="straightConnector1">
            <a:avLst/>
          </a:prstGeom>
          <a:noFill/>
          <a:ln cap="flat" cmpd="sng" w="25400">
            <a:solidFill>
              <a:srgbClr val="1B83F6"/>
            </a:solidFill>
            <a:prstDash val="solid"/>
            <a:round/>
            <a:headEnd len="sm" w="sm" type="none"/>
            <a:tailEnd len="med" w="med" type="triangle"/>
          </a:ln>
        </p:spPr>
      </p:cxnSp>
      <p:sp>
        <p:nvSpPr>
          <p:cNvPr id="126" name="Google Shape;126;p3"/>
          <p:cNvSpPr/>
          <p:nvPr/>
        </p:nvSpPr>
        <p:spPr>
          <a:xfrm>
            <a:off x="685800" y="2487168"/>
            <a:ext cx="1143000" cy="841248"/>
          </a:xfrm>
          <a:prstGeom prst="roundRect">
            <a:avLst>
              <a:gd fmla="val 6522" name="adj"/>
            </a:avLst>
          </a:prstGeom>
          <a:solidFill>
            <a:srgbClr val="0C3045"/>
          </a:solidFill>
          <a:ln cap="flat" cmpd="sng" w="13950">
            <a:solidFill>
              <a:srgbClr val="31D7F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3"/>
          <p:cNvSpPr/>
          <p:nvPr/>
        </p:nvSpPr>
        <p:spPr>
          <a:xfrm>
            <a:off x="758952" y="2578608"/>
            <a:ext cx="996696" cy="658368"/>
          </a:xfrm>
          <a:prstGeom prst="rect">
            <a:avLst/>
          </a:prstGeom>
          <a:noFill/>
          <a:ln>
            <a:noFill/>
          </a:ln>
        </p:spPr>
        <p:txBody>
          <a:bodyPr anchorCtr="0" anchor="ctr" bIns="250" lIns="250" spcFirstLastPara="1" rIns="250" wrap="square" tIns="250">
            <a:normAutofit/>
          </a:bodyPr>
          <a:lstStyle/>
          <a:p>
            <a:pPr indent="0" lvl="0" marL="0" marR="0" rtl="0" algn="ctr">
              <a:lnSpc>
                <a:spcPct val="100000"/>
              </a:lnSpc>
              <a:spcBef>
                <a:spcPts val="0"/>
              </a:spcBef>
              <a:spcAft>
                <a:spcPts val="0"/>
              </a:spcAft>
              <a:buClr>
                <a:srgbClr val="F4FAFF"/>
              </a:buClr>
              <a:buSzPts val="1300"/>
              <a:buFont typeface="Arial"/>
              <a:buNone/>
            </a:pPr>
            <a:r>
              <a:rPr b="1" i="0" lang="en-US" sz="1300" u="none" cap="none" strike="noStrike">
                <a:solidFill>
                  <a:srgbClr val="F4FAFF"/>
                </a:solidFill>
                <a:latin typeface="Arial"/>
                <a:ea typeface="Arial"/>
                <a:cs typeface="Arial"/>
                <a:sym typeface="Arial"/>
              </a:rPr>
              <a:t>Public</a:t>
            </a:r>
            <a:endParaRPr b="0" i="0" sz="13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F4FAFF"/>
              </a:buClr>
              <a:buSzPts val="1300"/>
              <a:buFont typeface="Arial"/>
              <a:buNone/>
            </a:pPr>
            <a:r>
              <a:rPr b="1" i="0" lang="en-US" sz="1300" u="none" cap="none" strike="noStrike">
                <a:solidFill>
                  <a:srgbClr val="F4FAFF"/>
                </a:solidFill>
                <a:latin typeface="Arial"/>
                <a:ea typeface="Arial"/>
                <a:cs typeface="Arial"/>
                <a:sym typeface="Arial"/>
              </a:rPr>
              <a:t>News</a:t>
            </a:r>
            <a:endParaRPr b="0" i="0" sz="1300" u="none" cap="none" strike="noStrike">
              <a:solidFill>
                <a:schemeClr val="dk1"/>
              </a:solidFill>
              <a:latin typeface="Arial"/>
              <a:ea typeface="Arial"/>
              <a:cs typeface="Arial"/>
              <a:sym typeface="Arial"/>
            </a:endParaRPr>
          </a:p>
        </p:txBody>
      </p:sp>
      <p:sp>
        <p:nvSpPr>
          <p:cNvPr id="128" name="Google Shape;128;p3"/>
          <p:cNvSpPr/>
          <p:nvPr/>
        </p:nvSpPr>
        <p:spPr>
          <a:xfrm>
            <a:off x="2560320" y="2487168"/>
            <a:ext cx="1371600" cy="841248"/>
          </a:xfrm>
          <a:prstGeom prst="roundRect">
            <a:avLst>
              <a:gd fmla="val 6522" name="adj"/>
            </a:avLst>
          </a:prstGeom>
          <a:solidFill>
            <a:srgbClr val="0C3045"/>
          </a:solidFill>
          <a:ln cap="flat" cmpd="sng" w="13950">
            <a:solidFill>
              <a:srgbClr val="31D7F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3"/>
          <p:cNvSpPr/>
          <p:nvPr/>
        </p:nvSpPr>
        <p:spPr>
          <a:xfrm>
            <a:off x="2633472" y="2578608"/>
            <a:ext cx="1225296" cy="658368"/>
          </a:xfrm>
          <a:prstGeom prst="rect">
            <a:avLst/>
          </a:prstGeom>
          <a:noFill/>
          <a:ln>
            <a:noFill/>
          </a:ln>
        </p:spPr>
        <p:txBody>
          <a:bodyPr anchorCtr="0" anchor="ctr" bIns="250" lIns="250" spcFirstLastPara="1" rIns="250" wrap="square" tIns="250">
            <a:normAutofit/>
          </a:bodyPr>
          <a:lstStyle/>
          <a:p>
            <a:pPr indent="0" lvl="0" marL="0" marR="0" rtl="0" algn="ctr">
              <a:lnSpc>
                <a:spcPct val="100000"/>
              </a:lnSpc>
              <a:spcBef>
                <a:spcPts val="0"/>
              </a:spcBef>
              <a:spcAft>
                <a:spcPts val="0"/>
              </a:spcAft>
              <a:buClr>
                <a:srgbClr val="F4FAFF"/>
              </a:buClr>
              <a:buSzPts val="1300"/>
              <a:buFont typeface="Arial"/>
              <a:buNone/>
            </a:pPr>
            <a:r>
              <a:rPr b="1" i="0" lang="en-US" sz="1300" u="none" cap="none" strike="noStrike">
                <a:solidFill>
                  <a:srgbClr val="F4FAFF"/>
                </a:solidFill>
                <a:latin typeface="Arial"/>
                <a:ea typeface="Arial"/>
                <a:cs typeface="Arial"/>
                <a:sym typeface="Arial"/>
              </a:rPr>
              <a:t>FinRadar</a:t>
            </a:r>
            <a:endParaRPr b="0" i="0" sz="13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F4FAFF"/>
              </a:buClr>
              <a:buSzPts val="1300"/>
              <a:buFont typeface="Arial"/>
              <a:buNone/>
            </a:pPr>
            <a:r>
              <a:rPr b="1" i="0" lang="en-US" sz="1300" u="none" cap="none" strike="noStrike">
                <a:solidFill>
                  <a:srgbClr val="F4FAFF"/>
                </a:solidFill>
                <a:latin typeface="Arial"/>
                <a:ea typeface="Arial"/>
                <a:cs typeface="Arial"/>
                <a:sym typeface="Arial"/>
              </a:rPr>
              <a:t>Interface</a:t>
            </a:r>
            <a:endParaRPr b="0" i="0" sz="1300" u="none" cap="none" strike="noStrike">
              <a:solidFill>
                <a:schemeClr val="dk1"/>
              </a:solidFill>
              <a:latin typeface="Arial"/>
              <a:ea typeface="Arial"/>
              <a:cs typeface="Arial"/>
              <a:sym typeface="Arial"/>
            </a:endParaRPr>
          </a:p>
        </p:txBody>
      </p:sp>
      <p:sp>
        <p:nvSpPr>
          <p:cNvPr id="130" name="Google Shape;130;p3"/>
          <p:cNvSpPr/>
          <p:nvPr/>
        </p:nvSpPr>
        <p:spPr>
          <a:xfrm>
            <a:off x="4617720" y="2487168"/>
            <a:ext cx="1371600" cy="841248"/>
          </a:xfrm>
          <a:prstGeom prst="roundRect">
            <a:avLst>
              <a:gd fmla="val 6522" name="adj"/>
            </a:avLst>
          </a:prstGeom>
          <a:solidFill>
            <a:srgbClr val="0C3045"/>
          </a:solidFill>
          <a:ln cap="flat" cmpd="sng" w="13950">
            <a:solidFill>
              <a:srgbClr val="31D7F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3"/>
          <p:cNvSpPr/>
          <p:nvPr/>
        </p:nvSpPr>
        <p:spPr>
          <a:xfrm>
            <a:off x="4690872" y="2578608"/>
            <a:ext cx="1225296" cy="658368"/>
          </a:xfrm>
          <a:prstGeom prst="rect">
            <a:avLst/>
          </a:prstGeom>
          <a:noFill/>
          <a:ln>
            <a:noFill/>
          </a:ln>
        </p:spPr>
        <p:txBody>
          <a:bodyPr anchorCtr="0" anchor="ctr" bIns="250" lIns="250" spcFirstLastPara="1" rIns="250" wrap="square" tIns="250">
            <a:normAutofit/>
          </a:bodyPr>
          <a:lstStyle/>
          <a:p>
            <a:pPr indent="0" lvl="0" marL="0" marR="0" rtl="0" algn="ctr">
              <a:lnSpc>
                <a:spcPct val="100000"/>
              </a:lnSpc>
              <a:spcBef>
                <a:spcPts val="0"/>
              </a:spcBef>
              <a:spcAft>
                <a:spcPts val="0"/>
              </a:spcAft>
              <a:buClr>
                <a:srgbClr val="F4FAFF"/>
              </a:buClr>
              <a:buSzPts val="1200"/>
              <a:buFont typeface="Arial"/>
              <a:buNone/>
            </a:pPr>
            <a:r>
              <a:rPr b="1" i="0" lang="en-US" sz="1200" u="none" cap="none" strike="noStrike">
                <a:solidFill>
                  <a:srgbClr val="F4FAFF"/>
                </a:solidFill>
                <a:latin typeface="Arial"/>
                <a:ea typeface="Arial"/>
                <a:cs typeface="Arial"/>
                <a:sym typeface="Arial"/>
              </a:rPr>
              <a:t>GPT-5 Mini</a:t>
            </a:r>
            <a:endParaRPr b="0" i="0" sz="12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F4FAFF"/>
              </a:buClr>
              <a:buSzPts val="1200"/>
              <a:buFont typeface="Arial"/>
              <a:buNone/>
            </a:pPr>
            <a:r>
              <a:rPr b="1" i="0" lang="en-US" sz="1200" u="none" cap="none" strike="noStrike">
                <a:solidFill>
                  <a:srgbClr val="F4FAFF"/>
                </a:solidFill>
                <a:latin typeface="Arial"/>
                <a:ea typeface="Arial"/>
                <a:cs typeface="Arial"/>
                <a:sym typeface="Arial"/>
              </a:rPr>
              <a:t>Structured AI</a:t>
            </a:r>
            <a:endParaRPr b="0" i="0" sz="1200" u="none" cap="none" strike="noStrike">
              <a:solidFill>
                <a:schemeClr val="dk1"/>
              </a:solidFill>
              <a:latin typeface="Arial"/>
              <a:ea typeface="Arial"/>
              <a:cs typeface="Arial"/>
              <a:sym typeface="Arial"/>
            </a:endParaRPr>
          </a:p>
        </p:txBody>
      </p:sp>
      <p:sp>
        <p:nvSpPr>
          <p:cNvPr id="132" name="Google Shape;132;p3"/>
          <p:cNvSpPr/>
          <p:nvPr/>
        </p:nvSpPr>
        <p:spPr>
          <a:xfrm>
            <a:off x="6720840" y="2487168"/>
            <a:ext cx="1234440" cy="841248"/>
          </a:xfrm>
          <a:prstGeom prst="roundRect">
            <a:avLst>
              <a:gd fmla="val 6522" name="adj"/>
            </a:avLst>
          </a:prstGeom>
          <a:solidFill>
            <a:srgbClr val="113A2B"/>
          </a:solidFill>
          <a:ln cap="flat" cmpd="sng" w="13950">
            <a:solidFill>
              <a:srgbClr val="2EEA9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3"/>
          <p:cNvSpPr/>
          <p:nvPr/>
        </p:nvSpPr>
        <p:spPr>
          <a:xfrm>
            <a:off x="6793992" y="2578608"/>
            <a:ext cx="1088136" cy="658368"/>
          </a:xfrm>
          <a:prstGeom prst="rect">
            <a:avLst/>
          </a:prstGeom>
          <a:noFill/>
          <a:ln>
            <a:noFill/>
          </a:ln>
        </p:spPr>
        <p:txBody>
          <a:bodyPr anchorCtr="0" anchor="ctr" bIns="250" lIns="250" spcFirstLastPara="1" rIns="250" wrap="square" tIns="250">
            <a:normAutofit/>
          </a:bodyPr>
          <a:lstStyle/>
          <a:p>
            <a:pPr indent="0" lvl="0" marL="0" marR="0" rtl="0" algn="ctr">
              <a:lnSpc>
                <a:spcPct val="100000"/>
              </a:lnSpc>
              <a:spcBef>
                <a:spcPts val="0"/>
              </a:spcBef>
              <a:spcAft>
                <a:spcPts val="0"/>
              </a:spcAft>
              <a:buClr>
                <a:srgbClr val="F4FAFF"/>
              </a:buClr>
              <a:buSzPts val="1300"/>
              <a:buFont typeface="Arial"/>
              <a:buNone/>
            </a:pPr>
            <a:r>
              <a:rPr b="1" i="0" lang="en-US" sz="1300" u="none" cap="none" strike="noStrike">
                <a:solidFill>
                  <a:srgbClr val="F4FAFF"/>
                </a:solidFill>
                <a:latin typeface="Arial"/>
                <a:ea typeface="Arial"/>
                <a:cs typeface="Arial"/>
                <a:sym typeface="Arial"/>
              </a:rPr>
              <a:t>Explicit</a:t>
            </a:r>
            <a:endParaRPr b="0" i="0" sz="13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F4FAFF"/>
              </a:buClr>
              <a:buSzPts val="1300"/>
              <a:buFont typeface="Arial"/>
              <a:buNone/>
            </a:pPr>
            <a:r>
              <a:rPr b="1" i="0" lang="en-US" sz="1300" u="none" cap="none" strike="noStrike">
                <a:solidFill>
                  <a:srgbClr val="F4FAFF"/>
                </a:solidFill>
                <a:latin typeface="Arial"/>
                <a:ea typeface="Arial"/>
                <a:cs typeface="Arial"/>
                <a:sym typeface="Arial"/>
              </a:rPr>
              <a:t>Rules</a:t>
            </a:r>
            <a:endParaRPr b="0" i="0" sz="1300" u="none" cap="none" strike="noStrike">
              <a:solidFill>
                <a:schemeClr val="dk1"/>
              </a:solidFill>
              <a:latin typeface="Arial"/>
              <a:ea typeface="Arial"/>
              <a:cs typeface="Arial"/>
              <a:sym typeface="Arial"/>
            </a:endParaRPr>
          </a:p>
        </p:txBody>
      </p:sp>
      <p:sp>
        <p:nvSpPr>
          <p:cNvPr id="134" name="Google Shape;134;p3"/>
          <p:cNvSpPr/>
          <p:nvPr/>
        </p:nvSpPr>
        <p:spPr>
          <a:xfrm>
            <a:off x="8686801" y="2487175"/>
            <a:ext cx="1463100" cy="841200"/>
          </a:xfrm>
          <a:prstGeom prst="roundRect">
            <a:avLst>
              <a:gd fmla="val 6522" name="adj"/>
            </a:avLst>
          </a:prstGeom>
          <a:solidFill>
            <a:srgbClr val="0E3144"/>
          </a:solidFill>
          <a:ln cap="flat" cmpd="sng" w="13950">
            <a:solidFill>
              <a:srgbClr val="1B83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3"/>
          <p:cNvSpPr/>
          <p:nvPr/>
        </p:nvSpPr>
        <p:spPr>
          <a:xfrm>
            <a:off x="8897112" y="2578608"/>
            <a:ext cx="1179576" cy="658368"/>
          </a:xfrm>
          <a:prstGeom prst="rect">
            <a:avLst/>
          </a:prstGeom>
          <a:noFill/>
          <a:ln>
            <a:noFill/>
          </a:ln>
        </p:spPr>
        <p:txBody>
          <a:bodyPr anchorCtr="0" anchor="ctr" bIns="250" lIns="250" spcFirstLastPara="1" rIns="250" wrap="square" tIns="250">
            <a:normAutofit/>
          </a:bodyPr>
          <a:lstStyle/>
          <a:p>
            <a:pPr indent="0" lvl="0" marL="0" marR="0" rtl="0" algn="ctr">
              <a:lnSpc>
                <a:spcPct val="100000"/>
              </a:lnSpc>
              <a:spcBef>
                <a:spcPts val="0"/>
              </a:spcBef>
              <a:spcAft>
                <a:spcPts val="0"/>
              </a:spcAft>
              <a:buClr>
                <a:srgbClr val="F4FAFF"/>
              </a:buClr>
              <a:buSzPts val="1300"/>
              <a:buFont typeface="Arial"/>
              <a:buNone/>
            </a:pPr>
            <a:r>
              <a:rPr b="1" i="0" lang="en-US" sz="1300" u="none" cap="none" strike="noStrike">
                <a:solidFill>
                  <a:srgbClr val="F4FAFF"/>
                </a:solidFill>
                <a:latin typeface="Arial"/>
                <a:ea typeface="Arial"/>
                <a:cs typeface="Arial"/>
                <a:sym typeface="Arial"/>
              </a:rPr>
              <a:t>Human</a:t>
            </a:r>
            <a:endParaRPr b="0" i="0" sz="13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F4FAFF"/>
              </a:buClr>
              <a:buSzPts val="1300"/>
              <a:buFont typeface="Arial"/>
              <a:buNone/>
            </a:pPr>
            <a:r>
              <a:rPr b="1" i="0" lang="en-US" sz="1300" u="none" cap="none" strike="noStrike">
                <a:solidFill>
                  <a:srgbClr val="F4FAFF"/>
                </a:solidFill>
                <a:latin typeface="Arial"/>
                <a:ea typeface="Arial"/>
                <a:cs typeface="Arial"/>
                <a:sym typeface="Arial"/>
              </a:rPr>
              <a:t>Analyst</a:t>
            </a:r>
            <a:endParaRPr b="0" i="0" sz="1300" u="none" cap="none" strike="noStrike">
              <a:solidFill>
                <a:schemeClr val="dk1"/>
              </a:solidFill>
              <a:latin typeface="Arial"/>
              <a:ea typeface="Arial"/>
              <a:cs typeface="Arial"/>
              <a:sym typeface="Arial"/>
            </a:endParaRPr>
          </a:p>
        </p:txBody>
      </p:sp>
      <p:sp>
        <p:nvSpPr>
          <p:cNvPr id="136" name="Google Shape;136;p3"/>
          <p:cNvSpPr/>
          <p:nvPr/>
        </p:nvSpPr>
        <p:spPr>
          <a:xfrm>
            <a:off x="685800" y="3657600"/>
            <a:ext cx="5715000" cy="1920240"/>
          </a:xfrm>
          <a:prstGeom prst="roundRect">
            <a:avLst>
              <a:gd fmla="val 2857" name="adj"/>
            </a:avLst>
          </a:prstGeom>
          <a:solidFill>
            <a:srgbClr val="06111A"/>
          </a:solidFill>
          <a:ln cap="flat" cmpd="sng" w="10150">
            <a:solidFill>
              <a:srgbClr val="143C50"/>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mnt/data/9bdb6d83-5e11-4c79-bcde-7fd438453412.png" id="137" name="Google Shape;137;p3"/>
          <p:cNvPicPr preferRelativeResize="0"/>
          <p:nvPr/>
        </p:nvPicPr>
        <p:blipFill rotWithShape="1">
          <a:blip r:embed="rId5">
            <a:alphaModFix/>
          </a:blip>
          <a:srcRect b="21721" l="0" r="0" t="21721"/>
          <a:stretch/>
        </p:blipFill>
        <p:spPr>
          <a:xfrm>
            <a:off x="722375" y="3694175"/>
            <a:ext cx="7159750" cy="2344050"/>
          </a:xfrm>
          <a:prstGeom prst="rect">
            <a:avLst/>
          </a:prstGeom>
          <a:noFill/>
          <a:ln>
            <a:noFill/>
          </a:ln>
        </p:spPr>
      </p:pic>
      <p:sp>
        <p:nvSpPr>
          <p:cNvPr id="138" name="Google Shape;138;p3"/>
          <p:cNvSpPr/>
          <p:nvPr/>
        </p:nvSpPr>
        <p:spPr>
          <a:xfrm>
            <a:off x="795528" y="5175504"/>
            <a:ext cx="5495544" cy="256032"/>
          </a:xfrm>
          <a:prstGeom prst="roundRect">
            <a:avLst>
              <a:gd fmla="val 14286" name="adj"/>
            </a:avLst>
          </a:prstGeom>
          <a:solidFill>
            <a:srgbClr val="05131D">
              <a:alpha val="85098"/>
            </a:srgbClr>
          </a:solidFill>
          <a:ln cap="flat" cmpd="sng" w="12700">
            <a:solidFill>
              <a:srgbClr val="05131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3"/>
          <p:cNvSpPr/>
          <p:nvPr/>
        </p:nvSpPr>
        <p:spPr>
          <a:xfrm>
            <a:off x="850392" y="5239512"/>
            <a:ext cx="5385816" cy="128016"/>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A7BED1"/>
              </a:buClr>
              <a:buSzPts val="760"/>
              <a:buFont typeface="Arial"/>
              <a:buNone/>
            </a:pPr>
            <a:r>
              <a:rPr b="1" i="0" lang="en-US" sz="760" u="none" cap="none" strike="noStrike">
                <a:solidFill>
                  <a:srgbClr val="A7BED1"/>
                </a:solidFill>
                <a:latin typeface="Arial"/>
                <a:ea typeface="Arial"/>
                <a:cs typeface="Arial"/>
                <a:sym typeface="Arial"/>
              </a:rPr>
              <a:t>Working MVP interface</a:t>
            </a:r>
            <a:endParaRPr b="0" i="0" sz="760" u="none" cap="none" strike="noStrike">
              <a:solidFill>
                <a:schemeClr val="dk1"/>
              </a:solidFill>
              <a:latin typeface="Arial"/>
              <a:ea typeface="Arial"/>
              <a:cs typeface="Arial"/>
              <a:sym typeface="Arial"/>
            </a:endParaRPr>
          </a:p>
        </p:txBody>
      </p:sp>
      <p:sp>
        <p:nvSpPr>
          <p:cNvPr id="140" name="Google Shape;140;p3"/>
          <p:cNvSpPr/>
          <p:nvPr/>
        </p:nvSpPr>
        <p:spPr>
          <a:xfrm>
            <a:off x="7955275" y="3657600"/>
            <a:ext cx="2743200" cy="2344200"/>
          </a:xfrm>
          <a:prstGeom prst="roundRect">
            <a:avLst>
              <a:gd fmla="val 3333" name="adj"/>
            </a:avLst>
          </a:prstGeom>
          <a:solidFill>
            <a:srgbClr val="0C2D2A"/>
          </a:solidFill>
          <a:ln cap="flat" cmpd="sng" w="11425">
            <a:solidFill>
              <a:srgbClr val="2EEA9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3"/>
          <p:cNvSpPr/>
          <p:nvPr/>
        </p:nvSpPr>
        <p:spPr>
          <a:xfrm>
            <a:off x="8165075" y="3785625"/>
            <a:ext cx="1984800" cy="4299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F4FAFF"/>
              </a:buClr>
              <a:buSzPts val="1600"/>
              <a:buFont typeface="Arial"/>
              <a:buNone/>
            </a:pPr>
            <a:r>
              <a:rPr b="1" i="0" lang="en-US" sz="1600" u="none" cap="none" strike="noStrike">
                <a:solidFill>
                  <a:srgbClr val="F4FAFF"/>
                </a:solidFill>
                <a:latin typeface="Arial"/>
                <a:ea typeface="Arial"/>
                <a:cs typeface="Arial"/>
                <a:sym typeface="Arial"/>
              </a:rPr>
              <a:t>Transparency by design</a:t>
            </a:r>
            <a:endParaRPr b="0" i="0" sz="1600" u="none" cap="none" strike="noStrike">
              <a:solidFill>
                <a:schemeClr val="dk1"/>
              </a:solidFill>
              <a:latin typeface="Arial"/>
              <a:ea typeface="Arial"/>
              <a:cs typeface="Arial"/>
              <a:sym typeface="Arial"/>
            </a:endParaRPr>
          </a:p>
        </p:txBody>
      </p:sp>
      <p:sp>
        <p:nvSpPr>
          <p:cNvPr id="142" name="Google Shape;142;p3"/>
          <p:cNvSpPr/>
          <p:nvPr/>
        </p:nvSpPr>
        <p:spPr>
          <a:xfrm>
            <a:off x="8459600" y="4215525"/>
            <a:ext cx="1781100" cy="1539900"/>
          </a:xfrm>
          <a:prstGeom prst="rect">
            <a:avLst/>
          </a:prstGeom>
          <a:noFill/>
          <a:ln>
            <a:noFill/>
          </a:ln>
        </p:spPr>
        <p:txBody>
          <a:bodyPr anchorCtr="0" anchor="t" bIns="250" lIns="250" spcFirstLastPara="1" rIns="250" wrap="square" tIns="250">
            <a:normAutofit/>
          </a:bodyPr>
          <a:lstStyle/>
          <a:p>
            <a:pPr indent="0" lvl="0" marL="0" marR="0" rtl="0" algn="ctr">
              <a:lnSpc>
                <a:spcPct val="100000"/>
              </a:lnSpc>
              <a:spcBef>
                <a:spcPts val="0"/>
              </a:spcBef>
              <a:spcAft>
                <a:spcPts val="0"/>
              </a:spcAft>
              <a:buClr>
                <a:srgbClr val="A7BED1"/>
              </a:buClr>
              <a:buSzPts val="1310"/>
              <a:buFont typeface="Arial"/>
              <a:buNone/>
            </a:pPr>
            <a:r>
              <a:t/>
            </a:r>
            <a:endParaRPr b="0" i="0" sz="1310" u="none" cap="none" strike="noStrike">
              <a:solidFill>
                <a:srgbClr val="A7BED1"/>
              </a:solidFill>
              <a:latin typeface="Arial"/>
              <a:ea typeface="Arial"/>
              <a:cs typeface="Arial"/>
              <a:sym typeface="Arial"/>
            </a:endParaRPr>
          </a:p>
          <a:p>
            <a:pPr indent="0" lvl="0" marL="0" marR="0" rtl="0" algn="ctr">
              <a:lnSpc>
                <a:spcPct val="100000"/>
              </a:lnSpc>
              <a:spcBef>
                <a:spcPts val="0"/>
              </a:spcBef>
              <a:spcAft>
                <a:spcPts val="0"/>
              </a:spcAft>
              <a:buClr>
                <a:srgbClr val="A7BED1"/>
              </a:buClr>
              <a:buSzPts val="1310"/>
              <a:buFont typeface="Arial"/>
              <a:buNone/>
            </a:pPr>
            <a:r>
              <a:rPr b="0" i="0" lang="en-US" sz="1310" u="none" cap="none" strike="noStrike">
                <a:solidFill>
                  <a:srgbClr val="A7BED1"/>
                </a:solidFill>
                <a:latin typeface="Arial"/>
                <a:ea typeface="Arial"/>
                <a:cs typeface="Arial"/>
                <a:sym typeface="Arial"/>
              </a:rPr>
              <a:t>The analyst sees the source, the structured AI output and the escalation outcome. The AI suggests; The rule routes; The analyst decides.</a:t>
            </a:r>
            <a:endParaRPr b="0" i="0" sz="131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1724"/>
        </a:solidFill>
      </p:bgPr>
    </p:bg>
    <p:spTree>
      <p:nvGrpSpPr>
        <p:cNvPr id="147" name="Shape 147"/>
        <p:cNvGrpSpPr/>
        <p:nvPr/>
      </p:nvGrpSpPr>
      <p:grpSpPr>
        <a:xfrm>
          <a:off x="0" y="0"/>
          <a:ext cx="0" cy="0"/>
          <a:chOff x="0" y="0"/>
          <a:chExt cx="0" cy="0"/>
        </a:xfrm>
      </p:grpSpPr>
      <p:pic>
        <p:nvPicPr>
          <p:cNvPr descr="/mnt/data/finradar_logo_watermark_dark.png" id="148" name="Google Shape;148;p4"/>
          <p:cNvPicPr preferRelativeResize="0"/>
          <p:nvPr/>
        </p:nvPicPr>
        <p:blipFill rotWithShape="1">
          <a:blip r:embed="rId3">
            <a:alphaModFix/>
          </a:blip>
          <a:srcRect b="0" l="0" r="0" t="0"/>
          <a:stretch/>
        </p:blipFill>
        <p:spPr>
          <a:xfrm>
            <a:off x="10561320" y="502920"/>
            <a:ext cx="685800" cy="685800"/>
          </a:xfrm>
          <a:prstGeom prst="rect">
            <a:avLst/>
          </a:prstGeom>
          <a:noFill/>
          <a:ln>
            <a:noFill/>
          </a:ln>
        </p:spPr>
      </p:pic>
      <p:sp>
        <p:nvSpPr>
          <p:cNvPr id="149" name="Google Shape;149;p4"/>
          <p:cNvSpPr/>
          <p:nvPr/>
        </p:nvSpPr>
        <p:spPr>
          <a:xfrm>
            <a:off x="393192" y="228600"/>
            <a:ext cx="2743200" cy="219456"/>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31D7F7"/>
              </a:buClr>
              <a:buSzPts val="950"/>
              <a:buFont typeface="Arial"/>
              <a:buNone/>
            </a:pPr>
            <a:r>
              <a:rPr b="1" i="0" lang="en-US" sz="1200" u="none" cap="none" strike="noStrike">
                <a:solidFill>
                  <a:srgbClr val="31D7F7"/>
                </a:solidFill>
                <a:latin typeface="Arial"/>
                <a:ea typeface="Arial"/>
                <a:cs typeface="Arial"/>
                <a:sym typeface="Arial"/>
              </a:rPr>
              <a:t>FinRadar AI | Round 2</a:t>
            </a:r>
            <a:endParaRPr b="0" i="0" sz="1200" u="none" cap="none" strike="noStrike">
              <a:solidFill>
                <a:schemeClr val="dk1"/>
              </a:solidFill>
              <a:latin typeface="Arial"/>
              <a:ea typeface="Arial"/>
              <a:cs typeface="Arial"/>
              <a:sym typeface="Arial"/>
            </a:endParaRPr>
          </a:p>
        </p:txBody>
      </p:sp>
      <p:pic>
        <p:nvPicPr>
          <p:cNvPr descr="/mnt/data/ironhack-logo.png" id="150" name="Google Shape;150;p4"/>
          <p:cNvPicPr preferRelativeResize="0"/>
          <p:nvPr/>
        </p:nvPicPr>
        <p:blipFill rotWithShape="1">
          <a:blip r:embed="rId4">
            <a:alphaModFix/>
          </a:blip>
          <a:srcRect b="0" l="0" r="0" t="0"/>
          <a:stretch/>
        </p:blipFill>
        <p:spPr>
          <a:xfrm>
            <a:off x="10469880" y="173736"/>
            <a:ext cx="1234440" cy="201168"/>
          </a:xfrm>
          <a:prstGeom prst="rect">
            <a:avLst/>
          </a:prstGeom>
          <a:noFill/>
          <a:ln>
            <a:noFill/>
          </a:ln>
        </p:spPr>
      </p:pic>
      <p:cxnSp>
        <p:nvCxnSpPr>
          <p:cNvPr id="151" name="Google Shape;151;p4"/>
          <p:cNvCxnSpPr/>
          <p:nvPr/>
        </p:nvCxnSpPr>
        <p:spPr>
          <a:xfrm>
            <a:off x="393192" y="6473952"/>
            <a:ext cx="11384280" cy="0"/>
          </a:xfrm>
          <a:prstGeom prst="straightConnector1">
            <a:avLst/>
          </a:prstGeom>
          <a:noFill/>
          <a:ln cap="flat" cmpd="sng" w="12700">
            <a:solidFill>
              <a:srgbClr val="1A3949"/>
            </a:solidFill>
            <a:prstDash val="solid"/>
            <a:round/>
            <a:headEnd len="sm" w="sm" type="none"/>
            <a:tailEnd len="sm" w="sm" type="none"/>
          </a:ln>
        </p:spPr>
      </p:cxnSp>
      <p:sp>
        <p:nvSpPr>
          <p:cNvPr id="152" name="Google Shape;152;p4"/>
          <p:cNvSpPr/>
          <p:nvPr/>
        </p:nvSpPr>
        <p:spPr>
          <a:xfrm>
            <a:off x="393192" y="6528816"/>
            <a:ext cx="2377440" cy="201168"/>
          </a:xfrm>
          <a:prstGeom prst="rect">
            <a:avLst/>
          </a:prstGeom>
          <a:noFill/>
          <a:ln>
            <a:noFill/>
          </a:ln>
        </p:spPr>
        <p:txBody>
          <a:bodyPr anchorCtr="0" anchor="ctr" bIns="500" lIns="500" spcFirstLastPara="1" rIns="500" wrap="square" tIns="500">
            <a:normAutofit/>
          </a:bodyPr>
          <a:lstStyle/>
          <a:p>
            <a:pPr indent="0" lvl="0" marL="0" marR="0" rtl="0" algn="l">
              <a:lnSpc>
                <a:spcPct val="100000"/>
              </a:lnSpc>
              <a:spcBef>
                <a:spcPts val="0"/>
              </a:spcBef>
              <a:spcAft>
                <a:spcPts val="0"/>
              </a:spcAft>
              <a:buClr>
                <a:srgbClr val="A7BED1"/>
              </a:buClr>
              <a:buSzPts val="900"/>
              <a:buFont typeface="Arial"/>
              <a:buNone/>
            </a:pPr>
            <a:r>
              <a:rPr b="0" i="0" lang="en-US" sz="1200" u="none" cap="none" strike="noStrike">
                <a:solidFill>
                  <a:srgbClr val="A7BED1"/>
                </a:solidFill>
                <a:latin typeface="Arial"/>
                <a:ea typeface="Arial"/>
                <a:cs typeface="Arial"/>
                <a:sym typeface="Arial"/>
              </a:rPr>
              <a:t>AI Assists - Humans Decide</a:t>
            </a:r>
            <a:endParaRPr b="0" i="0" sz="1200" u="none" cap="none" strike="noStrike">
              <a:solidFill>
                <a:schemeClr val="dk1"/>
              </a:solidFill>
              <a:latin typeface="Arial"/>
              <a:ea typeface="Arial"/>
              <a:cs typeface="Arial"/>
              <a:sym typeface="Arial"/>
            </a:endParaRPr>
          </a:p>
        </p:txBody>
      </p:sp>
      <p:sp>
        <p:nvSpPr>
          <p:cNvPr id="153" name="Google Shape;153;p4"/>
          <p:cNvSpPr/>
          <p:nvPr/>
        </p:nvSpPr>
        <p:spPr>
          <a:xfrm>
            <a:off x="11475720" y="6528816"/>
            <a:ext cx="320040" cy="201168"/>
          </a:xfrm>
          <a:prstGeom prst="rect">
            <a:avLst/>
          </a:prstGeom>
          <a:noFill/>
          <a:ln>
            <a:noFill/>
          </a:ln>
        </p:spPr>
        <p:txBody>
          <a:bodyPr anchorCtr="0" anchor="ctr" bIns="500" lIns="500" spcFirstLastPara="1" rIns="500" wrap="square" tIns="500">
            <a:normAutofit/>
          </a:bodyPr>
          <a:lstStyle/>
          <a:p>
            <a:pPr indent="0" lvl="0" marL="0" marR="0" rtl="0" algn="r">
              <a:lnSpc>
                <a:spcPct val="100000"/>
              </a:lnSpc>
              <a:spcBef>
                <a:spcPts val="0"/>
              </a:spcBef>
              <a:spcAft>
                <a:spcPts val="0"/>
              </a:spcAft>
              <a:buClr>
                <a:srgbClr val="A7BED1"/>
              </a:buClr>
              <a:buSzPts val="900"/>
              <a:buFont typeface="Arial"/>
              <a:buNone/>
            </a:pPr>
            <a:r>
              <a:rPr b="0" i="0" lang="en-US" sz="1400" u="none" cap="none" strike="noStrike">
                <a:solidFill>
                  <a:srgbClr val="000000"/>
                </a:solidFill>
                <a:latin typeface="Arial"/>
                <a:ea typeface="Arial"/>
                <a:cs typeface="Arial"/>
                <a:sym typeface="Arial"/>
              </a:rPr>
              <a:t>05</a:t>
            </a:r>
            <a:endParaRPr b="0" i="0" sz="900" u="none" cap="none" strike="noStrike">
              <a:solidFill>
                <a:schemeClr val="dk1"/>
              </a:solidFill>
              <a:latin typeface="Arial"/>
              <a:ea typeface="Arial"/>
              <a:cs typeface="Arial"/>
              <a:sym typeface="Arial"/>
            </a:endParaRPr>
          </a:p>
        </p:txBody>
      </p:sp>
      <p:sp>
        <p:nvSpPr>
          <p:cNvPr id="154" name="Google Shape;154;p4"/>
          <p:cNvSpPr/>
          <p:nvPr/>
        </p:nvSpPr>
        <p:spPr>
          <a:xfrm>
            <a:off x="530350" y="566925"/>
            <a:ext cx="9692700" cy="5691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4FAFF"/>
              </a:buClr>
              <a:buSzPts val="2700"/>
              <a:buFont typeface="Arial"/>
              <a:buNone/>
            </a:pPr>
            <a:r>
              <a:rPr b="1" i="0" lang="en-US" sz="2700" u="none" cap="none" strike="noStrike">
                <a:solidFill>
                  <a:srgbClr val="F4FAFF"/>
                </a:solidFill>
                <a:latin typeface="Arial"/>
                <a:ea typeface="Arial"/>
                <a:cs typeface="Arial"/>
                <a:sym typeface="Arial"/>
              </a:rPr>
              <a:t>POC Demo: Round 1 proof of concept and what changed</a:t>
            </a:r>
            <a:endParaRPr b="0" i="0" sz="2700" u="none" cap="none" strike="noStrike">
              <a:solidFill>
                <a:schemeClr val="dk1"/>
              </a:solidFill>
              <a:latin typeface="Arial"/>
              <a:ea typeface="Arial"/>
              <a:cs typeface="Arial"/>
              <a:sym typeface="Arial"/>
            </a:endParaRPr>
          </a:p>
        </p:txBody>
      </p:sp>
      <p:sp>
        <p:nvSpPr>
          <p:cNvPr id="155" name="Google Shape;155;p4"/>
          <p:cNvSpPr/>
          <p:nvPr/>
        </p:nvSpPr>
        <p:spPr>
          <a:xfrm>
            <a:off x="621792" y="1417320"/>
            <a:ext cx="7132320" cy="4187952"/>
          </a:xfrm>
          <a:prstGeom prst="roundRect">
            <a:avLst>
              <a:gd fmla="val 1310" name="adj"/>
            </a:avLst>
          </a:prstGeom>
          <a:solidFill>
            <a:srgbClr val="06111A"/>
          </a:solidFill>
          <a:ln cap="flat" cmpd="sng" w="10150">
            <a:solidFill>
              <a:srgbClr val="0E4558"/>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mnt/data/n8n-workflow.png" id="156" name="Google Shape;156;p4"/>
          <p:cNvPicPr preferRelativeResize="0"/>
          <p:nvPr/>
        </p:nvPicPr>
        <p:blipFill rotWithShape="1">
          <a:blip r:embed="rId5">
            <a:alphaModFix/>
          </a:blip>
          <a:srcRect b="0" l="1610" r="1610" t="0"/>
          <a:stretch/>
        </p:blipFill>
        <p:spPr>
          <a:xfrm>
            <a:off x="557800" y="1407125"/>
            <a:ext cx="7607801" cy="4409767"/>
          </a:xfrm>
          <a:prstGeom prst="rect">
            <a:avLst/>
          </a:prstGeom>
          <a:noFill/>
          <a:ln>
            <a:noFill/>
          </a:ln>
        </p:spPr>
      </p:pic>
      <p:sp>
        <p:nvSpPr>
          <p:cNvPr id="157" name="Google Shape;157;p4"/>
          <p:cNvSpPr/>
          <p:nvPr/>
        </p:nvSpPr>
        <p:spPr>
          <a:xfrm>
            <a:off x="731520" y="5202936"/>
            <a:ext cx="6912864" cy="256032"/>
          </a:xfrm>
          <a:prstGeom prst="roundRect">
            <a:avLst>
              <a:gd fmla="val 14286" name="adj"/>
            </a:avLst>
          </a:prstGeom>
          <a:solidFill>
            <a:srgbClr val="05131D">
              <a:alpha val="85098"/>
            </a:srgbClr>
          </a:solidFill>
          <a:ln cap="flat" cmpd="sng" w="12700">
            <a:solidFill>
              <a:srgbClr val="05131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4"/>
          <p:cNvSpPr/>
          <p:nvPr/>
        </p:nvSpPr>
        <p:spPr>
          <a:xfrm>
            <a:off x="786384" y="5266944"/>
            <a:ext cx="6803136" cy="128016"/>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A7BED1"/>
              </a:buClr>
              <a:buSzPts val="760"/>
              <a:buFont typeface="Arial"/>
              <a:buNone/>
            </a:pPr>
            <a:r>
              <a:rPr b="1" i="0" lang="en-US" sz="760" u="none" cap="none" strike="noStrike">
                <a:solidFill>
                  <a:srgbClr val="A7BED1"/>
                </a:solidFill>
                <a:latin typeface="Arial"/>
                <a:ea typeface="Arial"/>
                <a:cs typeface="Arial"/>
                <a:sym typeface="Arial"/>
              </a:rPr>
              <a:t>Play recorded n8n POC here</a:t>
            </a:r>
            <a:endParaRPr b="0" i="0" sz="760" u="none" cap="none" strike="noStrike">
              <a:solidFill>
                <a:schemeClr val="dk1"/>
              </a:solidFill>
              <a:latin typeface="Arial"/>
              <a:ea typeface="Arial"/>
              <a:cs typeface="Arial"/>
              <a:sym typeface="Arial"/>
            </a:endParaRPr>
          </a:p>
        </p:txBody>
      </p:sp>
      <p:sp>
        <p:nvSpPr>
          <p:cNvPr id="159" name="Google Shape;159;p4"/>
          <p:cNvSpPr/>
          <p:nvPr/>
        </p:nvSpPr>
        <p:spPr>
          <a:xfrm>
            <a:off x="8165600" y="1417325"/>
            <a:ext cx="3127200" cy="1669500"/>
          </a:xfrm>
          <a:prstGeom prst="roundRect">
            <a:avLst>
              <a:gd fmla="val 2800" name="adj"/>
            </a:avLst>
          </a:prstGeom>
          <a:solidFill>
            <a:srgbClr val="0C2A3A"/>
          </a:solidFill>
          <a:ln cap="flat" cmpd="sng" w="11425">
            <a:solidFill>
              <a:srgbClr val="31D7F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4"/>
          <p:cNvSpPr/>
          <p:nvPr/>
        </p:nvSpPr>
        <p:spPr>
          <a:xfrm>
            <a:off x="8165600" y="1428625"/>
            <a:ext cx="2962800" cy="5691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F4FAFF"/>
              </a:buClr>
              <a:buSzPts val="1600"/>
              <a:buFont typeface="Arial"/>
              <a:buNone/>
            </a:pPr>
            <a:r>
              <a:rPr b="1" i="0" lang="en-US" sz="1400" u="none" cap="none" strike="noStrike">
                <a:solidFill>
                  <a:srgbClr val="F4FAFF"/>
                </a:solidFill>
                <a:latin typeface="Arial"/>
                <a:ea typeface="Arial"/>
                <a:cs typeface="Arial"/>
                <a:sym typeface="Arial"/>
              </a:rPr>
              <a:t>Bridge from Round 1 to Round 2</a:t>
            </a:r>
            <a:endParaRPr b="0" i="0" sz="1400" u="none" cap="none" strike="noStrike">
              <a:solidFill>
                <a:schemeClr val="dk1"/>
              </a:solidFill>
              <a:latin typeface="Arial"/>
              <a:ea typeface="Arial"/>
              <a:cs typeface="Arial"/>
              <a:sym typeface="Arial"/>
            </a:endParaRPr>
          </a:p>
        </p:txBody>
      </p:sp>
      <p:sp>
        <p:nvSpPr>
          <p:cNvPr id="161" name="Google Shape;161;p4"/>
          <p:cNvSpPr/>
          <p:nvPr/>
        </p:nvSpPr>
        <p:spPr>
          <a:xfrm>
            <a:off x="8275325" y="1987062"/>
            <a:ext cx="2788800" cy="1099800"/>
          </a:xfrm>
          <a:prstGeom prst="rect">
            <a:avLst/>
          </a:prstGeom>
          <a:noFill/>
          <a:ln>
            <a:noFill/>
          </a:ln>
        </p:spPr>
        <p:txBody>
          <a:bodyPr anchorCtr="0" anchor="t" bIns="500" lIns="500" spcFirstLastPara="1" rIns="500" wrap="square" tIns="500">
            <a:normAutofit/>
          </a:bodyPr>
          <a:lstStyle/>
          <a:p>
            <a:pPr indent="0" lvl="0" marL="0" marR="0" rtl="0" algn="l">
              <a:lnSpc>
                <a:spcPct val="100000"/>
              </a:lnSpc>
              <a:spcBef>
                <a:spcPts val="0"/>
              </a:spcBef>
              <a:spcAft>
                <a:spcPts val="0"/>
              </a:spcAft>
              <a:buClr>
                <a:srgbClr val="000000"/>
              </a:buClr>
              <a:buSzPts val="1220"/>
              <a:buFont typeface="Arial"/>
              <a:buNone/>
            </a:pPr>
            <a:r>
              <a:rPr b="0" i="0" lang="en-US" sz="1220" u="none" cap="none" strike="noStrike">
                <a:solidFill>
                  <a:srgbClr val="F4FAFF"/>
                </a:solidFill>
                <a:latin typeface="Arial"/>
                <a:ea typeface="Arial"/>
                <a:cs typeface="Arial"/>
                <a:sym typeface="Arial"/>
              </a:rPr>
              <a:t>Industry retained  </a:t>
            </a:r>
            <a:endParaRPr b="0" i="0" sz="1220" u="none" cap="none" strike="noStrike">
              <a:solidFill>
                <a:srgbClr val="F4FA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20"/>
              <a:buFont typeface="Arial"/>
              <a:buNone/>
            </a:pPr>
            <a:r>
              <a:rPr b="0" i="0" lang="en-US" sz="1220" u="none" cap="none" strike="noStrike">
                <a:solidFill>
                  <a:srgbClr val="F4FAFF"/>
                </a:solidFill>
                <a:latin typeface="Arial"/>
                <a:ea typeface="Arial"/>
                <a:cs typeface="Arial"/>
                <a:sym typeface="Arial"/>
              </a:rPr>
              <a:t>scope refined</a:t>
            </a:r>
            <a:endParaRPr b="0" i="0" sz="122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20"/>
              <a:buFont typeface="Arial"/>
              <a:buNone/>
            </a:pPr>
            <a:r>
              <a:rPr b="0" i="0" lang="en-US" sz="1220" u="none" cap="none" strike="noStrike">
                <a:solidFill>
                  <a:srgbClr val="F4FAFF"/>
                </a:solidFill>
                <a:latin typeface="Arial"/>
                <a:ea typeface="Arial"/>
                <a:cs typeface="Arial"/>
                <a:sym typeface="Arial"/>
              </a:rPr>
              <a:t>Daily Briefing removed</a:t>
            </a:r>
            <a:endParaRPr b="0" i="0" sz="122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20"/>
              <a:buFont typeface="Arial"/>
              <a:buNone/>
            </a:pPr>
            <a:r>
              <a:rPr b="0" i="0" lang="en-US" sz="1220" u="none" cap="none" strike="noStrike">
                <a:solidFill>
                  <a:srgbClr val="F4FAFF"/>
                </a:solidFill>
                <a:latin typeface="Arial"/>
                <a:ea typeface="Arial"/>
                <a:cs typeface="Arial"/>
                <a:sym typeface="Arial"/>
              </a:rPr>
              <a:t>Risk &amp; Regulatory Alerting added</a:t>
            </a:r>
            <a:endParaRPr b="0" i="0" sz="122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20"/>
              <a:buFont typeface="Arial"/>
              <a:buNone/>
            </a:pPr>
            <a:r>
              <a:rPr b="0" i="0" lang="en-US" sz="1220" u="none" cap="none" strike="noStrike">
                <a:solidFill>
                  <a:srgbClr val="F4FAFF"/>
                </a:solidFill>
                <a:latin typeface="Arial"/>
                <a:ea typeface="Arial"/>
                <a:cs typeface="Arial"/>
                <a:sym typeface="Arial"/>
              </a:rPr>
              <a:t>Built a working analyst-facing MVP</a:t>
            </a:r>
            <a:endParaRPr b="0" i="0" sz="1220" u="none" cap="none" strike="noStrike">
              <a:solidFill>
                <a:schemeClr val="dk1"/>
              </a:solidFill>
              <a:latin typeface="Arial"/>
              <a:ea typeface="Arial"/>
              <a:cs typeface="Arial"/>
              <a:sym typeface="Arial"/>
            </a:endParaRPr>
          </a:p>
        </p:txBody>
      </p:sp>
      <p:sp>
        <p:nvSpPr>
          <p:cNvPr id="162" name="Google Shape;162;p4"/>
          <p:cNvSpPr/>
          <p:nvPr/>
        </p:nvSpPr>
        <p:spPr>
          <a:xfrm>
            <a:off x="8109000" y="3269400"/>
            <a:ext cx="3183900" cy="1220100"/>
          </a:xfrm>
          <a:prstGeom prst="roundRect">
            <a:avLst>
              <a:gd fmla="val 8537" name="adj"/>
            </a:avLst>
          </a:prstGeom>
          <a:solidFill>
            <a:srgbClr val="0D3025"/>
          </a:solidFill>
          <a:ln cap="flat" cmpd="sng" w="11425">
            <a:solidFill>
              <a:srgbClr val="2EEA9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4"/>
          <p:cNvSpPr/>
          <p:nvPr/>
        </p:nvSpPr>
        <p:spPr>
          <a:xfrm>
            <a:off x="8165600" y="3399550"/>
            <a:ext cx="2962800" cy="4116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F4FAFF"/>
              </a:buClr>
              <a:buSzPts val="1300"/>
              <a:buFont typeface="Arial"/>
              <a:buNone/>
            </a:pPr>
            <a:r>
              <a:rPr b="1" i="0" lang="en-US" sz="1300" u="none" cap="none" strike="noStrike">
                <a:solidFill>
                  <a:srgbClr val="F4FAFF"/>
                </a:solidFill>
                <a:latin typeface="Arial"/>
                <a:ea typeface="Arial"/>
                <a:cs typeface="Arial"/>
                <a:sym typeface="Arial"/>
              </a:rPr>
              <a:t>What the POC proves</a:t>
            </a:r>
            <a:endParaRPr b="0" i="0" sz="1300" u="none" cap="none" strike="noStrike">
              <a:solidFill>
                <a:schemeClr val="dk1"/>
              </a:solidFill>
              <a:latin typeface="Arial"/>
              <a:ea typeface="Arial"/>
              <a:cs typeface="Arial"/>
              <a:sym typeface="Arial"/>
            </a:endParaRPr>
          </a:p>
        </p:txBody>
      </p:sp>
      <p:sp>
        <p:nvSpPr>
          <p:cNvPr id="164" name="Google Shape;164;p4"/>
          <p:cNvSpPr/>
          <p:nvPr/>
        </p:nvSpPr>
        <p:spPr>
          <a:xfrm>
            <a:off x="8165600" y="3811151"/>
            <a:ext cx="2962800" cy="569100"/>
          </a:xfrm>
          <a:prstGeom prst="rect">
            <a:avLst/>
          </a:prstGeom>
          <a:noFill/>
          <a:ln>
            <a:noFill/>
          </a:ln>
        </p:spPr>
        <p:txBody>
          <a:bodyPr anchorCtr="0" anchor="t" bIns="250" lIns="250" spcFirstLastPara="1" rIns="250" wrap="square" tIns="250">
            <a:normAutofit/>
          </a:bodyPr>
          <a:lstStyle/>
          <a:p>
            <a:pPr indent="0" lvl="0" marL="0" marR="0" rtl="0" algn="ctr">
              <a:lnSpc>
                <a:spcPct val="100000"/>
              </a:lnSpc>
              <a:spcBef>
                <a:spcPts val="0"/>
              </a:spcBef>
              <a:spcAft>
                <a:spcPts val="0"/>
              </a:spcAft>
              <a:buClr>
                <a:srgbClr val="A7BED1"/>
              </a:buClr>
              <a:buSzPts val="1030"/>
              <a:buFont typeface="Arial"/>
              <a:buNone/>
            </a:pPr>
            <a:r>
              <a:rPr b="1" i="0" lang="en-US" sz="1200" u="none" cap="none" strike="noStrike">
                <a:solidFill>
                  <a:srgbClr val="A7BED1"/>
                </a:solidFill>
                <a:latin typeface="Arial"/>
                <a:ea typeface="Arial"/>
                <a:cs typeface="Arial"/>
                <a:sym typeface="Arial"/>
              </a:rPr>
              <a:t>Feasibility of structured AI output and priority routing.</a:t>
            </a:r>
            <a:endParaRPr b="1" i="0" sz="1200" u="none" cap="none" strike="noStrike">
              <a:solidFill>
                <a:schemeClr val="dk1"/>
              </a:solidFill>
              <a:latin typeface="Arial"/>
              <a:ea typeface="Arial"/>
              <a:cs typeface="Arial"/>
              <a:sym typeface="Arial"/>
            </a:endParaRPr>
          </a:p>
        </p:txBody>
      </p:sp>
      <p:sp>
        <p:nvSpPr>
          <p:cNvPr id="165" name="Google Shape;165;p4"/>
          <p:cNvSpPr/>
          <p:nvPr/>
        </p:nvSpPr>
        <p:spPr>
          <a:xfrm>
            <a:off x="8109000" y="4672050"/>
            <a:ext cx="3183900" cy="942300"/>
          </a:xfrm>
          <a:prstGeom prst="roundRect">
            <a:avLst>
              <a:gd fmla="val 8537" name="adj"/>
            </a:avLst>
          </a:prstGeom>
          <a:solidFill>
            <a:srgbClr val="30151A"/>
          </a:solidFill>
          <a:ln cap="flat" cmpd="sng" w="11425">
            <a:solidFill>
              <a:srgbClr val="FF5A6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4"/>
          <p:cNvSpPr/>
          <p:nvPr/>
        </p:nvSpPr>
        <p:spPr>
          <a:xfrm>
            <a:off x="8165600" y="4672054"/>
            <a:ext cx="2962800" cy="4116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F4FAFF"/>
              </a:buClr>
              <a:buSzPts val="1300"/>
              <a:buFont typeface="Arial"/>
              <a:buNone/>
            </a:pPr>
            <a:r>
              <a:rPr b="1" i="0" lang="en-US" sz="1300" u="none" cap="none" strike="noStrike">
                <a:solidFill>
                  <a:srgbClr val="F4FAFF"/>
                </a:solidFill>
                <a:latin typeface="Arial"/>
                <a:ea typeface="Arial"/>
                <a:cs typeface="Arial"/>
                <a:sym typeface="Arial"/>
              </a:rPr>
              <a:t>What it does not prove</a:t>
            </a:r>
            <a:endParaRPr b="0" i="0" sz="1300" u="none" cap="none" strike="noStrike">
              <a:solidFill>
                <a:schemeClr val="dk1"/>
              </a:solidFill>
              <a:latin typeface="Arial"/>
              <a:ea typeface="Arial"/>
              <a:cs typeface="Arial"/>
              <a:sym typeface="Arial"/>
            </a:endParaRPr>
          </a:p>
        </p:txBody>
      </p:sp>
      <p:sp>
        <p:nvSpPr>
          <p:cNvPr id="167" name="Google Shape;167;p4"/>
          <p:cNvSpPr/>
          <p:nvPr/>
        </p:nvSpPr>
        <p:spPr>
          <a:xfrm>
            <a:off x="8165600" y="5065700"/>
            <a:ext cx="2962800" cy="411600"/>
          </a:xfrm>
          <a:prstGeom prst="rect">
            <a:avLst/>
          </a:prstGeom>
          <a:noFill/>
          <a:ln>
            <a:noFill/>
          </a:ln>
        </p:spPr>
        <p:txBody>
          <a:bodyPr anchorCtr="0" anchor="t" bIns="250" lIns="250" spcFirstLastPara="1" rIns="250" wrap="square" tIns="250">
            <a:normAutofit/>
          </a:bodyPr>
          <a:lstStyle/>
          <a:p>
            <a:pPr indent="0" lvl="0" marL="0" marR="0" rtl="0" algn="ctr">
              <a:lnSpc>
                <a:spcPct val="100000"/>
              </a:lnSpc>
              <a:spcBef>
                <a:spcPts val="0"/>
              </a:spcBef>
              <a:spcAft>
                <a:spcPts val="0"/>
              </a:spcAft>
              <a:buClr>
                <a:srgbClr val="A7BED1"/>
              </a:buClr>
              <a:buSzPts val="1030"/>
              <a:buFont typeface="Arial"/>
              <a:buNone/>
            </a:pPr>
            <a:r>
              <a:rPr b="0" i="0" lang="en-US" sz="1200" u="none" cap="none" strike="noStrike">
                <a:solidFill>
                  <a:srgbClr val="A7BED1"/>
                </a:solidFill>
                <a:latin typeface="Arial"/>
                <a:ea typeface="Arial"/>
                <a:cs typeface="Arial"/>
                <a:sym typeface="Arial"/>
              </a:rPr>
              <a:t>Production accuracy, security, reliability or scalability.</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1724"/>
        </a:solidFill>
      </p:bgPr>
    </p:bg>
    <p:spTree>
      <p:nvGrpSpPr>
        <p:cNvPr id="172" name="Shape 172"/>
        <p:cNvGrpSpPr/>
        <p:nvPr/>
      </p:nvGrpSpPr>
      <p:grpSpPr>
        <a:xfrm>
          <a:off x="0" y="0"/>
          <a:ext cx="0" cy="0"/>
          <a:chOff x="0" y="0"/>
          <a:chExt cx="0" cy="0"/>
        </a:xfrm>
      </p:grpSpPr>
      <p:pic>
        <p:nvPicPr>
          <p:cNvPr descr="/mnt/data/finradar_logo_watermark_dark.png" id="173" name="Google Shape;173;p5"/>
          <p:cNvPicPr preferRelativeResize="0"/>
          <p:nvPr/>
        </p:nvPicPr>
        <p:blipFill rotWithShape="1">
          <a:blip r:embed="rId3">
            <a:alphaModFix/>
          </a:blip>
          <a:srcRect b="0" l="0" r="0" t="0"/>
          <a:stretch/>
        </p:blipFill>
        <p:spPr>
          <a:xfrm>
            <a:off x="10561320" y="502920"/>
            <a:ext cx="685800" cy="685800"/>
          </a:xfrm>
          <a:prstGeom prst="rect">
            <a:avLst/>
          </a:prstGeom>
          <a:noFill/>
          <a:ln>
            <a:noFill/>
          </a:ln>
        </p:spPr>
      </p:pic>
      <p:sp>
        <p:nvSpPr>
          <p:cNvPr id="174" name="Google Shape;174;p5"/>
          <p:cNvSpPr/>
          <p:nvPr/>
        </p:nvSpPr>
        <p:spPr>
          <a:xfrm>
            <a:off x="393192" y="228600"/>
            <a:ext cx="2743200" cy="219456"/>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31D7F7"/>
              </a:buClr>
              <a:buSzPts val="950"/>
              <a:buFont typeface="Arial"/>
              <a:buNone/>
            </a:pPr>
            <a:r>
              <a:rPr b="1" i="0" lang="en-US" sz="1200" u="none" cap="none" strike="noStrike">
                <a:solidFill>
                  <a:srgbClr val="31D7F7"/>
                </a:solidFill>
                <a:latin typeface="Arial"/>
                <a:ea typeface="Arial"/>
                <a:cs typeface="Arial"/>
                <a:sym typeface="Arial"/>
              </a:rPr>
              <a:t>FinRadar AI | Round 2</a:t>
            </a:r>
            <a:endParaRPr b="0" i="0" sz="1200" u="none" cap="none" strike="noStrike">
              <a:solidFill>
                <a:schemeClr val="dk1"/>
              </a:solidFill>
              <a:latin typeface="Arial"/>
              <a:ea typeface="Arial"/>
              <a:cs typeface="Arial"/>
              <a:sym typeface="Arial"/>
            </a:endParaRPr>
          </a:p>
        </p:txBody>
      </p:sp>
      <p:pic>
        <p:nvPicPr>
          <p:cNvPr descr="/mnt/data/ironhack-logo.png" id="175" name="Google Shape;175;p5"/>
          <p:cNvPicPr preferRelativeResize="0"/>
          <p:nvPr/>
        </p:nvPicPr>
        <p:blipFill rotWithShape="1">
          <a:blip r:embed="rId4">
            <a:alphaModFix/>
          </a:blip>
          <a:srcRect b="0" l="0" r="0" t="0"/>
          <a:stretch/>
        </p:blipFill>
        <p:spPr>
          <a:xfrm>
            <a:off x="10469880" y="173736"/>
            <a:ext cx="1234440" cy="201168"/>
          </a:xfrm>
          <a:prstGeom prst="rect">
            <a:avLst/>
          </a:prstGeom>
          <a:noFill/>
          <a:ln>
            <a:noFill/>
          </a:ln>
        </p:spPr>
      </p:pic>
      <p:cxnSp>
        <p:nvCxnSpPr>
          <p:cNvPr id="176" name="Google Shape;176;p5"/>
          <p:cNvCxnSpPr/>
          <p:nvPr/>
        </p:nvCxnSpPr>
        <p:spPr>
          <a:xfrm>
            <a:off x="393192" y="6473952"/>
            <a:ext cx="11384280" cy="0"/>
          </a:xfrm>
          <a:prstGeom prst="straightConnector1">
            <a:avLst/>
          </a:prstGeom>
          <a:noFill/>
          <a:ln cap="flat" cmpd="sng" w="12700">
            <a:solidFill>
              <a:srgbClr val="1A3949"/>
            </a:solidFill>
            <a:prstDash val="solid"/>
            <a:round/>
            <a:headEnd len="sm" w="sm" type="none"/>
            <a:tailEnd len="sm" w="sm" type="none"/>
          </a:ln>
        </p:spPr>
      </p:cxnSp>
      <p:sp>
        <p:nvSpPr>
          <p:cNvPr id="177" name="Google Shape;177;p5"/>
          <p:cNvSpPr/>
          <p:nvPr/>
        </p:nvSpPr>
        <p:spPr>
          <a:xfrm>
            <a:off x="393192" y="6528816"/>
            <a:ext cx="2377440" cy="201168"/>
          </a:xfrm>
          <a:prstGeom prst="rect">
            <a:avLst/>
          </a:prstGeom>
          <a:noFill/>
          <a:ln>
            <a:noFill/>
          </a:ln>
        </p:spPr>
        <p:txBody>
          <a:bodyPr anchorCtr="0" anchor="ctr" bIns="500" lIns="500" spcFirstLastPara="1" rIns="500" wrap="square" tIns="500">
            <a:normAutofit/>
          </a:bodyPr>
          <a:lstStyle/>
          <a:p>
            <a:pPr indent="0" lvl="0" marL="0" marR="0" rtl="0" algn="l">
              <a:lnSpc>
                <a:spcPct val="100000"/>
              </a:lnSpc>
              <a:spcBef>
                <a:spcPts val="0"/>
              </a:spcBef>
              <a:spcAft>
                <a:spcPts val="0"/>
              </a:spcAft>
              <a:buClr>
                <a:srgbClr val="A7BED1"/>
              </a:buClr>
              <a:buSzPts val="900"/>
              <a:buFont typeface="Arial"/>
              <a:buNone/>
            </a:pPr>
            <a:r>
              <a:rPr b="0" i="0" lang="en-US" sz="1200" u="none" cap="none" strike="noStrike">
                <a:solidFill>
                  <a:srgbClr val="A7BED1"/>
                </a:solidFill>
                <a:latin typeface="Arial"/>
                <a:ea typeface="Arial"/>
                <a:cs typeface="Arial"/>
                <a:sym typeface="Arial"/>
              </a:rPr>
              <a:t>AI Assists - Humans Decide</a:t>
            </a:r>
            <a:endParaRPr b="0" i="0" sz="1200" u="none" cap="none" strike="noStrike">
              <a:solidFill>
                <a:schemeClr val="dk1"/>
              </a:solidFill>
              <a:latin typeface="Arial"/>
              <a:ea typeface="Arial"/>
              <a:cs typeface="Arial"/>
              <a:sym typeface="Arial"/>
            </a:endParaRPr>
          </a:p>
        </p:txBody>
      </p:sp>
      <p:sp>
        <p:nvSpPr>
          <p:cNvPr id="178" name="Google Shape;178;p5"/>
          <p:cNvSpPr/>
          <p:nvPr/>
        </p:nvSpPr>
        <p:spPr>
          <a:xfrm>
            <a:off x="11475720" y="6528816"/>
            <a:ext cx="320040" cy="201168"/>
          </a:xfrm>
          <a:prstGeom prst="rect">
            <a:avLst/>
          </a:prstGeom>
          <a:noFill/>
          <a:ln>
            <a:noFill/>
          </a:ln>
        </p:spPr>
        <p:txBody>
          <a:bodyPr anchorCtr="0" anchor="ctr" bIns="500" lIns="500" spcFirstLastPara="1" rIns="500" wrap="square" tIns="500">
            <a:normAutofit/>
          </a:bodyPr>
          <a:lstStyle/>
          <a:p>
            <a:pPr indent="0" lvl="0" marL="0" marR="0" rtl="0" algn="r">
              <a:lnSpc>
                <a:spcPct val="100000"/>
              </a:lnSpc>
              <a:spcBef>
                <a:spcPts val="0"/>
              </a:spcBef>
              <a:spcAft>
                <a:spcPts val="0"/>
              </a:spcAft>
              <a:buClr>
                <a:srgbClr val="A7BED1"/>
              </a:buClr>
              <a:buSzPts val="900"/>
              <a:buFont typeface="Arial"/>
              <a:buNone/>
            </a:pPr>
            <a:r>
              <a:rPr b="0" i="0" lang="en-US" sz="1400" u="none" cap="none" strike="noStrike">
                <a:solidFill>
                  <a:srgbClr val="000000"/>
                </a:solidFill>
                <a:latin typeface="Arial"/>
                <a:ea typeface="Arial"/>
                <a:cs typeface="Arial"/>
                <a:sym typeface="Arial"/>
              </a:rPr>
              <a:t>06</a:t>
            </a:r>
            <a:endParaRPr b="0" i="0" sz="900" u="none" cap="none" strike="noStrike">
              <a:solidFill>
                <a:schemeClr val="dk1"/>
              </a:solidFill>
              <a:latin typeface="Arial"/>
              <a:ea typeface="Arial"/>
              <a:cs typeface="Arial"/>
              <a:sym typeface="Arial"/>
            </a:endParaRPr>
          </a:p>
        </p:txBody>
      </p:sp>
      <p:sp>
        <p:nvSpPr>
          <p:cNvPr id="179" name="Google Shape;179;p5"/>
          <p:cNvSpPr/>
          <p:nvPr/>
        </p:nvSpPr>
        <p:spPr>
          <a:xfrm>
            <a:off x="685800" y="841250"/>
            <a:ext cx="9811500" cy="3201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4FAFF"/>
              </a:buClr>
              <a:buSzPts val="2800"/>
              <a:buFont typeface="Arial"/>
              <a:buNone/>
            </a:pPr>
            <a:r>
              <a:rPr b="1" i="0" lang="en-US" sz="2800" u="none" cap="none" strike="noStrike">
                <a:solidFill>
                  <a:srgbClr val="F4FAFF"/>
                </a:solidFill>
                <a:latin typeface="Arial"/>
                <a:ea typeface="Arial"/>
                <a:cs typeface="Arial"/>
                <a:sym typeface="Arial"/>
              </a:rPr>
              <a:t>Business Case: Positive ROI if pilot assumptions hold</a:t>
            </a:r>
            <a:endParaRPr b="0" i="0" sz="2800" u="none" cap="none" strike="noStrike">
              <a:solidFill>
                <a:schemeClr val="dk1"/>
              </a:solidFill>
              <a:latin typeface="Arial"/>
              <a:ea typeface="Arial"/>
              <a:cs typeface="Arial"/>
              <a:sym typeface="Arial"/>
            </a:endParaRPr>
          </a:p>
        </p:txBody>
      </p:sp>
      <p:sp>
        <p:nvSpPr>
          <p:cNvPr id="180" name="Google Shape;180;p5"/>
          <p:cNvSpPr/>
          <p:nvPr/>
        </p:nvSpPr>
        <p:spPr>
          <a:xfrm>
            <a:off x="685800" y="1353298"/>
            <a:ext cx="9198900" cy="3201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A7BED1"/>
              </a:buClr>
              <a:buSzPts val="1250"/>
              <a:buFont typeface="Arial"/>
              <a:buNone/>
            </a:pPr>
            <a:r>
              <a:rPr b="1" i="0" lang="en-US" sz="1400" u="none" cap="none" strike="noStrike">
                <a:solidFill>
                  <a:srgbClr val="A7BED1"/>
                </a:solidFill>
                <a:latin typeface="Arial"/>
                <a:ea typeface="Arial"/>
                <a:cs typeface="Arial"/>
                <a:sym typeface="Arial"/>
              </a:rPr>
              <a:t>Planning estimates — actual value should be validated during the controlled pilot.</a:t>
            </a:r>
            <a:endParaRPr b="1" i="0" sz="1400" u="none" cap="none" strike="noStrike">
              <a:solidFill>
                <a:schemeClr val="dk1"/>
              </a:solidFill>
              <a:latin typeface="Arial"/>
              <a:ea typeface="Arial"/>
              <a:cs typeface="Arial"/>
              <a:sym typeface="Arial"/>
            </a:endParaRPr>
          </a:p>
        </p:txBody>
      </p:sp>
      <p:sp>
        <p:nvSpPr>
          <p:cNvPr id="181" name="Google Shape;181;p5"/>
          <p:cNvSpPr/>
          <p:nvPr/>
        </p:nvSpPr>
        <p:spPr>
          <a:xfrm>
            <a:off x="685800" y="1847088"/>
            <a:ext cx="2148840" cy="1024128"/>
          </a:xfrm>
          <a:prstGeom prst="rect">
            <a:avLst/>
          </a:prstGeom>
          <a:solidFill>
            <a:srgbClr val="0C2A3A"/>
          </a:solidFill>
          <a:ln cap="flat" cmpd="sng" w="12700">
            <a:solidFill>
              <a:srgbClr val="2EEA90"/>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625" lIns="625" spcFirstLastPara="1" rIns="625" wrap="square" tIns="625">
            <a:normAutofit/>
          </a:bodyPr>
          <a:lstStyle/>
          <a:p>
            <a:pPr indent="0" lvl="0" marL="0" marR="0" rtl="0" algn="ctr">
              <a:lnSpc>
                <a:spcPct val="100000"/>
              </a:lnSpc>
              <a:spcBef>
                <a:spcPts val="0"/>
              </a:spcBef>
              <a:spcAft>
                <a:spcPts val="0"/>
              </a:spcAft>
              <a:buClr>
                <a:srgbClr val="2EEA90"/>
              </a:buClr>
              <a:buSzPts val="1130"/>
              <a:buFont typeface="Arial"/>
              <a:buNone/>
            </a:pPr>
            <a:r>
              <a:rPr b="1" i="0" lang="en-US" sz="1400" u="none" cap="none" strike="noStrike">
                <a:solidFill>
                  <a:srgbClr val="2EEA90"/>
                </a:solidFill>
                <a:latin typeface="Arial"/>
                <a:ea typeface="Arial"/>
                <a:cs typeface="Arial"/>
                <a:sym typeface="Arial"/>
              </a:rPr>
              <a:t>€47.5k</a:t>
            </a: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2EEA90"/>
              </a:buClr>
              <a:buSzPts val="1130"/>
              <a:buFont typeface="Arial"/>
              <a:buNone/>
            </a:pPr>
            <a:r>
              <a:rPr b="1" i="0" lang="en-US" sz="1400" u="none" cap="none" strike="noStrike">
                <a:solidFill>
                  <a:srgbClr val="2EEA90"/>
                </a:solidFill>
                <a:latin typeface="Arial"/>
                <a:ea typeface="Arial"/>
                <a:cs typeface="Arial"/>
                <a:sym typeface="Arial"/>
              </a:rPr>
              <a:t>estimated annual value</a:t>
            </a:r>
            <a:endParaRPr b="0" i="0" sz="1400" u="none" cap="none" strike="noStrike">
              <a:solidFill>
                <a:schemeClr val="dk1"/>
              </a:solidFill>
              <a:latin typeface="Arial"/>
              <a:ea typeface="Arial"/>
              <a:cs typeface="Arial"/>
              <a:sym typeface="Arial"/>
            </a:endParaRPr>
          </a:p>
        </p:txBody>
      </p:sp>
      <p:sp>
        <p:nvSpPr>
          <p:cNvPr id="182" name="Google Shape;182;p5"/>
          <p:cNvSpPr/>
          <p:nvPr/>
        </p:nvSpPr>
        <p:spPr>
          <a:xfrm>
            <a:off x="3035808" y="1847088"/>
            <a:ext cx="2148840" cy="1024128"/>
          </a:xfrm>
          <a:prstGeom prst="rect">
            <a:avLst/>
          </a:prstGeom>
          <a:solidFill>
            <a:srgbClr val="0C2A3A"/>
          </a:solidFill>
          <a:ln cap="flat" cmpd="sng" w="12700">
            <a:solidFill>
              <a:srgbClr val="31D7F7"/>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625" lIns="625" spcFirstLastPara="1" rIns="625" wrap="square" tIns="625">
            <a:normAutofit/>
          </a:bodyPr>
          <a:lstStyle/>
          <a:p>
            <a:pPr indent="0" lvl="0" marL="0" marR="0" rtl="0" algn="ctr">
              <a:lnSpc>
                <a:spcPct val="100000"/>
              </a:lnSpc>
              <a:spcBef>
                <a:spcPts val="0"/>
              </a:spcBef>
              <a:spcAft>
                <a:spcPts val="0"/>
              </a:spcAft>
              <a:buClr>
                <a:srgbClr val="31D7F7"/>
              </a:buClr>
              <a:buSzPts val="1130"/>
              <a:buFont typeface="Arial"/>
              <a:buNone/>
            </a:pPr>
            <a:r>
              <a:rPr b="1" i="0" lang="en-US" sz="1400" u="none" cap="none" strike="noStrike">
                <a:solidFill>
                  <a:srgbClr val="31D7F7"/>
                </a:solidFill>
                <a:latin typeface="Arial"/>
                <a:ea typeface="Arial"/>
                <a:cs typeface="Arial"/>
                <a:sym typeface="Arial"/>
              </a:rPr>
              <a:t>€20.1k</a:t>
            </a: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31D7F7"/>
              </a:buClr>
              <a:buSzPts val="1130"/>
              <a:buFont typeface="Arial"/>
              <a:buNone/>
            </a:pPr>
            <a:r>
              <a:rPr b="1" i="0" lang="en-US" sz="1400" u="none" cap="none" strike="noStrike">
                <a:solidFill>
                  <a:srgbClr val="31D7F7"/>
                </a:solidFill>
                <a:latin typeface="Arial"/>
                <a:ea typeface="Arial"/>
                <a:cs typeface="Arial"/>
                <a:sym typeface="Arial"/>
              </a:rPr>
              <a:t>upfront build cost</a:t>
            </a:r>
            <a:endParaRPr b="1" i="0" sz="1400" u="none" cap="none" strike="noStrike">
              <a:solidFill>
                <a:srgbClr val="31D7F7"/>
              </a:solidFill>
              <a:latin typeface="Arial"/>
              <a:ea typeface="Arial"/>
              <a:cs typeface="Arial"/>
              <a:sym typeface="Arial"/>
            </a:endParaRPr>
          </a:p>
          <a:p>
            <a:pPr indent="0" lvl="0" marL="0" marR="0" rtl="0" algn="ctr">
              <a:lnSpc>
                <a:spcPct val="100000"/>
              </a:lnSpc>
              <a:spcBef>
                <a:spcPts val="0"/>
              </a:spcBef>
              <a:spcAft>
                <a:spcPts val="0"/>
              </a:spcAft>
              <a:buClr>
                <a:srgbClr val="31D7F7"/>
              </a:buClr>
              <a:buSzPts val="1130"/>
              <a:buFont typeface="Arial"/>
              <a:buNone/>
            </a:pPr>
            <a:r>
              <a:rPr b="1" lang="en-US" sz="1000">
                <a:solidFill>
                  <a:srgbClr val="31D7F7"/>
                </a:solidFill>
              </a:rPr>
              <a:t>Design &amp; Integration, MVP, Pilot, Testing, </a:t>
            </a:r>
            <a:r>
              <a:rPr b="1" lang="en-US" sz="1000">
                <a:solidFill>
                  <a:srgbClr val="31D7F7"/>
                </a:solidFill>
              </a:rPr>
              <a:t>governance</a:t>
            </a:r>
            <a:r>
              <a:rPr b="1" lang="en-US" sz="1000">
                <a:solidFill>
                  <a:srgbClr val="31D7F7"/>
                </a:solidFill>
              </a:rPr>
              <a:t> setup, configuration, initial onboarding</a:t>
            </a:r>
            <a:endParaRPr b="1" sz="1000">
              <a:solidFill>
                <a:srgbClr val="31D7F7"/>
              </a:solidFill>
            </a:endParaRPr>
          </a:p>
        </p:txBody>
      </p:sp>
      <p:sp>
        <p:nvSpPr>
          <p:cNvPr id="183" name="Google Shape;183;p5"/>
          <p:cNvSpPr/>
          <p:nvPr/>
        </p:nvSpPr>
        <p:spPr>
          <a:xfrm>
            <a:off x="5385816" y="1847088"/>
            <a:ext cx="2148840" cy="1024128"/>
          </a:xfrm>
          <a:prstGeom prst="rect">
            <a:avLst/>
          </a:prstGeom>
          <a:solidFill>
            <a:srgbClr val="0C2A3A"/>
          </a:solidFill>
          <a:ln cap="flat" cmpd="sng" w="12700">
            <a:solidFill>
              <a:srgbClr val="F6B84A"/>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625" lIns="625" spcFirstLastPara="1" rIns="625" wrap="square" tIns="625">
            <a:normAutofit/>
          </a:bodyPr>
          <a:lstStyle/>
          <a:p>
            <a:pPr indent="0" lvl="0" marL="0" marR="0" rtl="0" algn="ctr">
              <a:lnSpc>
                <a:spcPct val="100000"/>
              </a:lnSpc>
              <a:spcBef>
                <a:spcPts val="0"/>
              </a:spcBef>
              <a:spcAft>
                <a:spcPts val="0"/>
              </a:spcAft>
              <a:buClr>
                <a:srgbClr val="F6B84A"/>
              </a:buClr>
              <a:buSzPts val="1130"/>
              <a:buFont typeface="Arial"/>
              <a:buNone/>
            </a:pPr>
            <a:r>
              <a:rPr b="1" i="0" lang="en-US" sz="1400" u="none" cap="none" strike="noStrike">
                <a:solidFill>
                  <a:srgbClr val="F6B84A"/>
                </a:solidFill>
                <a:latin typeface="Arial"/>
                <a:ea typeface="Arial"/>
                <a:cs typeface="Arial"/>
                <a:sym typeface="Arial"/>
              </a:rPr>
              <a:t>€8.8k</a:t>
            </a: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F6B84A"/>
              </a:buClr>
              <a:buSzPts val="1130"/>
              <a:buFont typeface="Arial"/>
              <a:buNone/>
            </a:pPr>
            <a:r>
              <a:rPr b="1" i="0" lang="en-US" sz="1400" u="none" cap="none" strike="noStrike">
                <a:solidFill>
                  <a:srgbClr val="F6B84A"/>
                </a:solidFill>
                <a:latin typeface="Arial"/>
                <a:ea typeface="Arial"/>
                <a:cs typeface="Arial"/>
                <a:sym typeface="Arial"/>
              </a:rPr>
              <a:t>ongoing annual cost</a:t>
            </a:r>
            <a:endParaRPr b="1" i="0" sz="1400" u="none" cap="none" strike="noStrike">
              <a:solidFill>
                <a:srgbClr val="F6B84A"/>
              </a:solidFill>
              <a:latin typeface="Arial"/>
              <a:ea typeface="Arial"/>
              <a:cs typeface="Arial"/>
              <a:sym typeface="Arial"/>
            </a:endParaRPr>
          </a:p>
          <a:p>
            <a:pPr indent="0" lvl="0" marL="0" marR="0" rtl="0" algn="ctr">
              <a:lnSpc>
                <a:spcPct val="100000"/>
              </a:lnSpc>
              <a:spcBef>
                <a:spcPts val="0"/>
              </a:spcBef>
              <a:spcAft>
                <a:spcPts val="0"/>
              </a:spcAft>
              <a:buClr>
                <a:srgbClr val="F6B84A"/>
              </a:buClr>
              <a:buSzPts val="1130"/>
              <a:buFont typeface="Arial"/>
              <a:buNone/>
            </a:pPr>
            <a:r>
              <a:rPr b="1" lang="en-US" sz="1000">
                <a:solidFill>
                  <a:srgbClr val="F6B84A"/>
                </a:solidFill>
              </a:rPr>
              <a:t>maintenance &amp; </a:t>
            </a:r>
            <a:r>
              <a:rPr b="1" lang="en-US" sz="1000">
                <a:solidFill>
                  <a:srgbClr val="F6B84A"/>
                </a:solidFill>
              </a:rPr>
              <a:t>support, api cost</a:t>
            </a:r>
            <a:r>
              <a:rPr b="1" lang="en-US" sz="1000">
                <a:solidFill>
                  <a:srgbClr val="F6B84A"/>
                </a:solidFill>
              </a:rPr>
              <a:t> etc</a:t>
            </a:r>
            <a:endParaRPr b="1" sz="1000">
              <a:solidFill>
                <a:srgbClr val="F6B84A"/>
              </a:solidFill>
            </a:endParaRPr>
          </a:p>
        </p:txBody>
      </p:sp>
      <p:sp>
        <p:nvSpPr>
          <p:cNvPr id="184" name="Google Shape;184;p5"/>
          <p:cNvSpPr/>
          <p:nvPr/>
        </p:nvSpPr>
        <p:spPr>
          <a:xfrm>
            <a:off x="7735824" y="1847088"/>
            <a:ext cx="2148900" cy="1024200"/>
          </a:xfrm>
          <a:prstGeom prst="rect">
            <a:avLst/>
          </a:prstGeom>
          <a:solidFill>
            <a:srgbClr val="0C2A3A"/>
          </a:solidFill>
          <a:ln cap="flat" cmpd="sng" w="12700">
            <a:solidFill>
              <a:srgbClr val="1B83F6"/>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625" lIns="625" spcFirstLastPara="1" rIns="625" wrap="square" tIns="625">
            <a:normAutofit/>
          </a:bodyPr>
          <a:lstStyle/>
          <a:p>
            <a:pPr indent="0" lvl="0" marL="0" marR="0" rtl="0" algn="ctr">
              <a:lnSpc>
                <a:spcPct val="100000"/>
              </a:lnSpc>
              <a:spcBef>
                <a:spcPts val="0"/>
              </a:spcBef>
              <a:spcAft>
                <a:spcPts val="0"/>
              </a:spcAft>
              <a:buClr>
                <a:srgbClr val="1B83F6"/>
              </a:buClr>
              <a:buSzPts val="1130"/>
              <a:buFont typeface="Arial"/>
              <a:buNone/>
            </a:pPr>
            <a:r>
              <a:rPr b="1" i="0" lang="en-US" sz="1400" u="none" cap="none" strike="noStrike">
                <a:solidFill>
                  <a:srgbClr val="1B83F6"/>
                </a:solidFill>
                <a:latin typeface="Arial"/>
                <a:ea typeface="Arial"/>
                <a:cs typeface="Arial"/>
                <a:sym typeface="Arial"/>
              </a:rPr>
              <a:t>6.2 mo</a:t>
            </a:r>
            <a:r>
              <a:rPr b="1" lang="en-US">
                <a:solidFill>
                  <a:srgbClr val="1B83F6"/>
                </a:solidFill>
              </a:rPr>
              <a:t>nths</a:t>
            </a: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1B83F6"/>
              </a:buClr>
              <a:buSzPts val="1130"/>
              <a:buFont typeface="Arial"/>
              <a:buNone/>
            </a:pPr>
            <a:r>
              <a:rPr b="1" i="0" lang="en-US" sz="1400" u="none" cap="none" strike="noStrike">
                <a:solidFill>
                  <a:srgbClr val="1B83F6"/>
                </a:solidFill>
                <a:latin typeface="Arial"/>
                <a:ea typeface="Arial"/>
                <a:cs typeface="Arial"/>
                <a:sym typeface="Arial"/>
              </a:rPr>
              <a:t>break-even compensation</a:t>
            </a:r>
            <a:endParaRPr b="0" i="0" sz="1400" u="none" cap="none" strike="noStrike">
              <a:solidFill>
                <a:schemeClr val="dk1"/>
              </a:solidFill>
              <a:latin typeface="Arial"/>
              <a:ea typeface="Arial"/>
              <a:cs typeface="Arial"/>
              <a:sym typeface="Arial"/>
            </a:endParaRPr>
          </a:p>
        </p:txBody>
      </p:sp>
      <p:sp>
        <p:nvSpPr>
          <p:cNvPr id="185" name="Google Shape;185;p5"/>
          <p:cNvSpPr/>
          <p:nvPr/>
        </p:nvSpPr>
        <p:spPr>
          <a:xfrm>
            <a:off x="685800" y="3429000"/>
            <a:ext cx="9189600" cy="1508700"/>
          </a:xfrm>
          <a:prstGeom prst="roundRect">
            <a:avLst>
              <a:gd fmla="val 3636" name="adj"/>
            </a:avLst>
          </a:prstGeom>
          <a:solidFill>
            <a:srgbClr val="0C2A3A"/>
          </a:solidFill>
          <a:ln cap="flat" cmpd="sng" w="12700">
            <a:solidFill>
              <a:srgbClr val="143D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5"/>
          <p:cNvSpPr/>
          <p:nvPr/>
        </p:nvSpPr>
        <p:spPr>
          <a:xfrm>
            <a:off x="960120" y="3611880"/>
            <a:ext cx="1645920" cy="27432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4FAFF"/>
              </a:buClr>
              <a:buSzPts val="1500"/>
              <a:buFont typeface="Arial"/>
              <a:buNone/>
            </a:pPr>
            <a:r>
              <a:rPr b="1" i="0" lang="en-US" sz="1500" u="none" cap="none" strike="noStrike">
                <a:solidFill>
                  <a:srgbClr val="F4FAFF"/>
                </a:solidFill>
                <a:latin typeface="Arial"/>
                <a:ea typeface="Arial"/>
                <a:cs typeface="Arial"/>
                <a:sym typeface="Arial"/>
              </a:rPr>
              <a:t>Estimated ROI</a:t>
            </a:r>
            <a:endParaRPr b="0" i="0" sz="1500" u="none" cap="none" strike="noStrike">
              <a:solidFill>
                <a:schemeClr val="dk1"/>
              </a:solidFill>
              <a:latin typeface="Arial"/>
              <a:ea typeface="Arial"/>
              <a:cs typeface="Arial"/>
              <a:sym typeface="Arial"/>
            </a:endParaRPr>
          </a:p>
        </p:txBody>
      </p:sp>
      <p:sp>
        <p:nvSpPr>
          <p:cNvPr id="187" name="Google Shape;187;p5"/>
          <p:cNvSpPr/>
          <p:nvPr/>
        </p:nvSpPr>
        <p:spPr>
          <a:xfrm>
            <a:off x="960120" y="4160520"/>
            <a:ext cx="1188720" cy="201168"/>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A7BED1"/>
              </a:buClr>
              <a:buSzPts val="1050"/>
              <a:buFont typeface="Arial"/>
              <a:buNone/>
            </a:pPr>
            <a:r>
              <a:rPr b="1" i="0" lang="en-US" sz="1200" u="none" cap="none" strike="noStrike">
                <a:solidFill>
                  <a:srgbClr val="A7BED1"/>
                </a:solidFill>
                <a:latin typeface="Arial"/>
                <a:ea typeface="Arial"/>
                <a:cs typeface="Arial"/>
                <a:sym typeface="Arial"/>
              </a:rPr>
              <a:t>12-month ROI</a:t>
            </a:r>
            <a:endParaRPr b="1" i="0" sz="1200" u="none" cap="none" strike="noStrike">
              <a:solidFill>
                <a:schemeClr val="dk1"/>
              </a:solidFill>
              <a:latin typeface="Arial"/>
              <a:ea typeface="Arial"/>
              <a:cs typeface="Arial"/>
              <a:sym typeface="Arial"/>
            </a:endParaRPr>
          </a:p>
        </p:txBody>
      </p:sp>
      <p:sp>
        <p:nvSpPr>
          <p:cNvPr id="188" name="Google Shape;188;p5"/>
          <p:cNvSpPr/>
          <p:nvPr/>
        </p:nvSpPr>
        <p:spPr>
          <a:xfrm>
            <a:off x="2212848" y="4069080"/>
            <a:ext cx="2057400" cy="256032"/>
          </a:xfrm>
          <a:prstGeom prst="rect">
            <a:avLst/>
          </a:prstGeom>
          <a:solidFill>
            <a:srgbClr val="2EEA90"/>
          </a:solidFill>
          <a:ln cap="flat" cmpd="sng" w="12700">
            <a:solidFill>
              <a:srgbClr val="2EEA9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5"/>
          <p:cNvSpPr/>
          <p:nvPr/>
        </p:nvSpPr>
        <p:spPr>
          <a:xfrm>
            <a:off x="4407408" y="4050792"/>
            <a:ext cx="822960" cy="2286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2EEA90"/>
              </a:buClr>
              <a:buSzPts val="1250"/>
              <a:buFont typeface="Arial"/>
              <a:buNone/>
            </a:pPr>
            <a:r>
              <a:rPr b="1" i="0" lang="en-US" sz="1250" u="none" cap="none" strike="noStrike">
                <a:solidFill>
                  <a:srgbClr val="2EEA90"/>
                </a:solidFill>
                <a:latin typeface="Arial"/>
                <a:ea typeface="Arial"/>
                <a:cs typeface="Arial"/>
                <a:sym typeface="Arial"/>
              </a:rPr>
              <a:t>64.4%</a:t>
            </a:r>
            <a:endParaRPr b="0" i="0" sz="1250" u="none" cap="none" strike="noStrike">
              <a:solidFill>
                <a:schemeClr val="dk1"/>
              </a:solidFill>
              <a:latin typeface="Arial"/>
              <a:ea typeface="Arial"/>
              <a:cs typeface="Arial"/>
              <a:sym typeface="Arial"/>
            </a:endParaRPr>
          </a:p>
        </p:txBody>
      </p:sp>
      <p:sp>
        <p:nvSpPr>
          <p:cNvPr id="190" name="Google Shape;190;p5"/>
          <p:cNvSpPr/>
          <p:nvPr/>
        </p:nvSpPr>
        <p:spPr>
          <a:xfrm>
            <a:off x="960120" y="4590288"/>
            <a:ext cx="1188720" cy="201168"/>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A7BED1"/>
              </a:buClr>
              <a:buSzPts val="1050"/>
              <a:buFont typeface="Arial"/>
              <a:buNone/>
            </a:pPr>
            <a:r>
              <a:rPr b="1" i="0" lang="en-US" sz="1200" u="none" cap="none" strike="noStrike">
                <a:solidFill>
                  <a:srgbClr val="A7BED1"/>
                </a:solidFill>
                <a:latin typeface="Arial"/>
                <a:ea typeface="Arial"/>
                <a:cs typeface="Arial"/>
                <a:sym typeface="Arial"/>
              </a:rPr>
              <a:t>36-month ROI</a:t>
            </a:r>
            <a:endParaRPr b="1" i="0" sz="1200" u="none" cap="none" strike="noStrike">
              <a:solidFill>
                <a:schemeClr val="dk1"/>
              </a:solidFill>
              <a:latin typeface="Arial"/>
              <a:ea typeface="Arial"/>
              <a:cs typeface="Arial"/>
              <a:sym typeface="Arial"/>
            </a:endParaRPr>
          </a:p>
        </p:txBody>
      </p:sp>
      <p:sp>
        <p:nvSpPr>
          <p:cNvPr id="191" name="Google Shape;191;p5"/>
          <p:cNvSpPr/>
          <p:nvPr/>
        </p:nvSpPr>
        <p:spPr>
          <a:xfrm>
            <a:off x="2212848" y="4517136"/>
            <a:ext cx="5486400" cy="256032"/>
          </a:xfrm>
          <a:prstGeom prst="rect">
            <a:avLst/>
          </a:prstGeom>
          <a:solidFill>
            <a:srgbClr val="31D7F7"/>
          </a:solidFill>
          <a:ln cap="flat" cmpd="sng" w="12700">
            <a:solidFill>
              <a:srgbClr val="31D7F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5"/>
          <p:cNvSpPr/>
          <p:nvPr/>
        </p:nvSpPr>
        <p:spPr>
          <a:xfrm>
            <a:off x="7882128" y="4489704"/>
            <a:ext cx="914400" cy="2286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31D7F7"/>
              </a:buClr>
              <a:buSzPts val="1250"/>
              <a:buFont typeface="Arial"/>
              <a:buNone/>
            </a:pPr>
            <a:r>
              <a:rPr b="1" i="0" lang="en-US" sz="1250" u="none" cap="none" strike="noStrike">
                <a:solidFill>
                  <a:srgbClr val="31D7F7"/>
                </a:solidFill>
                <a:latin typeface="Arial"/>
                <a:ea typeface="Arial"/>
                <a:cs typeface="Arial"/>
                <a:sym typeface="Arial"/>
              </a:rPr>
              <a:t>206.0%</a:t>
            </a:r>
            <a:endParaRPr b="0" i="0" sz="1250" u="none" cap="none" strike="noStrike">
              <a:solidFill>
                <a:schemeClr val="dk1"/>
              </a:solidFill>
              <a:latin typeface="Arial"/>
              <a:ea typeface="Arial"/>
              <a:cs typeface="Arial"/>
              <a:sym typeface="Arial"/>
            </a:endParaRPr>
          </a:p>
        </p:txBody>
      </p:sp>
      <p:sp>
        <p:nvSpPr>
          <p:cNvPr id="193" name="Google Shape;193;p5"/>
          <p:cNvSpPr/>
          <p:nvPr/>
        </p:nvSpPr>
        <p:spPr>
          <a:xfrm>
            <a:off x="685800" y="5285232"/>
            <a:ext cx="4389120" cy="731520"/>
          </a:xfrm>
          <a:prstGeom prst="roundRect">
            <a:avLst>
              <a:gd fmla="val 8750" name="adj"/>
            </a:avLst>
          </a:prstGeom>
          <a:solidFill>
            <a:srgbClr val="0A2536"/>
          </a:solidFill>
          <a:ln cap="flat" cmpd="sng" w="11425">
            <a:solidFill>
              <a:srgbClr val="1B83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5"/>
          <p:cNvSpPr/>
          <p:nvPr/>
        </p:nvSpPr>
        <p:spPr>
          <a:xfrm>
            <a:off x="850425" y="5330999"/>
            <a:ext cx="4059900" cy="2742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4FAFF"/>
              </a:buClr>
              <a:buSzPts val="1300"/>
              <a:buFont typeface="Arial"/>
              <a:buNone/>
            </a:pPr>
            <a:r>
              <a:rPr b="1" i="0" lang="en-US" sz="1300" u="none" cap="none" strike="noStrike">
                <a:solidFill>
                  <a:srgbClr val="F4FAFF"/>
                </a:solidFill>
                <a:latin typeface="Arial"/>
                <a:ea typeface="Arial"/>
                <a:cs typeface="Arial"/>
                <a:sym typeface="Arial"/>
              </a:rPr>
              <a:t>Core value driver</a:t>
            </a:r>
            <a:endParaRPr b="0" i="0" sz="1300" u="none" cap="none" strike="noStrike">
              <a:solidFill>
                <a:schemeClr val="dk1"/>
              </a:solidFill>
              <a:latin typeface="Arial"/>
              <a:ea typeface="Arial"/>
              <a:cs typeface="Arial"/>
              <a:sym typeface="Arial"/>
            </a:endParaRPr>
          </a:p>
        </p:txBody>
      </p:sp>
      <p:sp>
        <p:nvSpPr>
          <p:cNvPr id="195" name="Google Shape;195;p5"/>
          <p:cNvSpPr/>
          <p:nvPr/>
        </p:nvSpPr>
        <p:spPr>
          <a:xfrm>
            <a:off x="850400" y="5651013"/>
            <a:ext cx="4059900" cy="228600"/>
          </a:xfrm>
          <a:prstGeom prst="rect">
            <a:avLst/>
          </a:prstGeom>
          <a:noFill/>
          <a:ln>
            <a:noFill/>
          </a:ln>
        </p:spPr>
        <p:txBody>
          <a:bodyPr anchorCtr="0" anchor="t" bIns="250" lIns="250" spcFirstLastPara="1" rIns="250" wrap="square" tIns="250">
            <a:normAutofit/>
          </a:bodyPr>
          <a:lstStyle/>
          <a:p>
            <a:pPr indent="0" lvl="0" marL="0" marR="0" rtl="0" algn="l">
              <a:lnSpc>
                <a:spcPct val="100000"/>
              </a:lnSpc>
              <a:spcBef>
                <a:spcPts val="0"/>
              </a:spcBef>
              <a:spcAft>
                <a:spcPts val="0"/>
              </a:spcAft>
              <a:buClr>
                <a:srgbClr val="A7BED1"/>
              </a:buClr>
              <a:buSzPts val="1200"/>
              <a:buFont typeface="Arial"/>
              <a:buNone/>
            </a:pPr>
            <a:r>
              <a:rPr b="0" i="0" lang="en-US" sz="1200" u="none" cap="none" strike="noStrike">
                <a:solidFill>
                  <a:srgbClr val="A7BED1"/>
                </a:solidFill>
                <a:latin typeface="Arial"/>
                <a:ea typeface="Arial"/>
                <a:cs typeface="Arial"/>
                <a:sym typeface="Arial"/>
              </a:rPr>
              <a:t>Less repetitive manual triage — not fewer analysts.</a:t>
            </a:r>
            <a:endParaRPr b="0" i="0" sz="1200" u="none" cap="none" strike="noStrike">
              <a:solidFill>
                <a:schemeClr val="dk1"/>
              </a:solidFill>
              <a:latin typeface="Arial"/>
              <a:ea typeface="Arial"/>
              <a:cs typeface="Arial"/>
              <a:sym typeface="Arial"/>
            </a:endParaRPr>
          </a:p>
        </p:txBody>
      </p:sp>
      <p:sp>
        <p:nvSpPr>
          <p:cNvPr id="196" name="Google Shape;196;p5"/>
          <p:cNvSpPr/>
          <p:nvPr/>
        </p:nvSpPr>
        <p:spPr>
          <a:xfrm>
            <a:off x="5440680" y="5285232"/>
            <a:ext cx="4434840" cy="731520"/>
          </a:xfrm>
          <a:prstGeom prst="roundRect">
            <a:avLst>
              <a:gd fmla="val 8750" name="adj"/>
            </a:avLst>
          </a:prstGeom>
          <a:solidFill>
            <a:srgbClr val="0B2A28"/>
          </a:solidFill>
          <a:ln cap="flat" cmpd="sng" w="11425">
            <a:solidFill>
              <a:srgbClr val="2EEA9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5"/>
          <p:cNvSpPr/>
          <p:nvPr/>
        </p:nvSpPr>
        <p:spPr>
          <a:xfrm>
            <a:off x="5605275" y="5321825"/>
            <a:ext cx="4105800" cy="2742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4FAFF"/>
              </a:buClr>
              <a:buSzPts val="1300"/>
              <a:buFont typeface="Arial"/>
              <a:buNone/>
            </a:pPr>
            <a:r>
              <a:rPr b="1" i="0" lang="en-US" sz="1300" u="none" cap="none" strike="noStrike">
                <a:solidFill>
                  <a:srgbClr val="F4FAFF"/>
                </a:solidFill>
                <a:latin typeface="Arial"/>
                <a:ea typeface="Arial"/>
                <a:cs typeface="Arial"/>
                <a:sym typeface="Arial"/>
              </a:rPr>
              <a:t>Investment decision</a:t>
            </a:r>
            <a:endParaRPr b="0" i="0" sz="1300" u="none" cap="none" strike="noStrike">
              <a:solidFill>
                <a:schemeClr val="dk1"/>
              </a:solidFill>
              <a:latin typeface="Arial"/>
              <a:ea typeface="Arial"/>
              <a:cs typeface="Arial"/>
              <a:sym typeface="Arial"/>
            </a:endParaRPr>
          </a:p>
        </p:txBody>
      </p:sp>
      <p:sp>
        <p:nvSpPr>
          <p:cNvPr id="198" name="Google Shape;198;p5"/>
          <p:cNvSpPr/>
          <p:nvPr/>
        </p:nvSpPr>
        <p:spPr>
          <a:xfrm>
            <a:off x="5605275" y="5559577"/>
            <a:ext cx="4105800" cy="457200"/>
          </a:xfrm>
          <a:prstGeom prst="rect">
            <a:avLst/>
          </a:prstGeom>
          <a:noFill/>
          <a:ln>
            <a:noFill/>
          </a:ln>
        </p:spPr>
        <p:txBody>
          <a:bodyPr anchorCtr="0" anchor="t" bIns="250" lIns="250" spcFirstLastPara="1" rIns="250" wrap="square" tIns="250">
            <a:normAutofit/>
          </a:bodyPr>
          <a:lstStyle/>
          <a:p>
            <a:pPr indent="0" lvl="0" marL="0" marR="0" rtl="0" algn="l">
              <a:lnSpc>
                <a:spcPct val="100000"/>
              </a:lnSpc>
              <a:spcBef>
                <a:spcPts val="0"/>
              </a:spcBef>
              <a:spcAft>
                <a:spcPts val="0"/>
              </a:spcAft>
              <a:buClr>
                <a:srgbClr val="A7BED1"/>
              </a:buClr>
              <a:buSzPts val="1150"/>
              <a:buFont typeface="Arial"/>
              <a:buNone/>
            </a:pPr>
            <a:r>
              <a:rPr b="0" i="0" lang="en-US" sz="1150" u="none" cap="none" strike="noStrike">
                <a:solidFill>
                  <a:srgbClr val="A7BED1"/>
                </a:solidFill>
                <a:latin typeface="Arial"/>
                <a:ea typeface="Arial"/>
                <a:cs typeface="Arial"/>
                <a:sym typeface="Arial"/>
              </a:rPr>
              <a:t>Fund a small pilot to validate time savings, adoption and reliability before scaling.</a:t>
            </a:r>
            <a:endParaRPr b="0" i="0" sz="115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1724"/>
        </a:solidFill>
      </p:bgPr>
    </p:bg>
    <p:spTree>
      <p:nvGrpSpPr>
        <p:cNvPr id="203" name="Shape 203"/>
        <p:cNvGrpSpPr/>
        <p:nvPr/>
      </p:nvGrpSpPr>
      <p:grpSpPr>
        <a:xfrm>
          <a:off x="0" y="0"/>
          <a:ext cx="0" cy="0"/>
          <a:chOff x="0" y="0"/>
          <a:chExt cx="0" cy="0"/>
        </a:xfrm>
      </p:grpSpPr>
      <p:pic>
        <p:nvPicPr>
          <p:cNvPr descr="/mnt/data/finradar_logo_watermark_dark.png" id="204" name="Google Shape;204;p6"/>
          <p:cNvPicPr preferRelativeResize="0"/>
          <p:nvPr/>
        </p:nvPicPr>
        <p:blipFill rotWithShape="1">
          <a:blip r:embed="rId3">
            <a:alphaModFix/>
          </a:blip>
          <a:srcRect b="0" l="0" r="0" t="0"/>
          <a:stretch/>
        </p:blipFill>
        <p:spPr>
          <a:xfrm>
            <a:off x="10561320" y="502920"/>
            <a:ext cx="685800" cy="685800"/>
          </a:xfrm>
          <a:prstGeom prst="rect">
            <a:avLst/>
          </a:prstGeom>
          <a:noFill/>
          <a:ln>
            <a:noFill/>
          </a:ln>
        </p:spPr>
      </p:pic>
      <p:sp>
        <p:nvSpPr>
          <p:cNvPr id="205" name="Google Shape;205;p6"/>
          <p:cNvSpPr/>
          <p:nvPr/>
        </p:nvSpPr>
        <p:spPr>
          <a:xfrm>
            <a:off x="393192" y="228600"/>
            <a:ext cx="2743200" cy="219456"/>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31D7F7"/>
              </a:buClr>
              <a:buSzPts val="950"/>
              <a:buFont typeface="Arial"/>
              <a:buNone/>
            </a:pPr>
            <a:r>
              <a:rPr b="1" i="0" lang="en-US" sz="1200" u="none" cap="none" strike="noStrike">
                <a:solidFill>
                  <a:srgbClr val="31D7F7"/>
                </a:solidFill>
                <a:latin typeface="Arial"/>
                <a:ea typeface="Arial"/>
                <a:cs typeface="Arial"/>
                <a:sym typeface="Arial"/>
              </a:rPr>
              <a:t>FinRadar AI | Round 2</a:t>
            </a:r>
            <a:endParaRPr b="0" i="0" sz="1200" u="none" cap="none" strike="noStrike">
              <a:solidFill>
                <a:schemeClr val="dk1"/>
              </a:solidFill>
              <a:latin typeface="Arial"/>
              <a:ea typeface="Arial"/>
              <a:cs typeface="Arial"/>
              <a:sym typeface="Arial"/>
            </a:endParaRPr>
          </a:p>
        </p:txBody>
      </p:sp>
      <p:pic>
        <p:nvPicPr>
          <p:cNvPr descr="/mnt/data/ironhack-logo.png" id="206" name="Google Shape;206;p6"/>
          <p:cNvPicPr preferRelativeResize="0"/>
          <p:nvPr/>
        </p:nvPicPr>
        <p:blipFill rotWithShape="1">
          <a:blip r:embed="rId4">
            <a:alphaModFix/>
          </a:blip>
          <a:srcRect b="0" l="0" r="0" t="0"/>
          <a:stretch/>
        </p:blipFill>
        <p:spPr>
          <a:xfrm>
            <a:off x="10469880" y="173736"/>
            <a:ext cx="1234440" cy="201168"/>
          </a:xfrm>
          <a:prstGeom prst="rect">
            <a:avLst/>
          </a:prstGeom>
          <a:noFill/>
          <a:ln>
            <a:noFill/>
          </a:ln>
        </p:spPr>
      </p:pic>
      <p:cxnSp>
        <p:nvCxnSpPr>
          <p:cNvPr id="207" name="Google Shape;207;p6"/>
          <p:cNvCxnSpPr/>
          <p:nvPr/>
        </p:nvCxnSpPr>
        <p:spPr>
          <a:xfrm>
            <a:off x="393192" y="6473952"/>
            <a:ext cx="11384280" cy="0"/>
          </a:xfrm>
          <a:prstGeom prst="straightConnector1">
            <a:avLst/>
          </a:prstGeom>
          <a:noFill/>
          <a:ln cap="flat" cmpd="sng" w="12700">
            <a:solidFill>
              <a:srgbClr val="1A3949"/>
            </a:solidFill>
            <a:prstDash val="solid"/>
            <a:round/>
            <a:headEnd len="sm" w="sm" type="none"/>
            <a:tailEnd len="sm" w="sm" type="none"/>
          </a:ln>
        </p:spPr>
      </p:cxnSp>
      <p:sp>
        <p:nvSpPr>
          <p:cNvPr id="208" name="Google Shape;208;p6"/>
          <p:cNvSpPr/>
          <p:nvPr/>
        </p:nvSpPr>
        <p:spPr>
          <a:xfrm>
            <a:off x="393192" y="6528816"/>
            <a:ext cx="2377440" cy="201168"/>
          </a:xfrm>
          <a:prstGeom prst="rect">
            <a:avLst/>
          </a:prstGeom>
          <a:noFill/>
          <a:ln>
            <a:noFill/>
          </a:ln>
        </p:spPr>
        <p:txBody>
          <a:bodyPr anchorCtr="0" anchor="ctr" bIns="500" lIns="500" spcFirstLastPara="1" rIns="500" wrap="square" tIns="500">
            <a:normAutofit/>
          </a:bodyPr>
          <a:lstStyle/>
          <a:p>
            <a:pPr indent="0" lvl="0" marL="0" marR="0" rtl="0" algn="l">
              <a:lnSpc>
                <a:spcPct val="100000"/>
              </a:lnSpc>
              <a:spcBef>
                <a:spcPts val="0"/>
              </a:spcBef>
              <a:spcAft>
                <a:spcPts val="0"/>
              </a:spcAft>
              <a:buClr>
                <a:srgbClr val="A7BED1"/>
              </a:buClr>
              <a:buSzPts val="900"/>
              <a:buFont typeface="Arial"/>
              <a:buNone/>
            </a:pPr>
            <a:r>
              <a:rPr b="0" i="0" lang="en-US" sz="1200" u="none" cap="none" strike="noStrike">
                <a:solidFill>
                  <a:srgbClr val="A7BED1"/>
                </a:solidFill>
                <a:latin typeface="Arial"/>
                <a:ea typeface="Arial"/>
                <a:cs typeface="Arial"/>
                <a:sym typeface="Arial"/>
              </a:rPr>
              <a:t>AI Assists - Humans Decide</a:t>
            </a:r>
            <a:endParaRPr b="0" i="0" sz="1200" u="none" cap="none" strike="noStrike">
              <a:solidFill>
                <a:schemeClr val="dk1"/>
              </a:solidFill>
              <a:latin typeface="Arial"/>
              <a:ea typeface="Arial"/>
              <a:cs typeface="Arial"/>
              <a:sym typeface="Arial"/>
            </a:endParaRPr>
          </a:p>
        </p:txBody>
      </p:sp>
      <p:sp>
        <p:nvSpPr>
          <p:cNvPr id="209" name="Google Shape;209;p6"/>
          <p:cNvSpPr/>
          <p:nvPr/>
        </p:nvSpPr>
        <p:spPr>
          <a:xfrm>
            <a:off x="11475720" y="6528816"/>
            <a:ext cx="320040" cy="201168"/>
          </a:xfrm>
          <a:prstGeom prst="rect">
            <a:avLst/>
          </a:prstGeom>
          <a:noFill/>
          <a:ln>
            <a:noFill/>
          </a:ln>
        </p:spPr>
        <p:txBody>
          <a:bodyPr anchorCtr="0" anchor="ctr" bIns="500" lIns="500" spcFirstLastPara="1" rIns="500" wrap="square" tIns="500">
            <a:normAutofit/>
          </a:bodyPr>
          <a:lstStyle/>
          <a:p>
            <a:pPr indent="0" lvl="0" marL="0" marR="0" rtl="0" algn="r">
              <a:lnSpc>
                <a:spcPct val="100000"/>
              </a:lnSpc>
              <a:spcBef>
                <a:spcPts val="0"/>
              </a:spcBef>
              <a:spcAft>
                <a:spcPts val="0"/>
              </a:spcAft>
              <a:buClr>
                <a:srgbClr val="A7BED1"/>
              </a:buClr>
              <a:buSzPts val="900"/>
              <a:buFont typeface="Arial"/>
              <a:buNone/>
            </a:pPr>
            <a:r>
              <a:rPr b="0" i="0" lang="en-US" sz="1400" u="none" cap="none" strike="noStrike">
                <a:solidFill>
                  <a:srgbClr val="000000"/>
                </a:solidFill>
                <a:latin typeface="Arial"/>
                <a:ea typeface="Arial"/>
                <a:cs typeface="Arial"/>
                <a:sym typeface="Arial"/>
              </a:rPr>
              <a:t>07</a:t>
            </a:r>
            <a:endParaRPr b="0" i="0" sz="900" u="none" cap="none" strike="noStrike">
              <a:solidFill>
                <a:schemeClr val="dk1"/>
              </a:solidFill>
              <a:latin typeface="Arial"/>
              <a:ea typeface="Arial"/>
              <a:cs typeface="Arial"/>
              <a:sym typeface="Arial"/>
            </a:endParaRPr>
          </a:p>
        </p:txBody>
      </p:sp>
      <p:sp>
        <p:nvSpPr>
          <p:cNvPr id="210" name="Google Shape;210;p6"/>
          <p:cNvSpPr/>
          <p:nvPr/>
        </p:nvSpPr>
        <p:spPr>
          <a:xfrm>
            <a:off x="713225" y="595125"/>
            <a:ext cx="9235500" cy="6666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4FAFF"/>
              </a:buClr>
              <a:buSzPts val="2800"/>
              <a:buFont typeface="Arial"/>
              <a:buNone/>
            </a:pPr>
            <a:r>
              <a:rPr b="1" i="0" lang="en-US" sz="2800" u="none" cap="none" strike="noStrike">
                <a:solidFill>
                  <a:srgbClr val="F4FAFF"/>
                </a:solidFill>
                <a:latin typeface="Arial"/>
                <a:ea typeface="Arial"/>
                <a:cs typeface="Arial"/>
                <a:sym typeface="Arial"/>
              </a:rPr>
              <a:t>Risk Assessment: Top Risks &amp; Mitigations</a:t>
            </a:r>
            <a:endParaRPr b="0" i="0" sz="2800" u="none" cap="none" strike="noStrike">
              <a:solidFill>
                <a:schemeClr val="dk1"/>
              </a:solidFill>
              <a:latin typeface="Arial"/>
              <a:ea typeface="Arial"/>
              <a:cs typeface="Arial"/>
              <a:sym typeface="Arial"/>
            </a:endParaRPr>
          </a:p>
        </p:txBody>
      </p:sp>
      <p:sp>
        <p:nvSpPr>
          <p:cNvPr id="211" name="Google Shape;211;p6"/>
          <p:cNvSpPr/>
          <p:nvPr/>
        </p:nvSpPr>
        <p:spPr>
          <a:xfrm>
            <a:off x="685800" y="1353300"/>
            <a:ext cx="10087800" cy="3291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A7BED1"/>
              </a:buClr>
              <a:buSzPts val="1230"/>
              <a:buFont typeface="Arial"/>
              <a:buNone/>
            </a:pPr>
            <a:r>
              <a:rPr b="0" i="0" lang="en-US" sz="1400" u="none" cap="none" strike="noStrike">
                <a:solidFill>
                  <a:srgbClr val="A7BED1"/>
                </a:solidFill>
                <a:latin typeface="Arial"/>
                <a:ea typeface="Arial"/>
                <a:cs typeface="Arial"/>
                <a:sym typeface="Arial"/>
              </a:rPr>
              <a:t>The full matrix covers more than six regulatory, technical, ethical and operational risks. These are the key pilot blockers.</a:t>
            </a:r>
            <a:endParaRPr b="0" i="0" sz="1400" u="none" cap="none" strike="noStrike">
              <a:solidFill>
                <a:schemeClr val="dk1"/>
              </a:solidFill>
              <a:latin typeface="Arial"/>
              <a:ea typeface="Arial"/>
              <a:cs typeface="Arial"/>
              <a:sym typeface="Arial"/>
            </a:endParaRPr>
          </a:p>
        </p:txBody>
      </p:sp>
      <p:sp>
        <p:nvSpPr>
          <p:cNvPr id="212" name="Google Shape;212;p6"/>
          <p:cNvSpPr/>
          <p:nvPr/>
        </p:nvSpPr>
        <p:spPr>
          <a:xfrm>
            <a:off x="685800" y="1874520"/>
            <a:ext cx="10287000" cy="420624"/>
          </a:xfrm>
          <a:prstGeom prst="roundRect">
            <a:avLst>
              <a:gd fmla="val 8696" name="adj"/>
            </a:avLst>
          </a:prstGeom>
          <a:solidFill>
            <a:srgbClr val="0B3347"/>
          </a:solidFill>
          <a:ln cap="flat" cmpd="sng" w="10150">
            <a:solidFill>
              <a:srgbClr val="1FBFE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6"/>
          <p:cNvSpPr/>
          <p:nvPr/>
        </p:nvSpPr>
        <p:spPr>
          <a:xfrm>
            <a:off x="868675" y="1975097"/>
            <a:ext cx="1828800" cy="2193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31D7F7"/>
              </a:buClr>
              <a:buSzPts val="1100"/>
              <a:buFont typeface="Arial"/>
              <a:buNone/>
            </a:pPr>
            <a:r>
              <a:rPr b="1" i="0" lang="en-US" sz="1200" u="none" cap="none" strike="noStrike">
                <a:solidFill>
                  <a:srgbClr val="31D7F7"/>
                </a:solidFill>
                <a:latin typeface="Arial"/>
                <a:ea typeface="Arial"/>
                <a:cs typeface="Arial"/>
                <a:sym typeface="Arial"/>
              </a:rPr>
              <a:t>Risk</a:t>
            </a:r>
            <a:endParaRPr b="0" i="0" sz="1200" u="none" cap="none" strike="noStrike">
              <a:solidFill>
                <a:schemeClr val="dk1"/>
              </a:solidFill>
              <a:latin typeface="Arial"/>
              <a:ea typeface="Arial"/>
              <a:cs typeface="Arial"/>
              <a:sym typeface="Arial"/>
            </a:endParaRPr>
          </a:p>
        </p:txBody>
      </p:sp>
      <p:sp>
        <p:nvSpPr>
          <p:cNvPr id="214" name="Google Shape;214;p6"/>
          <p:cNvSpPr/>
          <p:nvPr/>
        </p:nvSpPr>
        <p:spPr>
          <a:xfrm>
            <a:off x="3657600" y="1975097"/>
            <a:ext cx="2011800" cy="2193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31D7F7"/>
              </a:buClr>
              <a:buSzPts val="1100"/>
              <a:buFont typeface="Arial"/>
              <a:buNone/>
            </a:pPr>
            <a:r>
              <a:rPr b="1" i="0" lang="en-US" sz="1200" u="none" cap="none" strike="noStrike">
                <a:solidFill>
                  <a:srgbClr val="31D7F7"/>
                </a:solidFill>
                <a:latin typeface="Arial"/>
                <a:ea typeface="Arial"/>
                <a:cs typeface="Arial"/>
                <a:sym typeface="Arial"/>
              </a:rPr>
              <a:t>Likelihood / Impact</a:t>
            </a:r>
            <a:endParaRPr b="0" i="0" sz="1200" u="none" cap="none" strike="noStrike">
              <a:solidFill>
                <a:schemeClr val="dk1"/>
              </a:solidFill>
              <a:latin typeface="Arial"/>
              <a:ea typeface="Arial"/>
              <a:cs typeface="Arial"/>
              <a:sym typeface="Arial"/>
            </a:endParaRPr>
          </a:p>
        </p:txBody>
      </p:sp>
      <p:sp>
        <p:nvSpPr>
          <p:cNvPr id="215" name="Google Shape;215;p6"/>
          <p:cNvSpPr/>
          <p:nvPr/>
        </p:nvSpPr>
        <p:spPr>
          <a:xfrm>
            <a:off x="6217925" y="1975099"/>
            <a:ext cx="1828800" cy="2193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31D7F7"/>
              </a:buClr>
              <a:buSzPts val="1100"/>
              <a:buFont typeface="Arial"/>
              <a:buNone/>
            </a:pPr>
            <a:r>
              <a:rPr b="1" i="0" lang="en-US" sz="1200" u="none" cap="none" strike="noStrike">
                <a:solidFill>
                  <a:srgbClr val="31D7F7"/>
                </a:solidFill>
                <a:latin typeface="Arial"/>
                <a:ea typeface="Arial"/>
                <a:cs typeface="Arial"/>
                <a:sym typeface="Arial"/>
              </a:rPr>
              <a:t>Mitigation</a:t>
            </a:r>
            <a:endParaRPr b="0" i="0" sz="1200" u="none" cap="none" strike="noStrike">
              <a:solidFill>
                <a:schemeClr val="dk1"/>
              </a:solidFill>
              <a:latin typeface="Arial"/>
              <a:ea typeface="Arial"/>
              <a:cs typeface="Arial"/>
              <a:sym typeface="Arial"/>
            </a:endParaRPr>
          </a:p>
        </p:txBody>
      </p:sp>
      <p:sp>
        <p:nvSpPr>
          <p:cNvPr id="216" name="Google Shape;216;p6"/>
          <p:cNvSpPr/>
          <p:nvPr/>
        </p:nvSpPr>
        <p:spPr>
          <a:xfrm>
            <a:off x="685800" y="2359152"/>
            <a:ext cx="10287000" cy="786384"/>
          </a:xfrm>
          <a:prstGeom prst="roundRect">
            <a:avLst>
              <a:gd fmla="val 4651" name="adj"/>
            </a:avLst>
          </a:prstGeom>
          <a:solidFill>
            <a:srgbClr val="0A2230"/>
          </a:solidFill>
          <a:ln cap="flat" cmpd="sng" w="9525">
            <a:solidFill>
              <a:srgbClr val="173B4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6"/>
          <p:cNvSpPr/>
          <p:nvPr/>
        </p:nvSpPr>
        <p:spPr>
          <a:xfrm>
            <a:off x="868675" y="2514600"/>
            <a:ext cx="2331600" cy="5028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F6B84A"/>
              </a:buClr>
              <a:buSzPts val="1350"/>
              <a:buFont typeface="Arial"/>
              <a:buNone/>
            </a:pPr>
            <a:r>
              <a:rPr b="1" i="0" lang="en-US" sz="1350" u="none" cap="none" strike="noStrike">
                <a:solidFill>
                  <a:srgbClr val="F6B84A"/>
                </a:solidFill>
                <a:latin typeface="Arial"/>
                <a:ea typeface="Arial"/>
                <a:cs typeface="Arial"/>
                <a:sym typeface="Arial"/>
              </a:rPr>
              <a:t>AI output error</a:t>
            </a:r>
            <a:endParaRPr b="0" i="0" sz="1350" u="none" cap="none" strike="noStrike">
              <a:solidFill>
                <a:schemeClr val="dk1"/>
              </a:solidFill>
              <a:latin typeface="Arial"/>
              <a:ea typeface="Arial"/>
              <a:cs typeface="Arial"/>
              <a:sym typeface="Arial"/>
            </a:endParaRPr>
          </a:p>
        </p:txBody>
      </p:sp>
      <p:sp>
        <p:nvSpPr>
          <p:cNvPr id="218" name="Google Shape;218;p6"/>
          <p:cNvSpPr/>
          <p:nvPr/>
        </p:nvSpPr>
        <p:spPr>
          <a:xfrm>
            <a:off x="3657600" y="2542020"/>
            <a:ext cx="1828800" cy="4206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4FAFF"/>
              </a:buClr>
              <a:buSzPts val="1200"/>
              <a:buFont typeface="Arial"/>
              <a:buNone/>
            </a:pPr>
            <a:r>
              <a:rPr b="1" i="0" lang="en-US" sz="1200" u="none" cap="none" strike="noStrike">
                <a:solidFill>
                  <a:srgbClr val="F4FAFF"/>
                </a:solidFill>
                <a:latin typeface="Arial"/>
                <a:ea typeface="Arial"/>
                <a:cs typeface="Arial"/>
                <a:sym typeface="Arial"/>
              </a:rPr>
              <a:t>Medium / High</a:t>
            </a:r>
            <a:endParaRPr b="0" i="0" sz="1200" u="none" cap="none" strike="noStrike">
              <a:solidFill>
                <a:schemeClr val="dk1"/>
              </a:solidFill>
              <a:latin typeface="Arial"/>
              <a:ea typeface="Arial"/>
              <a:cs typeface="Arial"/>
              <a:sym typeface="Arial"/>
            </a:endParaRPr>
          </a:p>
        </p:txBody>
      </p:sp>
      <p:sp>
        <p:nvSpPr>
          <p:cNvPr id="219" name="Google Shape;219;p6"/>
          <p:cNvSpPr/>
          <p:nvPr/>
        </p:nvSpPr>
        <p:spPr>
          <a:xfrm>
            <a:off x="6126475" y="2468873"/>
            <a:ext cx="4251900" cy="5484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A7BED1"/>
              </a:buClr>
              <a:buSzPts val="1120"/>
              <a:buFont typeface="Arial"/>
              <a:buNone/>
            </a:pPr>
            <a:r>
              <a:rPr b="0" i="0" lang="en-US" sz="1200" u="none" cap="none" strike="noStrike">
                <a:solidFill>
                  <a:srgbClr val="A7BED1"/>
                </a:solidFill>
                <a:latin typeface="Arial"/>
                <a:ea typeface="Arial"/>
                <a:cs typeface="Arial"/>
                <a:sym typeface="Arial"/>
              </a:rPr>
              <a:t>Human review, deterministic escalation, pilot evaluation before deployment</a:t>
            </a:r>
            <a:r>
              <a:rPr lang="en-US" sz="1200">
                <a:solidFill>
                  <a:srgbClr val="A7BED1"/>
                </a:solidFill>
              </a:rPr>
              <a:t> &amp; KPI pass</a:t>
            </a:r>
            <a:endParaRPr b="0" i="0" sz="1200" u="none" cap="none" strike="noStrike">
              <a:solidFill>
                <a:schemeClr val="dk1"/>
              </a:solidFill>
              <a:latin typeface="Arial"/>
              <a:ea typeface="Arial"/>
              <a:cs typeface="Arial"/>
              <a:sym typeface="Arial"/>
            </a:endParaRPr>
          </a:p>
        </p:txBody>
      </p:sp>
      <p:sp>
        <p:nvSpPr>
          <p:cNvPr id="220" name="Google Shape;220;p6"/>
          <p:cNvSpPr/>
          <p:nvPr/>
        </p:nvSpPr>
        <p:spPr>
          <a:xfrm>
            <a:off x="685800" y="3319272"/>
            <a:ext cx="10287000" cy="786384"/>
          </a:xfrm>
          <a:prstGeom prst="roundRect">
            <a:avLst>
              <a:gd fmla="val 4651" name="adj"/>
            </a:avLst>
          </a:prstGeom>
          <a:solidFill>
            <a:srgbClr val="0C2A3A"/>
          </a:solidFill>
          <a:ln cap="flat" cmpd="sng" w="9525">
            <a:solidFill>
              <a:srgbClr val="173B4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6"/>
          <p:cNvSpPr/>
          <p:nvPr/>
        </p:nvSpPr>
        <p:spPr>
          <a:xfrm>
            <a:off x="868625" y="3429000"/>
            <a:ext cx="2331600" cy="5484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FF5A64"/>
              </a:buClr>
              <a:buSzPts val="1350"/>
              <a:buFont typeface="Arial"/>
              <a:buNone/>
            </a:pPr>
            <a:r>
              <a:rPr b="1" i="0" lang="en-US" sz="1350" u="none" cap="none" strike="noStrike">
                <a:solidFill>
                  <a:srgbClr val="FF5A64"/>
                </a:solidFill>
                <a:latin typeface="Arial"/>
                <a:ea typeface="Arial"/>
                <a:cs typeface="Arial"/>
                <a:sym typeface="Arial"/>
              </a:rPr>
              <a:t>Compliance scope creep</a:t>
            </a:r>
            <a:endParaRPr b="0" i="0" sz="1350" u="none" cap="none" strike="noStrike">
              <a:solidFill>
                <a:schemeClr val="dk1"/>
              </a:solidFill>
              <a:latin typeface="Arial"/>
              <a:ea typeface="Arial"/>
              <a:cs typeface="Arial"/>
              <a:sym typeface="Arial"/>
            </a:endParaRPr>
          </a:p>
        </p:txBody>
      </p:sp>
      <p:sp>
        <p:nvSpPr>
          <p:cNvPr id="222" name="Google Shape;222;p6"/>
          <p:cNvSpPr/>
          <p:nvPr/>
        </p:nvSpPr>
        <p:spPr>
          <a:xfrm>
            <a:off x="3657600" y="3502149"/>
            <a:ext cx="1828800" cy="4023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4FAFF"/>
              </a:buClr>
              <a:buSzPts val="1200"/>
              <a:buFont typeface="Arial"/>
              <a:buNone/>
            </a:pPr>
            <a:r>
              <a:rPr b="1" i="0" lang="en-US" sz="1200" u="none" cap="none" strike="noStrike">
                <a:solidFill>
                  <a:srgbClr val="F4FAFF"/>
                </a:solidFill>
                <a:latin typeface="Arial"/>
                <a:ea typeface="Arial"/>
                <a:cs typeface="Arial"/>
                <a:sym typeface="Arial"/>
              </a:rPr>
              <a:t>Medium / High</a:t>
            </a:r>
            <a:endParaRPr b="0" i="0" sz="1200" u="none" cap="none" strike="noStrike">
              <a:solidFill>
                <a:schemeClr val="dk1"/>
              </a:solidFill>
              <a:latin typeface="Arial"/>
              <a:ea typeface="Arial"/>
              <a:cs typeface="Arial"/>
              <a:sym typeface="Arial"/>
            </a:endParaRPr>
          </a:p>
        </p:txBody>
      </p:sp>
      <p:sp>
        <p:nvSpPr>
          <p:cNvPr id="223" name="Google Shape;223;p6"/>
          <p:cNvSpPr/>
          <p:nvPr/>
        </p:nvSpPr>
        <p:spPr>
          <a:xfrm>
            <a:off x="6126475" y="3429000"/>
            <a:ext cx="4251900" cy="5484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A7BED1"/>
              </a:buClr>
              <a:buSzPts val="1120"/>
              <a:buFont typeface="Arial"/>
              <a:buNone/>
            </a:pPr>
            <a:r>
              <a:rPr b="0" i="0" lang="en-US" sz="1200" u="none" cap="none" strike="noStrike">
                <a:solidFill>
                  <a:srgbClr val="A7BED1"/>
                </a:solidFill>
                <a:latin typeface="Arial"/>
                <a:ea typeface="Arial"/>
                <a:cs typeface="Arial"/>
                <a:sym typeface="Arial"/>
              </a:rPr>
              <a:t>Keep system advisory; reassess EU AI Act/GDPR if portfolio data is added</a:t>
            </a:r>
            <a:endParaRPr b="0" i="0" sz="1200" u="none" cap="none" strike="noStrike">
              <a:solidFill>
                <a:schemeClr val="dk1"/>
              </a:solidFill>
              <a:latin typeface="Arial"/>
              <a:ea typeface="Arial"/>
              <a:cs typeface="Arial"/>
              <a:sym typeface="Arial"/>
            </a:endParaRPr>
          </a:p>
        </p:txBody>
      </p:sp>
      <p:sp>
        <p:nvSpPr>
          <p:cNvPr id="224" name="Google Shape;224;p6"/>
          <p:cNvSpPr/>
          <p:nvPr/>
        </p:nvSpPr>
        <p:spPr>
          <a:xfrm>
            <a:off x="685800" y="4279392"/>
            <a:ext cx="10287000" cy="786384"/>
          </a:xfrm>
          <a:prstGeom prst="roundRect">
            <a:avLst>
              <a:gd fmla="val 4651" name="adj"/>
            </a:avLst>
          </a:prstGeom>
          <a:solidFill>
            <a:srgbClr val="0A2230"/>
          </a:solidFill>
          <a:ln cap="flat" cmpd="sng" w="9525">
            <a:solidFill>
              <a:srgbClr val="173B4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6"/>
          <p:cNvSpPr/>
          <p:nvPr/>
        </p:nvSpPr>
        <p:spPr>
          <a:xfrm>
            <a:off x="868675" y="4434853"/>
            <a:ext cx="2331600" cy="4206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31D7F7"/>
              </a:buClr>
              <a:buSzPts val="1350"/>
              <a:buFont typeface="Arial"/>
              <a:buNone/>
            </a:pPr>
            <a:r>
              <a:rPr b="1" i="0" lang="en-US" sz="1350" u="none" cap="none" strike="noStrike">
                <a:solidFill>
                  <a:srgbClr val="31D7F7"/>
                </a:solidFill>
                <a:latin typeface="Arial"/>
                <a:ea typeface="Arial"/>
                <a:cs typeface="Arial"/>
                <a:sym typeface="Arial"/>
              </a:rPr>
              <a:t>External API dependency</a:t>
            </a:r>
            <a:endParaRPr b="0" i="0" sz="1350" u="none" cap="none" strike="noStrike">
              <a:solidFill>
                <a:schemeClr val="dk1"/>
              </a:solidFill>
              <a:latin typeface="Arial"/>
              <a:ea typeface="Arial"/>
              <a:cs typeface="Arial"/>
              <a:sym typeface="Arial"/>
            </a:endParaRPr>
          </a:p>
        </p:txBody>
      </p:sp>
      <p:sp>
        <p:nvSpPr>
          <p:cNvPr id="226" name="Google Shape;226;p6"/>
          <p:cNvSpPr/>
          <p:nvPr/>
        </p:nvSpPr>
        <p:spPr>
          <a:xfrm>
            <a:off x="3657600" y="4462277"/>
            <a:ext cx="1828800" cy="4206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4FAFF"/>
              </a:buClr>
              <a:buSzPts val="1200"/>
              <a:buFont typeface="Arial"/>
              <a:buNone/>
            </a:pPr>
            <a:r>
              <a:rPr b="1" i="0" lang="en-US" sz="1200" u="none" cap="none" strike="noStrike">
                <a:solidFill>
                  <a:srgbClr val="F4FAFF"/>
                </a:solidFill>
                <a:latin typeface="Arial"/>
                <a:ea typeface="Arial"/>
                <a:cs typeface="Arial"/>
                <a:sym typeface="Arial"/>
              </a:rPr>
              <a:t>Medium / Medium</a:t>
            </a:r>
            <a:endParaRPr b="0" i="0" sz="1200" u="none" cap="none" strike="noStrike">
              <a:solidFill>
                <a:schemeClr val="dk1"/>
              </a:solidFill>
              <a:latin typeface="Arial"/>
              <a:ea typeface="Arial"/>
              <a:cs typeface="Arial"/>
              <a:sym typeface="Arial"/>
            </a:endParaRPr>
          </a:p>
        </p:txBody>
      </p:sp>
      <p:sp>
        <p:nvSpPr>
          <p:cNvPr id="227" name="Google Shape;227;p6"/>
          <p:cNvSpPr/>
          <p:nvPr/>
        </p:nvSpPr>
        <p:spPr>
          <a:xfrm>
            <a:off x="6126475" y="4389127"/>
            <a:ext cx="4251900" cy="5484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A7BED1"/>
              </a:buClr>
              <a:buSzPts val="1120"/>
              <a:buFont typeface="Arial"/>
              <a:buNone/>
            </a:pPr>
            <a:r>
              <a:rPr b="0" i="0" lang="en-US" sz="1200" u="none" cap="none" strike="noStrike">
                <a:solidFill>
                  <a:srgbClr val="A7BED1"/>
                </a:solidFill>
                <a:latin typeface="Arial"/>
                <a:ea typeface="Arial"/>
                <a:cs typeface="Arial"/>
                <a:sym typeface="Arial"/>
              </a:rPr>
              <a:t>Manual fallback, vendor review, monitoring and production SLAs before rollout(</a:t>
            </a:r>
            <a:r>
              <a:rPr lang="en-US" sz="1200">
                <a:solidFill>
                  <a:srgbClr val="A7BED1"/>
                </a:solidFill>
              </a:rPr>
              <a:t>v</a:t>
            </a:r>
            <a:r>
              <a:rPr b="0" i="0" lang="en-US" sz="1200" u="none" cap="none" strike="noStrike">
                <a:solidFill>
                  <a:srgbClr val="A7BED1"/>
                </a:solidFill>
                <a:latin typeface="Arial"/>
                <a:ea typeface="Arial"/>
                <a:cs typeface="Arial"/>
                <a:sym typeface="Arial"/>
              </a:rPr>
              <a:t>endor</a:t>
            </a:r>
            <a:r>
              <a:rPr lang="en-US" sz="1200">
                <a:solidFill>
                  <a:srgbClr val="A7BED1"/>
                </a:solidFill>
              </a:rPr>
              <a:t> </a:t>
            </a:r>
            <a:r>
              <a:rPr lang="en-US" sz="1200">
                <a:solidFill>
                  <a:srgbClr val="A7BED1"/>
                </a:solidFill>
              </a:rPr>
              <a:t>committed</a:t>
            </a:r>
            <a:r>
              <a:rPr lang="en-US" sz="1200">
                <a:solidFill>
                  <a:srgbClr val="A7BED1"/>
                </a:solidFill>
              </a:rPr>
              <a:t> to have clear uptime)</a:t>
            </a:r>
            <a:r>
              <a:rPr b="0" i="0" lang="en-US" sz="1200" u="none" cap="none" strike="noStrike">
                <a:solidFill>
                  <a:srgbClr val="A7BED1"/>
                </a:solidFill>
                <a:latin typeface="Arial"/>
                <a:ea typeface="Arial"/>
                <a:cs typeface="Arial"/>
                <a:sym typeface="Arial"/>
              </a:rPr>
              <a:t> </a:t>
            </a:r>
            <a:endParaRPr b="0" i="0" sz="1200" u="none" cap="none" strike="noStrike">
              <a:solidFill>
                <a:schemeClr val="dk1"/>
              </a:solidFill>
              <a:latin typeface="Arial"/>
              <a:ea typeface="Arial"/>
              <a:cs typeface="Arial"/>
              <a:sym typeface="Arial"/>
            </a:endParaRPr>
          </a:p>
        </p:txBody>
      </p:sp>
      <p:sp>
        <p:nvSpPr>
          <p:cNvPr id="228" name="Google Shape;228;p6"/>
          <p:cNvSpPr/>
          <p:nvPr/>
        </p:nvSpPr>
        <p:spPr>
          <a:xfrm>
            <a:off x="1051560" y="5486400"/>
            <a:ext cx="9235440" cy="502920"/>
          </a:xfrm>
          <a:prstGeom prst="roundRect">
            <a:avLst>
              <a:gd fmla="val 12727" name="adj"/>
            </a:avLst>
          </a:prstGeom>
          <a:solidFill>
            <a:srgbClr val="0B2D28"/>
          </a:solidFill>
          <a:ln cap="flat" cmpd="sng" w="11425">
            <a:solidFill>
              <a:srgbClr val="2EEA9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6"/>
          <p:cNvSpPr/>
          <p:nvPr/>
        </p:nvSpPr>
        <p:spPr>
          <a:xfrm>
            <a:off x="1216150" y="5436100"/>
            <a:ext cx="8906400" cy="5028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0F172A"/>
              </a:buClr>
              <a:buSzPts val="1550"/>
              <a:buFont typeface="Arial"/>
              <a:buNone/>
            </a:pPr>
            <a:r>
              <a:t/>
            </a:r>
            <a:endParaRPr b="1" i="0" sz="1550" u="none" cap="none" strike="noStrike">
              <a:solidFill>
                <a:srgbClr val="F4FAFF"/>
              </a:solidFill>
              <a:latin typeface="Arial"/>
              <a:ea typeface="Arial"/>
              <a:cs typeface="Arial"/>
              <a:sym typeface="Arial"/>
            </a:endParaRPr>
          </a:p>
          <a:p>
            <a:pPr indent="0" lvl="0" marL="0" marR="0" rtl="0" algn="ctr">
              <a:lnSpc>
                <a:spcPct val="100000"/>
              </a:lnSpc>
              <a:spcBef>
                <a:spcPts val="0"/>
              </a:spcBef>
              <a:spcAft>
                <a:spcPts val="0"/>
              </a:spcAft>
              <a:buClr>
                <a:srgbClr val="0F172A"/>
              </a:buClr>
              <a:buSzPts val="1550"/>
              <a:buFont typeface="Arial"/>
              <a:buNone/>
            </a:pPr>
            <a:r>
              <a:rPr b="1" i="0" lang="en-US" sz="1550" u="none" cap="none" strike="noStrike">
                <a:solidFill>
                  <a:srgbClr val="F4FAFF"/>
                </a:solidFill>
                <a:latin typeface="Arial"/>
                <a:ea typeface="Arial"/>
                <a:cs typeface="Arial"/>
                <a:sym typeface="Arial"/>
              </a:rPr>
              <a:t>Risks are manageable - if the pilot includes governance, monitoring and clear scope limits.</a:t>
            </a:r>
            <a:endParaRPr b="0" i="0" sz="1550" u="none" cap="none" strike="noStrike">
              <a:solidFill>
                <a:srgbClr val="F4FAFF"/>
              </a:solidFill>
              <a:latin typeface="Arial"/>
              <a:ea typeface="Arial"/>
              <a:cs typeface="Arial"/>
              <a:sym typeface="Arial"/>
            </a:endParaRPr>
          </a:p>
          <a:p>
            <a:pPr indent="0" lvl="0" marL="0" marR="0" rtl="0" algn="l">
              <a:lnSpc>
                <a:spcPct val="100000"/>
              </a:lnSpc>
              <a:spcBef>
                <a:spcPts val="0"/>
              </a:spcBef>
              <a:spcAft>
                <a:spcPts val="0"/>
              </a:spcAft>
              <a:buClr>
                <a:srgbClr val="F4FAFF"/>
              </a:buClr>
              <a:buSzPts val="1200"/>
              <a:buFont typeface="Arial"/>
              <a:buNone/>
            </a:pPr>
            <a:r>
              <a:t/>
            </a:r>
            <a:endParaRPr b="1" i="0" sz="1200" u="none" cap="none" strike="noStrike">
              <a:solidFill>
                <a:srgbClr val="F4FAFF"/>
              </a:solidFill>
              <a:latin typeface="Arial"/>
              <a:ea typeface="Arial"/>
              <a:cs typeface="Arial"/>
              <a:sym typeface="Arial"/>
            </a:endParaRPr>
          </a:p>
        </p:txBody>
      </p:sp>
      <p:sp>
        <p:nvSpPr>
          <p:cNvPr id="230" name="Google Shape;230;p6"/>
          <p:cNvSpPr/>
          <p:nvPr/>
        </p:nvSpPr>
        <p:spPr>
          <a:xfrm flipH="1" rot="10800000">
            <a:off x="1216152" y="5852160"/>
            <a:ext cx="8906256" cy="137160"/>
          </a:xfrm>
          <a:prstGeom prst="rect">
            <a:avLst/>
          </a:prstGeom>
          <a:noFill/>
          <a:ln>
            <a:noFill/>
          </a:ln>
        </p:spPr>
        <p:txBody>
          <a:bodyPr anchorCtr="0" anchor="t" bIns="250" lIns="250" spcFirstLastPara="1" rIns="250" wrap="square" tIns="250">
            <a:normAutofit/>
          </a:bodyPr>
          <a:lstStyle/>
          <a:p>
            <a:pPr indent="0" lvl="0" marL="0" marR="0" rtl="0" algn="l">
              <a:lnSpc>
                <a:spcPct val="100000"/>
              </a:lnSpc>
              <a:spcBef>
                <a:spcPts val="0"/>
              </a:spcBef>
              <a:spcAft>
                <a:spcPts val="0"/>
              </a:spcAft>
              <a:buClr>
                <a:srgbClr val="A7BED1"/>
              </a:buClr>
              <a:buSzPts val="1200"/>
              <a:buFont typeface="Arial"/>
              <a:buNone/>
            </a:pPr>
            <a:r>
              <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1724"/>
        </a:solidFill>
      </p:bgPr>
    </p:bg>
    <p:spTree>
      <p:nvGrpSpPr>
        <p:cNvPr id="235" name="Shape 235"/>
        <p:cNvGrpSpPr/>
        <p:nvPr/>
      </p:nvGrpSpPr>
      <p:grpSpPr>
        <a:xfrm>
          <a:off x="0" y="0"/>
          <a:ext cx="0" cy="0"/>
          <a:chOff x="0" y="0"/>
          <a:chExt cx="0" cy="0"/>
        </a:xfrm>
      </p:grpSpPr>
      <p:pic>
        <p:nvPicPr>
          <p:cNvPr descr="/mnt/data/finradar_logo_watermark_dark.png" id="236" name="Google Shape;236;p7"/>
          <p:cNvPicPr preferRelativeResize="0"/>
          <p:nvPr/>
        </p:nvPicPr>
        <p:blipFill rotWithShape="1">
          <a:blip r:embed="rId3">
            <a:alphaModFix/>
          </a:blip>
          <a:srcRect b="0" l="0" r="0" t="0"/>
          <a:stretch/>
        </p:blipFill>
        <p:spPr>
          <a:xfrm>
            <a:off x="10561320" y="502920"/>
            <a:ext cx="685800" cy="685800"/>
          </a:xfrm>
          <a:prstGeom prst="rect">
            <a:avLst/>
          </a:prstGeom>
          <a:noFill/>
          <a:ln>
            <a:noFill/>
          </a:ln>
        </p:spPr>
      </p:pic>
      <p:sp>
        <p:nvSpPr>
          <p:cNvPr id="237" name="Google Shape;237;p7"/>
          <p:cNvSpPr/>
          <p:nvPr/>
        </p:nvSpPr>
        <p:spPr>
          <a:xfrm>
            <a:off x="393192" y="228600"/>
            <a:ext cx="2743200" cy="219456"/>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31D7F7"/>
              </a:buClr>
              <a:buSzPts val="950"/>
              <a:buFont typeface="Arial"/>
              <a:buNone/>
            </a:pPr>
            <a:r>
              <a:rPr b="1" i="0" lang="en-US" sz="1200" u="none" cap="none" strike="noStrike">
                <a:solidFill>
                  <a:srgbClr val="31D7F7"/>
                </a:solidFill>
                <a:latin typeface="Arial"/>
                <a:ea typeface="Arial"/>
                <a:cs typeface="Arial"/>
                <a:sym typeface="Arial"/>
              </a:rPr>
              <a:t>FinRadar AI | Round 2</a:t>
            </a:r>
            <a:endParaRPr b="0" i="0" sz="1200" u="none" cap="none" strike="noStrike">
              <a:solidFill>
                <a:schemeClr val="dk1"/>
              </a:solidFill>
              <a:latin typeface="Arial"/>
              <a:ea typeface="Arial"/>
              <a:cs typeface="Arial"/>
              <a:sym typeface="Arial"/>
            </a:endParaRPr>
          </a:p>
        </p:txBody>
      </p:sp>
      <p:pic>
        <p:nvPicPr>
          <p:cNvPr descr="/mnt/data/ironhack-logo.png" id="238" name="Google Shape;238;p7"/>
          <p:cNvPicPr preferRelativeResize="0"/>
          <p:nvPr/>
        </p:nvPicPr>
        <p:blipFill rotWithShape="1">
          <a:blip r:embed="rId4">
            <a:alphaModFix/>
          </a:blip>
          <a:srcRect b="0" l="0" r="0" t="0"/>
          <a:stretch/>
        </p:blipFill>
        <p:spPr>
          <a:xfrm>
            <a:off x="10469880" y="173736"/>
            <a:ext cx="1234440" cy="201168"/>
          </a:xfrm>
          <a:prstGeom prst="rect">
            <a:avLst/>
          </a:prstGeom>
          <a:noFill/>
          <a:ln>
            <a:noFill/>
          </a:ln>
        </p:spPr>
      </p:pic>
      <p:cxnSp>
        <p:nvCxnSpPr>
          <p:cNvPr id="239" name="Google Shape;239;p7"/>
          <p:cNvCxnSpPr/>
          <p:nvPr/>
        </p:nvCxnSpPr>
        <p:spPr>
          <a:xfrm>
            <a:off x="393192" y="6473952"/>
            <a:ext cx="11384280" cy="0"/>
          </a:xfrm>
          <a:prstGeom prst="straightConnector1">
            <a:avLst/>
          </a:prstGeom>
          <a:noFill/>
          <a:ln cap="flat" cmpd="sng" w="12700">
            <a:solidFill>
              <a:srgbClr val="1A3949"/>
            </a:solidFill>
            <a:prstDash val="solid"/>
            <a:round/>
            <a:headEnd len="sm" w="sm" type="none"/>
            <a:tailEnd len="sm" w="sm" type="none"/>
          </a:ln>
        </p:spPr>
      </p:cxnSp>
      <p:sp>
        <p:nvSpPr>
          <p:cNvPr id="240" name="Google Shape;240;p7"/>
          <p:cNvSpPr/>
          <p:nvPr/>
        </p:nvSpPr>
        <p:spPr>
          <a:xfrm>
            <a:off x="393192" y="6528816"/>
            <a:ext cx="2377440" cy="201168"/>
          </a:xfrm>
          <a:prstGeom prst="rect">
            <a:avLst/>
          </a:prstGeom>
          <a:noFill/>
          <a:ln>
            <a:noFill/>
          </a:ln>
        </p:spPr>
        <p:txBody>
          <a:bodyPr anchorCtr="0" anchor="ctr" bIns="500" lIns="500" spcFirstLastPara="1" rIns="500" wrap="square" tIns="500">
            <a:normAutofit/>
          </a:bodyPr>
          <a:lstStyle/>
          <a:p>
            <a:pPr indent="0" lvl="0" marL="0" marR="0" rtl="0" algn="l">
              <a:lnSpc>
                <a:spcPct val="100000"/>
              </a:lnSpc>
              <a:spcBef>
                <a:spcPts val="0"/>
              </a:spcBef>
              <a:spcAft>
                <a:spcPts val="0"/>
              </a:spcAft>
              <a:buClr>
                <a:srgbClr val="A7BED1"/>
              </a:buClr>
              <a:buSzPts val="900"/>
              <a:buFont typeface="Arial"/>
              <a:buNone/>
            </a:pPr>
            <a:r>
              <a:rPr b="0" i="0" lang="en-US" sz="1200" u="none" cap="none" strike="noStrike">
                <a:solidFill>
                  <a:srgbClr val="A7BED1"/>
                </a:solidFill>
                <a:latin typeface="Arial"/>
                <a:ea typeface="Arial"/>
                <a:cs typeface="Arial"/>
                <a:sym typeface="Arial"/>
              </a:rPr>
              <a:t>AI Assists - Humans Decide</a:t>
            </a:r>
            <a:endParaRPr b="0" i="0" sz="1200" u="none" cap="none" strike="noStrike">
              <a:solidFill>
                <a:schemeClr val="dk1"/>
              </a:solidFill>
              <a:latin typeface="Arial"/>
              <a:ea typeface="Arial"/>
              <a:cs typeface="Arial"/>
              <a:sym typeface="Arial"/>
            </a:endParaRPr>
          </a:p>
        </p:txBody>
      </p:sp>
      <p:sp>
        <p:nvSpPr>
          <p:cNvPr id="241" name="Google Shape;241;p7"/>
          <p:cNvSpPr/>
          <p:nvPr/>
        </p:nvSpPr>
        <p:spPr>
          <a:xfrm>
            <a:off x="11475720" y="6528816"/>
            <a:ext cx="320040" cy="201168"/>
          </a:xfrm>
          <a:prstGeom prst="rect">
            <a:avLst/>
          </a:prstGeom>
          <a:noFill/>
          <a:ln>
            <a:noFill/>
          </a:ln>
        </p:spPr>
        <p:txBody>
          <a:bodyPr anchorCtr="0" anchor="ctr" bIns="500" lIns="500" spcFirstLastPara="1" rIns="500" wrap="square" tIns="500">
            <a:normAutofit/>
          </a:bodyPr>
          <a:lstStyle/>
          <a:p>
            <a:pPr indent="0" lvl="0" marL="0" marR="0" rtl="0" algn="r">
              <a:lnSpc>
                <a:spcPct val="100000"/>
              </a:lnSpc>
              <a:spcBef>
                <a:spcPts val="0"/>
              </a:spcBef>
              <a:spcAft>
                <a:spcPts val="0"/>
              </a:spcAft>
              <a:buClr>
                <a:srgbClr val="A7BED1"/>
              </a:buClr>
              <a:buSzPts val="900"/>
              <a:buFont typeface="Arial"/>
              <a:buNone/>
            </a:pPr>
            <a:r>
              <a:rPr b="0" i="0" lang="en-US" sz="1400" u="none" cap="none" strike="noStrike">
                <a:solidFill>
                  <a:srgbClr val="000000"/>
                </a:solidFill>
                <a:latin typeface="Arial"/>
                <a:ea typeface="Arial"/>
                <a:cs typeface="Arial"/>
                <a:sym typeface="Arial"/>
              </a:rPr>
              <a:t>08</a:t>
            </a:r>
            <a:endParaRPr b="0" i="0" sz="900" u="none" cap="none" strike="noStrike">
              <a:solidFill>
                <a:schemeClr val="dk1"/>
              </a:solidFill>
              <a:latin typeface="Arial"/>
              <a:ea typeface="Arial"/>
              <a:cs typeface="Arial"/>
              <a:sym typeface="Arial"/>
            </a:endParaRPr>
          </a:p>
        </p:txBody>
      </p:sp>
      <p:sp>
        <p:nvSpPr>
          <p:cNvPr id="242" name="Google Shape;242;p7"/>
          <p:cNvSpPr/>
          <p:nvPr/>
        </p:nvSpPr>
        <p:spPr>
          <a:xfrm>
            <a:off x="685800" y="592675"/>
            <a:ext cx="9628800" cy="6858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4FAFF"/>
              </a:buClr>
              <a:buSzPts val="2800"/>
              <a:buFont typeface="Arial"/>
              <a:buNone/>
            </a:pPr>
            <a:r>
              <a:rPr b="1" i="0" lang="en-US" sz="2400" u="none" cap="none" strike="noStrike">
                <a:solidFill>
                  <a:srgbClr val="F4FAFF"/>
                </a:solidFill>
                <a:latin typeface="Arial"/>
                <a:ea typeface="Arial"/>
                <a:cs typeface="Arial"/>
                <a:sym typeface="Arial"/>
              </a:rPr>
              <a:t>Compliance Summary:  </a:t>
            </a:r>
            <a:r>
              <a:rPr b="1" lang="en-US" sz="2400">
                <a:solidFill>
                  <a:srgbClr val="F4FAFF"/>
                </a:solidFill>
              </a:rPr>
              <a:t>C</a:t>
            </a:r>
            <a:r>
              <a:rPr b="1" i="0" lang="en-US" sz="2400" u="none" cap="none" strike="noStrike">
                <a:solidFill>
                  <a:srgbClr val="F4FAFF"/>
                </a:solidFill>
                <a:latin typeface="Arial"/>
                <a:ea typeface="Arial"/>
                <a:cs typeface="Arial"/>
                <a:sym typeface="Arial"/>
              </a:rPr>
              <a:t>lassification </a:t>
            </a:r>
            <a:r>
              <a:rPr b="1" lang="en-US" sz="2400">
                <a:solidFill>
                  <a:srgbClr val="F4FAFF"/>
                </a:solidFill>
              </a:rPr>
              <a:t>&amp;</a:t>
            </a:r>
            <a:r>
              <a:rPr b="1" i="0" lang="en-US" sz="2400" u="none" cap="none" strike="noStrike">
                <a:solidFill>
                  <a:srgbClr val="F4FAFF"/>
                </a:solidFill>
                <a:latin typeface="Arial"/>
                <a:ea typeface="Arial"/>
                <a:cs typeface="Arial"/>
                <a:sym typeface="Arial"/>
              </a:rPr>
              <a:t> </a:t>
            </a:r>
            <a:r>
              <a:rPr b="1" lang="en-US" sz="2400">
                <a:solidFill>
                  <a:srgbClr val="F4FAFF"/>
                </a:solidFill>
              </a:rPr>
              <a:t>S</a:t>
            </a:r>
            <a:r>
              <a:rPr b="1" i="0" lang="en-US" sz="2400" u="none" cap="none" strike="noStrike">
                <a:solidFill>
                  <a:srgbClr val="F4FAFF"/>
                </a:solidFill>
                <a:latin typeface="Arial"/>
                <a:ea typeface="Arial"/>
                <a:cs typeface="Arial"/>
                <a:sym typeface="Arial"/>
              </a:rPr>
              <a:t>afeguards</a:t>
            </a:r>
            <a:endParaRPr b="0" i="0" sz="2400" u="none" cap="none" strike="noStrike">
              <a:solidFill>
                <a:schemeClr val="dk1"/>
              </a:solidFill>
              <a:latin typeface="Arial"/>
              <a:ea typeface="Arial"/>
              <a:cs typeface="Arial"/>
              <a:sym typeface="Arial"/>
            </a:endParaRPr>
          </a:p>
        </p:txBody>
      </p:sp>
      <p:sp>
        <p:nvSpPr>
          <p:cNvPr id="243" name="Google Shape;243;p7"/>
          <p:cNvSpPr/>
          <p:nvPr/>
        </p:nvSpPr>
        <p:spPr>
          <a:xfrm>
            <a:off x="685800" y="1188725"/>
            <a:ext cx="10242000" cy="4599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A7BED1"/>
              </a:buClr>
              <a:buSzPts val="1260"/>
              <a:buFont typeface="Arial"/>
              <a:buNone/>
            </a:pPr>
            <a:r>
              <a:rPr b="1" i="0" lang="en-US" sz="1400" u="none" cap="none" strike="noStrike">
                <a:solidFill>
                  <a:srgbClr val="A7BED1"/>
                </a:solidFill>
                <a:latin typeface="Arial"/>
                <a:ea typeface="Arial"/>
                <a:cs typeface="Arial"/>
                <a:sym typeface="Arial"/>
              </a:rPr>
              <a:t>Current scope: public financial-news triage. </a:t>
            </a:r>
            <a:r>
              <a:rPr b="1" i="0" lang="en-US" sz="1400" u="none" cap="none" strike="noStrike">
                <a:solidFill>
                  <a:srgbClr val="FF0000"/>
                </a:solidFill>
                <a:latin typeface="Arial"/>
                <a:ea typeface="Arial"/>
                <a:cs typeface="Arial"/>
                <a:sym typeface="Arial"/>
              </a:rPr>
              <a:t>N</a:t>
            </a:r>
            <a:r>
              <a:rPr b="1" lang="en-US">
                <a:solidFill>
                  <a:srgbClr val="FF0000"/>
                </a:solidFill>
              </a:rPr>
              <a:t>O</a:t>
            </a:r>
            <a:r>
              <a:rPr b="1" i="0" lang="en-US" sz="1400" u="none" cap="none" strike="noStrike">
                <a:solidFill>
                  <a:srgbClr val="A7BED1"/>
                </a:solidFill>
                <a:latin typeface="Arial"/>
                <a:ea typeface="Arial"/>
                <a:cs typeface="Arial"/>
                <a:sym typeface="Arial"/>
              </a:rPr>
              <a:t> trades, </a:t>
            </a:r>
            <a:r>
              <a:rPr b="1" lang="en-US">
                <a:solidFill>
                  <a:srgbClr val="FF0000"/>
                </a:solidFill>
              </a:rPr>
              <a:t>NO</a:t>
            </a:r>
            <a:r>
              <a:rPr b="1" i="0" lang="en-US" sz="1400" u="none" cap="none" strike="noStrike">
                <a:solidFill>
                  <a:srgbClr val="A7BED1"/>
                </a:solidFill>
                <a:latin typeface="Arial"/>
                <a:ea typeface="Arial"/>
                <a:cs typeface="Arial"/>
                <a:sym typeface="Arial"/>
              </a:rPr>
              <a:t> personalised investment advice, </a:t>
            </a:r>
            <a:r>
              <a:rPr b="1" i="0" lang="en-US" sz="1400" u="none" cap="none" strike="noStrike">
                <a:solidFill>
                  <a:srgbClr val="FF0000"/>
                </a:solidFill>
                <a:latin typeface="Arial"/>
                <a:ea typeface="Arial"/>
                <a:cs typeface="Arial"/>
                <a:sym typeface="Arial"/>
              </a:rPr>
              <a:t>N</a:t>
            </a:r>
            <a:r>
              <a:rPr b="1" lang="en-US">
                <a:solidFill>
                  <a:srgbClr val="FF0000"/>
                </a:solidFill>
              </a:rPr>
              <a:t>O</a:t>
            </a:r>
            <a:r>
              <a:rPr b="1" i="0" lang="en-US" sz="1400" u="none" cap="none" strike="noStrike">
                <a:solidFill>
                  <a:srgbClr val="A7BED1"/>
                </a:solidFill>
                <a:latin typeface="Arial"/>
                <a:ea typeface="Arial"/>
                <a:cs typeface="Arial"/>
                <a:sym typeface="Arial"/>
              </a:rPr>
              <a:t> autonomous decisions.</a:t>
            </a:r>
            <a:endParaRPr b="1" i="0" sz="1400" u="none" cap="none" strike="noStrike">
              <a:solidFill>
                <a:schemeClr val="dk1"/>
              </a:solidFill>
              <a:latin typeface="Arial"/>
              <a:ea typeface="Arial"/>
              <a:cs typeface="Arial"/>
              <a:sym typeface="Arial"/>
            </a:endParaRPr>
          </a:p>
        </p:txBody>
      </p:sp>
      <p:sp>
        <p:nvSpPr>
          <p:cNvPr id="244" name="Google Shape;244;p7"/>
          <p:cNvSpPr/>
          <p:nvPr/>
        </p:nvSpPr>
        <p:spPr>
          <a:xfrm>
            <a:off x="685800" y="1874525"/>
            <a:ext cx="3291900" cy="2021700"/>
          </a:xfrm>
          <a:prstGeom prst="roundRect">
            <a:avLst>
              <a:gd fmla="val 3500" name="adj"/>
            </a:avLst>
          </a:prstGeom>
          <a:solidFill>
            <a:srgbClr val="0A2738"/>
          </a:solidFill>
          <a:ln cap="flat" cmpd="sng" w="11425">
            <a:solidFill>
              <a:srgbClr val="31D7F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7"/>
          <p:cNvSpPr/>
          <p:nvPr/>
        </p:nvSpPr>
        <p:spPr>
          <a:xfrm>
            <a:off x="850392" y="2002536"/>
            <a:ext cx="2962656" cy="32004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4FAFF"/>
              </a:buClr>
              <a:buSzPts val="1800"/>
              <a:buFont typeface="Arial"/>
              <a:buNone/>
            </a:pPr>
            <a:r>
              <a:rPr b="1" i="0" lang="en-US" sz="1800" u="none" cap="none" strike="noStrike">
                <a:solidFill>
                  <a:srgbClr val="F4FAFF"/>
                </a:solidFill>
                <a:latin typeface="Arial"/>
                <a:ea typeface="Arial"/>
                <a:cs typeface="Arial"/>
                <a:sym typeface="Arial"/>
              </a:rPr>
              <a:t>EU AI Act</a:t>
            </a:r>
            <a:endParaRPr b="0" i="0" sz="1800" u="none" cap="none" strike="noStrike">
              <a:solidFill>
                <a:schemeClr val="dk1"/>
              </a:solidFill>
              <a:latin typeface="Arial"/>
              <a:ea typeface="Arial"/>
              <a:cs typeface="Arial"/>
              <a:sym typeface="Arial"/>
            </a:endParaRPr>
          </a:p>
        </p:txBody>
      </p:sp>
      <p:sp>
        <p:nvSpPr>
          <p:cNvPr id="246" name="Google Shape;246;p7"/>
          <p:cNvSpPr/>
          <p:nvPr/>
        </p:nvSpPr>
        <p:spPr>
          <a:xfrm>
            <a:off x="850400" y="2377452"/>
            <a:ext cx="2962800" cy="1417500"/>
          </a:xfrm>
          <a:prstGeom prst="rect">
            <a:avLst/>
          </a:prstGeom>
          <a:noFill/>
          <a:ln>
            <a:noFill/>
          </a:ln>
        </p:spPr>
        <p:txBody>
          <a:bodyPr anchorCtr="0" anchor="t" bIns="250" lIns="250" spcFirstLastPara="1" rIns="250" wrap="square" tIns="250">
            <a:normAutofit/>
          </a:bodyPr>
          <a:lstStyle/>
          <a:p>
            <a:pPr indent="0" lvl="0" marL="0" marR="0" rtl="0" algn="l">
              <a:lnSpc>
                <a:spcPct val="100000"/>
              </a:lnSpc>
              <a:spcBef>
                <a:spcPts val="0"/>
              </a:spcBef>
              <a:spcAft>
                <a:spcPts val="0"/>
              </a:spcAft>
              <a:buClr>
                <a:srgbClr val="A7BED1"/>
              </a:buClr>
              <a:buSzPts val="1220"/>
              <a:buFont typeface="Arial"/>
              <a:buNone/>
            </a:pPr>
            <a:r>
              <a:rPr b="0" i="0" lang="en-US" sz="1220" u="none" cap="none" strike="noStrike">
                <a:solidFill>
                  <a:srgbClr val="A7BED1"/>
                </a:solidFill>
                <a:latin typeface="Arial"/>
                <a:ea typeface="Arial"/>
                <a:cs typeface="Arial"/>
                <a:sym typeface="Arial"/>
              </a:rPr>
              <a:t>Current intended use: </a:t>
            </a:r>
            <a:r>
              <a:rPr b="1" i="0" lang="en-US" sz="1800" u="none" cap="none" strike="noStrike">
                <a:solidFill>
                  <a:srgbClr val="6AA84F"/>
                </a:solidFill>
                <a:latin typeface="Arial"/>
                <a:ea typeface="Arial"/>
                <a:cs typeface="Arial"/>
                <a:sym typeface="Arial"/>
              </a:rPr>
              <a:t>Non-high-risk AI system</a:t>
            </a:r>
            <a:endParaRPr b="1" i="0" sz="1800" u="none" cap="none" strike="noStrike">
              <a:solidFill>
                <a:srgbClr val="6AA84F"/>
              </a:solidFill>
              <a:latin typeface="Arial"/>
              <a:ea typeface="Arial"/>
              <a:cs typeface="Arial"/>
              <a:sym typeface="Arial"/>
            </a:endParaRPr>
          </a:p>
          <a:p>
            <a:pPr indent="0" lvl="0" marL="0" marR="0" rtl="0" algn="l">
              <a:lnSpc>
                <a:spcPct val="100000"/>
              </a:lnSpc>
              <a:spcBef>
                <a:spcPts val="0"/>
              </a:spcBef>
              <a:spcAft>
                <a:spcPts val="0"/>
              </a:spcAft>
              <a:buClr>
                <a:srgbClr val="A7BED1"/>
              </a:buClr>
              <a:buSzPts val="1220"/>
              <a:buFont typeface="Arial"/>
              <a:buNone/>
            </a:pPr>
            <a:r>
              <a:t/>
            </a:r>
            <a:endParaRPr b="0" i="0" sz="1220" u="none" cap="none" strike="noStrike">
              <a:solidFill>
                <a:srgbClr val="A7BED1"/>
              </a:solidFill>
              <a:latin typeface="Arial"/>
              <a:ea typeface="Arial"/>
              <a:cs typeface="Arial"/>
              <a:sym typeface="Arial"/>
            </a:endParaRPr>
          </a:p>
          <a:p>
            <a:pPr indent="0" lvl="0" marL="0" marR="0" rtl="0" algn="l">
              <a:lnSpc>
                <a:spcPct val="100000"/>
              </a:lnSpc>
              <a:spcBef>
                <a:spcPts val="0"/>
              </a:spcBef>
              <a:spcAft>
                <a:spcPts val="0"/>
              </a:spcAft>
              <a:buClr>
                <a:srgbClr val="A7BED1"/>
              </a:buClr>
              <a:buSzPts val="1220"/>
              <a:buFont typeface="Arial"/>
              <a:buNone/>
            </a:pPr>
            <a:r>
              <a:rPr b="0" i="0" lang="en-US" sz="1220" u="none" cap="none" strike="noStrike">
                <a:solidFill>
                  <a:srgbClr val="A7BED1"/>
                </a:solidFill>
                <a:latin typeface="Arial"/>
                <a:ea typeface="Arial"/>
                <a:cs typeface="Arial"/>
                <a:sym typeface="Arial"/>
              </a:rPr>
              <a:t>Reason: </a:t>
            </a:r>
            <a:endParaRPr b="0" i="0" sz="1220" u="none" cap="none" strike="noStrike">
              <a:solidFill>
                <a:srgbClr val="A7BED1"/>
              </a:solidFill>
              <a:latin typeface="Arial"/>
              <a:ea typeface="Arial"/>
              <a:cs typeface="Arial"/>
              <a:sym typeface="Arial"/>
            </a:endParaRPr>
          </a:p>
          <a:p>
            <a:pPr indent="0" lvl="0" marL="0" marR="0" rtl="0" algn="l">
              <a:lnSpc>
                <a:spcPct val="100000"/>
              </a:lnSpc>
              <a:spcBef>
                <a:spcPts val="0"/>
              </a:spcBef>
              <a:spcAft>
                <a:spcPts val="0"/>
              </a:spcAft>
              <a:buClr>
                <a:srgbClr val="A7BED1"/>
              </a:buClr>
              <a:buSzPts val="1220"/>
              <a:buFont typeface="Arial"/>
              <a:buNone/>
            </a:pPr>
            <a:r>
              <a:rPr b="0" i="0" lang="en-US" sz="1220" u="none" cap="none" strike="noStrike">
                <a:solidFill>
                  <a:srgbClr val="A7BED1"/>
                </a:solidFill>
                <a:latin typeface="Arial"/>
                <a:ea typeface="Arial"/>
                <a:cs typeface="Arial"/>
                <a:sym typeface="Arial"/>
              </a:rPr>
              <a:t>advisory news triage with human review, </a:t>
            </a:r>
            <a:endParaRPr b="0" i="0" sz="1220" u="none" cap="none" strike="noStrike">
              <a:solidFill>
                <a:srgbClr val="A7BED1"/>
              </a:solidFill>
              <a:latin typeface="Arial"/>
              <a:ea typeface="Arial"/>
              <a:cs typeface="Arial"/>
              <a:sym typeface="Arial"/>
            </a:endParaRPr>
          </a:p>
          <a:p>
            <a:pPr indent="0" lvl="0" marL="0" marR="0" rtl="0" algn="l">
              <a:lnSpc>
                <a:spcPct val="100000"/>
              </a:lnSpc>
              <a:spcBef>
                <a:spcPts val="0"/>
              </a:spcBef>
              <a:spcAft>
                <a:spcPts val="0"/>
              </a:spcAft>
              <a:buClr>
                <a:srgbClr val="A7BED1"/>
              </a:buClr>
              <a:buSzPts val="1220"/>
              <a:buFont typeface="Arial"/>
              <a:buNone/>
            </a:pPr>
            <a:r>
              <a:rPr b="0" i="0" lang="en-US" sz="1220" u="none" cap="none" strike="noStrike">
                <a:solidFill>
                  <a:srgbClr val="A7BED1"/>
                </a:solidFill>
                <a:latin typeface="Arial"/>
                <a:ea typeface="Arial"/>
                <a:cs typeface="Arial"/>
                <a:sym typeface="Arial"/>
              </a:rPr>
              <a:t>NOT autonomous financial decision-making.</a:t>
            </a:r>
            <a:endParaRPr b="0" i="0" sz="1220" u="none" cap="none" strike="noStrike">
              <a:solidFill>
                <a:schemeClr val="dk1"/>
              </a:solidFill>
              <a:latin typeface="Arial"/>
              <a:ea typeface="Arial"/>
              <a:cs typeface="Arial"/>
              <a:sym typeface="Arial"/>
            </a:endParaRPr>
          </a:p>
        </p:txBody>
      </p:sp>
      <p:sp>
        <p:nvSpPr>
          <p:cNvPr id="247" name="Google Shape;247;p7"/>
          <p:cNvSpPr/>
          <p:nvPr/>
        </p:nvSpPr>
        <p:spPr>
          <a:xfrm>
            <a:off x="4206250" y="1874525"/>
            <a:ext cx="3291900" cy="2021700"/>
          </a:xfrm>
          <a:prstGeom prst="roundRect">
            <a:avLst>
              <a:gd fmla="val 3500" name="adj"/>
            </a:avLst>
          </a:prstGeom>
          <a:solidFill>
            <a:srgbClr val="092C27"/>
          </a:solidFill>
          <a:ln cap="flat" cmpd="sng" w="11425">
            <a:solidFill>
              <a:srgbClr val="2EEA9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7"/>
          <p:cNvSpPr/>
          <p:nvPr/>
        </p:nvSpPr>
        <p:spPr>
          <a:xfrm>
            <a:off x="4370832" y="2002536"/>
            <a:ext cx="2962656" cy="32004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4FAFF"/>
              </a:buClr>
              <a:buSzPts val="1800"/>
              <a:buFont typeface="Arial"/>
              <a:buNone/>
            </a:pPr>
            <a:r>
              <a:rPr b="1" i="0" lang="en-US" sz="1800" u="none" cap="none" strike="noStrike">
                <a:solidFill>
                  <a:srgbClr val="F4FAFF"/>
                </a:solidFill>
                <a:latin typeface="Arial"/>
                <a:ea typeface="Arial"/>
                <a:cs typeface="Arial"/>
                <a:sym typeface="Arial"/>
              </a:rPr>
              <a:t>GDPR</a:t>
            </a:r>
            <a:endParaRPr b="0" i="0" sz="1800" u="none" cap="none" strike="noStrike">
              <a:solidFill>
                <a:schemeClr val="dk1"/>
              </a:solidFill>
              <a:latin typeface="Arial"/>
              <a:ea typeface="Arial"/>
              <a:cs typeface="Arial"/>
              <a:sym typeface="Arial"/>
            </a:endParaRPr>
          </a:p>
        </p:txBody>
      </p:sp>
      <p:sp>
        <p:nvSpPr>
          <p:cNvPr id="249" name="Google Shape;249;p7"/>
          <p:cNvSpPr/>
          <p:nvPr/>
        </p:nvSpPr>
        <p:spPr>
          <a:xfrm>
            <a:off x="4370832" y="2377440"/>
            <a:ext cx="2962656" cy="1188720"/>
          </a:xfrm>
          <a:prstGeom prst="rect">
            <a:avLst/>
          </a:prstGeom>
          <a:noFill/>
          <a:ln>
            <a:noFill/>
          </a:ln>
        </p:spPr>
        <p:txBody>
          <a:bodyPr anchorCtr="0" anchor="t" bIns="250" lIns="250" spcFirstLastPara="1" rIns="250" wrap="square" tIns="250">
            <a:normAutofit/>
          </a:bodyPr>
          <a:lstStyle/>
          <a:p>
            <a:pPr indent="0" lvl="0" marL="0" marR="0" rtl="0" algn="l">
              <a:lnSpc>
                <a:spcPct val="100000"/>
              </a:lnSpc>
              <a:spcBef>
                <a:spcPts val="0"/>
              </a:spcBef>
              <a:spcAft>
                <a:spcPts val="0"/>
              </a:spcAft>
              <a:buClr>
                <a:srgbClr val="A7BED1"/>
              </a:buClr>
              <a:buSzPts val="1220"/>
              <a:buFont typeface="Arial"/>
              <a:buNone/>
            </a:pPr>
            <a:r>
              <a:rPr b="0" i="0" lang="en-US" sz="1220" u="none" cap="none" strike="noStrike">
                <a:solidFill>
                  <a:srgbClr val="A7BED1"/>
                </a:solidFill>
                <a:latin typeface="Arial"/>
                <a:ea typeface="Arial"/>
                <a:cs typeface="Arial"/>
                <a:sym typeface="Arial"/>
              </a:rPr>
              <a:t>Public financial news only, </a:t>
            </a:r>
            <a:r>
              <a:rPr b="1" i="0" lang="en-US" sz="1220" u="none" cap="none" strike="noStrike">
                <a:solidFill>
                  <a:srgbClr val="EA9999"/>
                </a:solidFill>
                <a:latin typeface="Arial"/>
                <a:ea typeface="Arial"/>
                <a:cs typeface="Arial"/>
                <a:sym typeface="Arial"/>
              </a:rPr>
              <a:t>BUT</a:t>
            </a:r>
            <a:r>
              <a:rPr b="0" i="0" lang="en-US" sz="1220" u="none" cap="none" strike="noStrike">
                <a:solidFill>
                  <a:srgbClr val="A7BED1"/>
                </a:solidFill>
                <a:latin typeface="Arial"/>
                <a:ea typeface="Arial"/>
                <a:cs typeface="Arial"/>
                <a:sym typeface="Arial"/>
              </a:rPr>
              <a:t> public articles may still contain personal data.</a:t>
            </a:r>
            <a:endParaRPr b="0" i="0" sz="122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20"/>
              <a:buFont typeface="Arial"/>
              <a:buNone/>
            </a:pPr>
            <a:r>
              <a:t/>
            </a:r>
            <a:endParaRPr b="0" i="0" sz="122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A7BED1"/>
              </a:buClr>
              <a:buSzPts val="1220"/>
              <a:buFont typeface="Arial"/>
              <a:buNone/>
            </a:pPr>
            <a:r>
              <a:rPr b="0" i="0" lang="en-US" sz="1220" u="none" cap="none" strike="noStrike">
                <a:solidFill>
                  <a:srgbClr val="A7BED1"/>
                </a:solidFill>
                <a:latin typeface="Arial"/>
                <a:ea typeface="Arial"/>
                <a:cs typeface="Arial"/>
                <a:sym typeface="Arial"/>
              </a:rPr>
              <a:t>Assessment covers data flows, legal basis, retention, rights and vendors.</a:t>
            </a:r>
            <a:endParaRPr b="0" i="0" sz="1220" u="none" cap="none" strike="noStrike">
              <a:solidFill>
                <a:schemeClr val="dk1"/>
              </a:solidFill>
              <a:latin typeface="Arial"/>
              <a:ea typeface="Arial"/>
              <a:cs typeface="Arial"/>
              <a:sym typeface="Arial"/>
            </a:endParaRPr>
          </a:p>
        </p:txBody>
      </p:sp>
      <p:sp>
        <p:nvSpPr>
          <p:cNvPr id="250" name="Google Shape;250;p7"/>
          <p:cNvSpPr/>
          <p:nvPr/>
        </p:nvSpPr>
        <p:spPr>
          <a:xfrm>
            <a:off x="7726675" y="1874525"/>
            <a:ext cx="3291900" cy="2021700"/>
          </a:xfrm>
          <a:prstGeom prst="roundRect">
            <a:avLst>
              <a:gd fmla="val 3500" name="adj"/>
            </a:avLst>
          </a:prstGeom>
          <a:solidFill>
            <a:srgbClr val="2D2410"/>
          </a:solidFill>
          <a:ln cap="flat" cmpd="sng" w="11425">
            <a:solidFill>
              <a:srgbClr val="F6B84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7"/>
          <p:cNvSpPr/>
          <p:nvPr/>
        </p:nvSpPr>
        <p:spPr>
          <a:xfrm>
            <a:off x="7891272" y="2002536"/>
            <a:ext cx="2962656" cy="32004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4FAFF"/>
              </a:buClr>
              <a:buSzPts val="1800"/>
              <a:buFont typeface="Arial"/>
              <a:buNone/>
            </a:pPr>
            <a:r>
              <a:rPr b="1" i="0" lang="en-US" sz="1800" u="none" cap="none" strike="noStrike">
                <a:solidFill>
                  <a:srgbClr val="F4FAFF"/>
                </a:solidFill>
                <a:latin typeface="Arial"/>
                <a:ea typeface="Arial"/>
                <a:cs typeface="Arial"/>
                <a:sym typeface="Arial"/>
              </a:rPr>
              <a:t>Before production</a:t>
            </a:r>
            <a:endParaRPr b="0" i="0" sz="1800" u="none" cap="none" strike="noStrike">
              <a:solidFill>
                <a:schemeClr val="dk1"/>
              </a:solidFill>
              <a:latin typeface="Arial"/>
              <a:ea typeface="Arial"/>
              <a:cs typeface="Arial"/>
              <a:sym typeface="Arial"/>
            </a:endParaRPr>
          </a:p>
        </p:txBody>
      </p:sp>
      <p:sp>
        <p:nvSpPr>
          <p:cNvPr id="252" name="Google Shape;252;p7"/>
          <p:cNvSpPr/>
          <p:nvPr/>
        </p:nvSpPr>
        <p:spPr>
          <a:xfrm>
            <a:off x="7891275" y="2377450"/>
            <a:ext cx="2962800" cy="1303200"/>
          </a:xfrm>
          <a:prstGeom prst="rect">
            <a:avLst/>
          </a:prstGeom>
          <a:noFill/>
          <a:ln>
            <a:noFill/>
          </a:ln>
        </p:spPr>
        <p:txBody>
          <a:bodyPr anchorCtr="0" anchor="t" bIns="250" lIns="250" spcFirstLastPara="1" rIns="250" wrap="square" tIns="250">
            <a:normAutofit/>
          </a:bodyPr>
          <a:lstStyle/>
          <a:p>
            <a:pPr indent="0" lvl="0" marL="0" marR="0" rtl="0" algn="l">
              <a:lnSpc>
                <a:spcPct val="100000"/>
              </a:lnSpc>
              <a:spcBef>
                <a:spcPts val="0"/>
              </a:spcBef>
              <a:spcAft>
                <a:spcPts val="0"/>
              </a:spcAft>
              <a:buClr>
                <a:srgbClr val="A7BED1"/>
              </a:buClr>
              <a:buSzPts val="1220"/>
              <a:buFont typeface="Arial"/>
              <a:buNone/>
            </a:pPr>
            <a:r>
              <a:rPr b="0" i="0" lang="en-US" sz="1220" u="none" cap="none" strike="noStrike">
                <a:solidFill>
                  <a:srgbClr val="A7BED1"/>
                </a:solidFill>
                <a:latin typeface="Arial"/>
                <a:ea typeface="Arial"/>
                <a:cs typeface="Arial"/>
                <a:sym typeface="Arial"/>
              </a:rPr>
              <a:t>Add authentication </a:t>
            </a:r>
            <a:endParaRPr b="0" i="0" sz="1220" u="none" cap="none" strike="noStrike">
              <a:solidFill>
                <a:srgbClr val="A7BED1"/>
              </a:solidFill>
              <a:latin typeface="Arial"/>
              <a:ea typeface="Arial"/>
              <a:cs typeface="Arial"/>
              <a:sym typeface="Arial"/>
            </a:endParaRPr>
          </a:p>
          <a:p>
            <a:pPr indent="0" lvl="0" marL="0" marR="0" rtl="0" algn="l">
              <a:lnSpc>
                <a:spcPct val="100000"/>
              </a:lnSpc>
              <a:spcBef>
                <a:spcPts val="0"/>
              </a:spcBef>
              <a:spcAft>
                <a:spcPts val="0"/>
              </a:spcAft>
              <a:buClr>
                <a:srgbClr val="A7BED1"/>
              </a:buClr>
              <a:buSzPts val="1220"/>
              <a:buFont typeface="Arial"/>
              <a:buNone/>
            </a:pPr>
            <a:r>
              <a:rPr b="0" i="0" lang="en-US" sz="1220" u="none" cap="none" strike="noStrike">
                <a:solidFill>
                  <a:srgbClr val="A7BED1"/>
                </a:solidFill>
                <a:latin typeface="Arial"/>
                <a:ea typeface="Arial"/>
                <a:cs typeface="Arial"/>
                <a:sym typeface="Arial"/>
              </a:rPr>
              <a:t>Audit logging, </a:t>
            </a:r>
            <a:endParaRPr b="0" i="0" sz="1220" u="none" cap="none" strike="noStrike">
              <a:solidFill>
                <a:srgbClr val="A7BED1"/>
              </a:solidFill>
              <a:latin typeface="Arial"/>
              <a:ea typeface="Arial"/>
              <a:cs typeface="Arial"/>
              <a:sym typeface="Arial"/>
            </a:endParaRPr>
          </a:p>
          <a:p>
            <a:pPr indent="0" lvl="0" marL="0" marR="0" rtl="0" algn="l">
              <a:lnSpc>
                <a:spcPct val="100000"/>
              </a:lnSpc>
              <a:spcBef>
                <a:spcPts val="0"/>
              </a:spcBef>
              <a:spcAft>
                <a:spcPts val="0"/>
              </a:spcAft>
              <a:buClr>
                <a:srgbClr val="A7BED1"/>
              </a:buClr>
              <a:buSzPts val="1220"/>
              <a:buFont typeface="Arial"/>
              <a:buNone/>
            </a:pPr>
            <a:r>
              <a:rPr b="0" i="0" lang="en-US" sz="1220" u="none" cap="none" strike="noStrike">
                <a:solidFill>
                  <a:srgbClr val="A7BED1"/>
                </a:solidFill>
                <a:latin typeface="Arial"/>
                <a:ea typeface="Arial"/>
                <a:cs typeface="Arial"/>
                <a:sym typeface="Arial"/>
              </a:rPr>
              <a:t>Monitoring, </a:t>
            </a:r>
            <a:endParaRPr b="0" i="0" sz="1220" u="none" cap="none" strike="noStrike">
              <a:solidFill>
                <a:srgbClr val="A7BED1"/>
              </a:solidFill>
              <a:latin typeface="Arial"/>
              <a:ea typeface="Arial"/>
              <a:cs typeface="Arial"/>
              <a:sym typeface="Arial"/>
            </a:endParaRPr>
          </a:p>
          <a:p>
            <a:pPr indent="0" lvl="0" marL="0" marR="0" rtl="0" algn="l">
              <a:lnSpc>
                <a:spcPct val="100000"/>
              </a:lnSpc>
              <a:spcBef>
                <a:spcPts val="0"/>
              </a:spcBef>
              <a:spcAft>
                <a:spcPts val="0"/>
              </a:spcAft>
              <a:buClr>
                <a:srgbClr val="A7BED1"/>
              </a:buClr>
              <a:buSzPts val="1220"/>
              <a:buFont typeface="Arial"/>
              <a:buNone/>
            </a:pPr>
            <a:r>
              <a:rPr b="0" i="0" lang="en-US" sz="1220" u="none" cap="none" strike="noStrike">
                <a:solidFill>
                  <a:srgbClr val="A7BED1"/>
                </a:solidFill>
                <a:latin typeface="Arial"/>
                <a:ea typeface="Arial"/>
                <a:cs typeface="Arial"/>
                <a:sym typeface="Arial"/>
              </a:rPr>
              <a:t>Vendor governance,</a:t>
            </a:r>
            <a:endParaRPr b="0" i="0" sz="1220" u="none" cap="none" strike="noStrike">
              <a:solidFill>
                <a:srgbClr val="A7BED1"/>
              </a:solidFill>
              <a:latin typeface="Arial"/>
              <a:ea typeface="Arial"/>
              <a:cs typeface="Arial"/>
              <a:sym typeface="Arial"/>
            </a:endParaRPr>
          </a:p>
          <a:p>
            <a:pPr indent="0" lvl="0" marL="0" marR="0" rtl="0" algn="l">
              <a:lnSpc>
                <a:spcPct val="100000"/>
              </a:lnSpc>
              <a:spcBef>
                <a:spcPts val="0"/>
              </a:spcBef>
              <a:spcAft>
                <a:spcPts val="0"/>
              </a:spcAft>
              <a:buClr>
                <a:srgbClr val="A7BED1"/>
              </a:buClr>
              <a:buSzPts val="1220"/>
              <a:buFont typeface="Arial"/>
              <a:buNone/>
            </a:pPr>
            <a:r>
              <a:rPr b="0" i="0" lang="en-US" sz="1220" u="none" cap="none" strike="noStrike">
                <a:solidFill>
                  <a:srgbClr val="A7BED1"/>
                </a:solidFill>
                <a:latin typeface="Arial"/>
                <a:ea typeface="Arial"/>
                <a:cs typeface="Arial"/>
                <a:sym typeface="Arial"/>
              </a:rPr>
              <a:t>Prompt/model versioning</a:t>
            </a:r>
            <a:endParaRPr b="0" i="0" sz="1220" u="none" cap="none" strike="noStrike">
              <a:solidFill>
                <a:srgbClr val="A7BED1"/>
              </a:solidFill>
              <a:latin typeface="Arial"/>
              <a:ea typeface="Arial"/>
              <a:cs typeface="Arial"/>
              <a:sym typeface="Arial"/>
            </a:endParaRPr>
          </a:p>
          <a:p>
            <a:pPr indent="0" lvl="0" marL="0" marR="0" rtl="0" algn="l">
              <a:lnSpc>
                <a:spcPct val="100000"/>
              </a:lnSpc>
              <a:spcBef>
                <a:spcPts val="0"/>
              </a:spcBef>
              <a:spcAft>
                <a:spcPts val="0"/>
              </a:spcAft>
              <a:buClr>
                <a:srgbClr val="A7BED1"/>
              </a:buClr>
              <a:buSzPts val="1220"/>
              <a:buFont typeface="Arial"/>
              <a:buNone/>
            </a:pPr>
            <a:r>
              <a:rPr b="0" i="0" lang="en-US" sz="1220" u="none" cap="none" strike="noStrike">
                <a:solidFill>
                  <a:srgbClr val="A7BED1"/>
                </a:solidFill>
                <a:latin typeface="Arial"/>
                <a:ea typeface="Arial"/>
                <a:cs typeface="Arial"/>
                <a:sym typeface="Arial"/>
              </a:rPr>
              <a:t>DPIA review if scope expands.</a:t>
            </a:r>
            <a:endParaRPr b="0" i="0" sz="1220" u="none" cap="none" strike="noStrike">
              <a:solidFill>
                <a:schemeClr val="dk1"/>
              </a:solidFill>
              <a:latin typeface="Arial"/>
              <a:ea typeface="Arial"/>
              <a:cs typeface="Arial"/>
              <a:sym typeface="Arial"/>
            </a:endParaRPr>
          </a:p>
        </p:txBody>
      </p:sp>
      <p:sp>
        <p:nvSpPr>
          <p:cNvPr id="253" name="Google Shape;253;p7"/>
          <p:cNvSpPr/>
          <p:nvPr/>
        </p:nvSpPr>
        <p:spPr>
          <a:xfrm>
            <a:off x="760125" y="4343400"/>
            <a:ext cx="10057200" cy="1303200"/>
          </a:xfrm>
          <a:prstGeom prst="roundRect">
            <a:avLst>
              <a:gd fmla="val 5263" name="adj"/>
            </a:avLst>
          </a:prstGeom>
          <a:solidFill>
            <a:srgbClr val="0A2635">
              <a:alpha val="94902"/>
            </a:srgbClr>
          </a:solidFill>
          <a:ln cap="flat" cmpd="sng" w="12700">
            <a:solidFill>
              <a:srgbClr val="1B83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7"/>
          <p:cNvSpPr/>
          <p:nvPr/>
        </p:nvSpPr>
        <p:spPr>
          <a:xfrm>
            <a:off x="1188725" y="4526266"/>
            <a:ext cx="9509700" cy="6858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F4FAFF"/>
              </a:buClr>
              <a:buSzPts val="1350"/>
              <a:buFont typeface="Arial"/>
              <a:buNone/>
            </a:pPr>
            <a:r>
              <a:t/>
            </a:r>
            <a:endParaRPr b="1" i="0" sz="1350" u="none" cap="none" strike="noStrike">
              <a:solidFill>
                <a:srgbClr val="F4FAFF"/>
              </a:solidFill>
              <a:latin typeface="Arial"/>
              <a:ea typeface="Arial"/>
              <a:cs typeface="Arial"/>
              <a:sym typeface="Arial"/>
            </a:endParaRPr>
          </a:p>
          <a:p>
            <a:pPr indent="0" lvl="0" marL="0" marR="0" rtl="0" algn="ctr">
              <a:lnSpc>
                <a:spcPct val="100000"/>
              </a:lnSpc>
              <a:spcBef>
                <a:spcPts val="0"/>
              </a:spcBef>
              <a:spcAft>
                <a:spcPts val="0"/>
              </a:spcAft>
              <a:buClr>
                <a:srgbClr val="F4FAFF"/>
              </a:buClr>
              <a:buSzPts val="1350"/>
              <a:buFont typeface="Arial"/>
              <a:buNone/>
            </a:pPr>
            <a:r>
              <a:t/>
            </a:r>
            <a:endParaRPr b="1" i="0" sz="1350" u="none" cap="none" strike="noStrike">
              <a:solidFill>
                <a:srgbClr val="F4FAFF"/>
              </a:solidFill>
              <a:latin typeface="Arial"/>
              <a:ea typeface="Arial"/>
              <a:cs typeface="Arial"/>
              <a:sym typeface="Arial"/>
            </a:endParaRPr>
          </a:p>
          <a:p>
            <a:pPr indent="0" lvl="0" marL="0" marR="0" rtl="0" algn="ctr">
              <a:lnSpc>
                <a:spcPct val="100000"/>
              </a:lnSpc>
              <a:spcBef>
                <a:spcPts val="0"/>
              </a:spcBef>
              <a:spcAft>
                <a:spcPts val="0"/>
              </a:spcAft>
              <a:buClr>
                <a:srgbClr val="F4FAFF"/>
              </a:buClr>
              <a:buSzPts val="1350"/>
              <a:buFont typeface="Arial"/>
              <a:buNone/>
            </a:pPr>
            <a:r>
              <a:rPr b="1" i="0" lang="en-US" sz="1350" u="none" cap="none" strike="noStrike">
                <a:solidFill>
                  <a:srgbClr val="F4FAFF"/>
                </a:solidFill>
                <a:latin typeface="Arial"/>
                <a:ea typeface="Arial"/>
                <a:cs typeface="Arial"/>
                <a:sym typeface="Arial"/>
              </a:rPr>
              <a:t>Compliance message: FinRadar can be piloted responsibly because it is scoped as analyst assistance with visible controls.</a:t>
            </a:r>
            <a:endParaRPr b="0" i="0" sz="135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1724"/>
        </a:solidFill>
      </p:bgPr>
    </p:bg>
    <p:spTree>
      <p:nvGrpSpPr>
        <p:cNvPr id="259" name="Shape 259"/>
        <p:cNvGrpSpPr/>
        <p:nvPr/>
      </p:nvGrpSpPr>
      <p:grpSpPr>
        <a:xfrm>
          <a:off x="0" y="0"/>
          <a:ext cx="0" cy="0"/>
          <a:chOff x="0" y="0"/>
          <a:chExt cx="0" cy="0"/>
        </a:xfrm>
      </p:grpSpPr>
      <p:pic>
        <p:nvPicPr>
          <p:cNvPr descr="/mnt/data/finradar_logo_watermark_dark.png" id="260" name="Google Shape;260;p8"/>
          <p:cNvPicPr preferRelativeResize="0"/>
          <p:nvPr/>
        </p:nvPicPr>
        <p:blipFill rotWithShape="1">
          <a:blip r:embed="rId3">
            <a:alphaModFix/>
          </a:blip>
          <a:srcRect b="0" l="0" r="0" t="0"/>
          <a:stretch/>
        </p:blipFill>
        <p:spPr>
          <a:xfrm>
            <a:off x="10561320" y="502920"/>
            <a:ext cx="685800" cy="685800"/>
          </a:xfrm>
          <a:prstGeom prst="rect">
            <a:avLst/>
          </a:prstGeom>
          <a:noFill/>
          <a:ln>
            <a:noFill/>
          </a:ln>
        </p:spPr>
      </p:pic>
      <p:sp>
        <p:nvSpPr>
          <p:cNvPr id="261" name="Google Shape;261;p8"/>
          <p:cNvSpPr/>
          <p:nvPr/>
        </p:nvSpPr>
        <p:spPr>
          <a:xfrm>
            <a:off x="393192" y="228600"/>
            <a:ext cx="2743200" cy="219456"/>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31D7F7"/>
              </a:buClr>
              <a:buSzPts val="950"/>
              <a:buFont typeface="Arial"/>
              <a:buNone/>
            </a:pPr>
            <a:r>
              <a:rPr b="1" i="0" lang="en-US" sz="1200" u="none" cap="none" strike="noStrike">
                <a:solidFill>
                  <a:srgbClr val="31D7F7"/>
                </a:solidFill>
                <a:latin typeface="Arial"/>
                <a:ea typeface="Arial"/>
                <a:cs typeface="Arial"/>
                <a:sym typeface="Arial"/>
              </a:rPr>
              <a:t>FinRadar AI | Round 2</a:t>
            </a:r>
            <a:endParaRPr b="0" i="0" sz="1200" u="none" cap="none" strike="noStrike">
              <a:solidFill>
                <a:schemeClr val="dk1"/>
              </a:solidFill>
              <a:latin typeface="Arial"/>
              <a:ea typeface="Arial"/>
              <a:cs typeface="Arial"/>
              <a:sym typeface="Arial"/>
            </a:endParaRPr>
          </a:p>
        </p:txBody>
      </p:sp>
      <p:pic>
        <p:nvPicPr>
          <p:cNvPr descr="/mnt/data/ironhack-logo.png" id="262" name="Google Shape;262;p8"/>
          <p:cNvPicPr preferRelativeResize="0"/>
          <p:nvPr/>
        </p:nvPicPr>
        <p:blipFill rotWithShape="1">
          <a:blip r:embed="rId4">
            <a:alphaModFix/>
          </a:blip>
          <a:srcRect b="0" l="0" r="0" t="0"/>
          <a:stretch/>
        </p:blipFill>
        <p:spPr>
          <a:xfrm>
            <a:off x="10469880" y="173736"/>
            <a:ext cx="1234440" cy="201168"/>
          </a:xfrm>
          <a:prstGeom prst="rect">
            <a:avLst/>
          </a:prstGeom>
          <a:noFill/>
          <a:ln>
            <a:noFill/>
          </a:ln>
        </p:spPr>
      </p:pic>
      <p:cxnSp>
        <p:nvCxnSpPr>
          <p:cNvPr id="263" name="Google Shape;263;p8"/>
          <p:cNvCxnSpPr/>
          <p:nvPr/>
        </p:nvCxnSpPr>
        <p:spPr>
          <a:xfrm>
            <a:off x="393192" y="6473952"/>
            <a:ext cx="11384280" cy="0"/>
          </a:xfrm>
          <a:prstGeom prst="straightConnector1">
            <a:avLst/>
          </a:prstGeom>
          <a:noFill/>
          <a:ln cap="flat" cmpd="sng" w="12700">
            <a:solidFill>
              <a:srgbClr val="1A3949"/>
            </a:solidFill>
            <a:prstDash val="solid"/>
            <a:round/>
            <a:headEnd len="sm" w="sm" type="none"/>
            <a:tailEnd len="sm" w="sm" type="none"/>
          </a:ln>
        </p:spPr>
      </p:cxnSp>
      <p:sp>
        <p:nvSpPr>
          <p:cNvPr id="264" name="Google Shape;264;p8"/>
          <p:cNvSpPr/>
          <p:nvPr/>
        </p:nvSpPr>
        <p:spPr>
          <a:xfrm>
            <a:off x="393192" y="6528816"/>
            <a:ext cx="2377440" cy="201168"/>
          </a:xfrm>
          <a:prstGeom prst="rect">
            <a:avLst/>
          </a:prstGeom>
          <a:noFill/>
          <a:ln>
            <a:noFill/>
          </a:ln>
        </p:spPr>
        <p:txBody>
          <a:bodyPr anchorCtr="0" anchor="ctr" bIns="500" lIns="500" spcFirstLastPara="1" rIns="500" wrap="square" tIns="500">
            <a:normAutofit/>
          </a:bodyPr>
          <a:lstStyle/>
          <a:p>
            <a:pPr indent="0" lvl="0" marL="0" marR="0" rtl="0" algn="l">
              <a:lnSpc>
                <a:spcPct val="100000"/>
              </a:lnSpc>
              <a:spcBef>
                <a:spcPts val="0"/>
              </a:spcBef>
              <a:spcAft>
                <a:spcPts val="0"/>
              </a:spcAft>
              <a:buClr>
                <a:srgbClr val="A7BED1"/>
              </a:buClr>
              <a:buSzPts val="900"/>
              <a:buFont typeface="Arial"/>
              <a:buNone/>
            </a:pPr>
            <a:r>
              <a:rPr b="0" i="0" lang="en-US" sz="1200" u="none" cap="none" strike="noStrike">
                <a:solidFill>
                  <a:srgbClr val="A7BED1"/>
                </a:solidFill>
                <a:latin typeface="Arial"/>
                <a:ea typeface="Arial"/>
                <a:cs typeface="Arial"/>
                <a:sym typeface="Arial"/>
              </a:rPr>
              <a:t>AI Assists - Humans Decide</a:t>
            </a:r>
            <a:endParaRPr b="0" i="0" sz="1200" u="none" cap="none" strike="noStrike">
              <a:solidFill>
                <a:schemeClr val="dk1"/>
              </a:solidFill>
              <a:latin typeface="Arial"/>
              <a:ea typeface="Arial"/>
              <a:cs typeface="Arial"/>
              <a:sym typeface="Arial"/>
            </a:endParaRPr>
          </a:p>
        </p:txBody>
      </p:sp>
      <p:sp>
        <p:nvSpPr>
          <p:cNvPr id="265" name="Google Shape;265;p8"/>
          <p:cNvSpPr/>
          <p:nvPr/>
        </p:nvSpPr>
        <p:spPr>
          <a:xfrm>
            <a:off x="11475720" y="6528816"/>
            <a:ext cx="320040" cy="201168"/>
          </a:xfrm>
          <a:prstGeom prst="rect">
            <a:avLst/>
          </a:prstGeom>
          <a:noFill/>
          <a:ln>
            <a:noFill/>
          </a:ln>
        </p:spPr>
        <p:txBody>
          <a:bodyPr anchorCtr="0" anchor="ctr" bIns="500" lIns="500" spcFirstLastPara="1" rIns="500" wrap="square" tIns="500">
            <a:normAutofit/>
          </a:bodyPr>
          <a:lstStyle/>
          <a:p>
            <a:pPr indent="0" lvl="0" marL="0" marR="0" rtl="0" algn="r">
              <a:lnSpc>
                <a:spcPct val="100000"/>
              </a:lnSpc>
              <a:spcBef>
                <a:spcPts val="0"/>
              </a:spcBef>
              <a:spcAft>
                <a:spcPts val="0"/>
              </a:spcAft>
              <a:buClr>
                <a:srgbClr val="A7BED1"/>
              </a:buClr>
              <a:buSzPts val="900"/>
              <a:buFont typeface="Arial"/>
              <a:buNone/>
            </a:pPr>
            <a:r>
              <a:rPr b="0" i="0" lang="en-US" sz="1400" u="none" cap="none" strike="noStrike">
                <a:solidFill>
                  <a:srgbClr val="000000"/>
                </a:solidFill>
                <a:latin typeface="Arial"/>
                <a:ea typeface="Arial"/>
                <a:cs typeface="Arial"/>
                <a:sym typeface="Arial"/>
              </a:rPr>
              <a:t>09</a:t>
            </a:r>
            <a:endParaRPr b="0" i="0" sz="900" u="none" cap="none" strike="noStrike">
              <a:solidFill>
                <a:schemeClr val="dk1"/>
              </a:solidFill>
              <a:latin typeface="Arial"/>
              <a:ea typeface="Arial"/>
              <a:cs typeface="Arial"/>
              <a:sym typeface="Arial"/>
            </a:endParaRPr>
          </a:p>
        </p:txBody>
      </p:sp>
      <p:sp>
        <p:nvSpPr>
          <p:cNvPr id="266" name="Google Shape;266;p8"/>
          <p:cNvSpPr/>
          <p:nvPr/>
        </p:nvSpPr>
        <p:spPr>
          <a:xfrm>
            <a:off x="749800" y="841250"/>
            <a:ext cx="9473100" cy="4479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4FAFF"/>
              </a:buClr>
              <a:buSzPts val="2800"/>
              <a:buFont typeface="Arial"/>
              <a:buNone/>
            </a:pPr>
            <a:r>
              <a:rPr b="1" i="0" lang="en-US" sz="2800" u="none" cap="none" strike="noStrike">
                <a:solidFill>
                  <a:srgbClr val="F4FAFF"/>
                </a:solidFill>
                <a:latin typeface="Arial"/>
                <a:ea typeface="Arial"/>
                <a:cs typeface="Arial"/>
                <a:sym typeface="Arial"/>
              </a:rPr>
              <a:t>Strategic Deployment Plan: Pilot Before Production</a:t>
            </a:r>
            <a:endParaRPr b="0" i="0" sz="2800" u="none" cap="none" strike="noStrike">
              <a:solidFill>
                <a:schemeClr val="dk1"/>
              </a:solidFill>
              <a:latin typeface="Arial"/>
              <a:ea typeface="Arial"/>
              <a:cs typeface="Arial"/>
              <a:sym typeface="Arial"/>
            </a:endParaRPr>
          </a:p>
        </p:txBody>
      </p:sp>
      <p:sp>
        <p:nvSpPr>
          <p:cNvPr id="267" name="Google Shape;267;p8"/>
          <p:cNvSpPr/>
          <p:nvPr/>
        </p:nvSpPr>
        <p:spPr>
          <a:xfrm>
            <a:off x="749800" y="1353300"/>
            <a:ext cx="8916000" cy="3657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A7BED1"/>
              </a:buClr>
              <a:buSzPts val="1260"/>
              <a:buFont typeface="Arial"/>
              <a:buNone/>
            </a:pPr>
            <a:r>
              <a:rPr b="1" i="1" lang="en-US" sz="1800" u="none" cap="none" strike="noStrike">
                <a:solidFill>
                  <a:srgbClr val="6AA84F"/>
                </a:solidFill>
                <a:latin typeface="Arial"/>
                <a:ea typeface="Arial"/>
                <a:cs typeface="Arial"/>
                <a:sym typeface="Arial"/>
              </a:rPr>
              <a:t>Recommendation:</a:t>
            </a:r>
            <a:r>
              <a:rPr b="1" i="1" lang="en-US" sz="1400" u="none" cap="none" strike="noStrike">
                <a:solidFill>
                  <a:srgbClr val="A7BED1"/>
                </a:solidFill>
                <a:latin typeface="Arial"/>
                <a:ea typeface="Arial"/>
                <a:cs typeface="Arial"/>
                <a:sym typeface="Arial"/>
              </a:rPr>
              <a:t> move from working MVP to a controlled analyst pilot, then decide on production.</a:t>
            </a:r>
            <a:endParaRPr b="1" i="1" sz="1400" u="none" cap="none" strike="noStrike">
              <a:solidFill>
                <a:schemeClr val="dk1"/>
              </a:solidFill>
              <a:latin typeface="Arial"/>
              <a:ea typeface="Arial"/>
              <a:cs typeface="Arial"/>
              <a:sym typeface="Arial"/>
            </a:endParaRPr>
          </a:p>
        </p:txBody>
      </p:sp>
      <p:cxnSp>
        <p:nvCxnSpPr>
          <p:cNvPr id="268" name="Google Shape;268;p8"/>
          <p:cNvCxnSpPr/>
          <p:nvPr/>
        </p:nvCxnSpPr>
        <p:spPr>
          <a:xfrm>
            <a:off x="1874520" y="2395728"/>
            <a:ext cx="1170432" cy="0"/>
          </a:xfrm>
          <a:prstGeom prst="straightConnector1">
            <a:avLst/>
          </a:prstGeom>
          <a:noFill/>
          <a:ln cap="flat" cmpd="sng" w="27925">
            <a:solidFill>
              <a:srgbClr val="1B83F6"/>
            </a:solidFill>
            <a:prstDash val="solid"/>
            <a:round/>
            <a:headEnd len="sm" w="sm" type="none"/>
            <a:tailEnd len="med" w="med" type="triangle"/>
          </a:ln>
        </p:spPr>
      </p:cxnSp>
      <p:cxnSp>
        <p:nvCxnSpPr>
          <p:cNvPr id="269" name="Google Shape;269;p8"/>
          <p:cNvCxnSpPr/>
          <p:nvPr/>
        </p:nvCxnSpPr>
        <p:spPr>
          <a:xfrm>
            <a:off x="4160520" y="2395728"/>
            <a:ext cx="1170432" cy="0"/>
          </a:xfrm>
          <a:prstGeom prst="straightConnector1">
            <a:avLst/>
          </a:prstGeom>
          <a:noFill/>
          <a:ln cap="flat" cmpd="sng" w="27925">
            <a:solidFill>
              <a:srgbClr val="1B83F6"/>
            </a:solidFill>
            <a:prstDash val="solid"/>
            <a:round/>
            <a:headEnd len="sm" w="sm" type="none"/>
            <a:tailEnd len="med" w="med" type="triangle"/>
          </a:ln>
        </p:spPr>
      </p:cxnSp>
      <p:cxnSp>
        <p:nvCxnSpPr>
          <p:cNvPr id="270" name="Google Shape;270;p8"/>
          <p:cNvCxnSpPr/>
          <p:nvPr/>
        </p:nvCxnSpPr>
        <p:spPr>
          <a:xfrm>
            <a:off x="6446520" y="2395728"/>
            <a:ext cx="1170432" cy="0"/>
          </a:xfrm>
          <a:prstGeom prst="straightConnector1">
            <a:avLst/>
          </a:prstGeom>
          <a:noFill/>
          <a:ln cap="flat" cmpd="sng" w="27925">
            <a:solidFill>
              <a:srgbClr val="1B83F6"/>
            </a:solidFill>
            <a:prstDash val="solid"/>
            <a:round/>
            <a:headEnd len="sm" w="sm" type="none"/>
            <a:tailEnd len="med" w="med" type="triangle"/>
          </a:ln>
        </p:spPr>
      </p:cxnSp>
      <p:sp>
        <p:nvSpPr>
          <p:cNvPr id="271" name="Google Shape;271;p8"/>
          <p:cNvSpPr/>
          <p:nvPr/>
        </p:nvSpPr>
        <p:spPr>
          <a:xfrm>
            <a:off x="749800" y="1965950"/>
            <a:ext cx="1417200" cy="1140600"/>
          </a:xfrm>
          <a:prstGeom prst="roundRect">
            <a:avLst>
              <a:gd fmla="val 6316" name="adj"/>
            </a:avLst>
          </a:prstGeom>
          <a:solidFill>
            <a:srgbClr val="0E3144"/>
          </a:solidFill>
          <a:ln cap="flat" cmpd="sng" w="13950">
            <a:solidFill>
              <a:srgbClr val="31D7F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8"/>
          <p:cNvSpPr/>
          <p:nvPr/>
        </p:nvSpPr>
        <p:spPr>
          <a:xfrm>
            <a:off x="822960" y="2057400"/>
            <a:ext cx="1134000" cy="685800"/>
          </a:xfrm>
          <a:prstGeom prst="rect">
            <a:avLst/>
          </a:prstGeom>
          <a:noFill/>
          <a:ln>
            <a:noFill/>
          </a:ln>
        </p:spPr>
        <p:txBody>
          <a:bodyPr anchorCtr="0" anchor="ctr" bIns="250" lIns="250" spcFirstLastPara="1" rIns="250" wrap="square" tIns="250">
            <a:normAutofit/>
          </a:bodyPr>
          <a:lstStyle/>
          <a:p>
            <a:pPr indent="0" lvl="0" marL="0" marR="0" rtl="0" algn="ctr">
              <a:lnSpc>
                <a:spcPct val="100000"/>
              </a:lnSpc>
              <a:spcBef>
                <a:spcPts val="0"/>
              </a:spcBef>
              <a:spcAft>
                <a:spcPts val="0"/>
              </a:spcAft>
              <a:buClr>
                <a:srgbClr val="F4FAFF"/>
              </a:buClr>
              <a:buSzPts val="1300"/>
              <a:buFont typeface="Arial"/>
              <a:buNone/>
            </a:pPr>
            <a:r>
              <a:rPr b="1" i="0" lang="en-US" sz="1300" u="none" cap="none" strike="noStrike">
                <a:solidFill>
                  <a:srgbClr val="F4FAFF"/>
                </a:solidFill>
                <a:latin typeface="Arial"/>
                <a:ea typeface="Arial"/>
                <a:cs typeface="Arial"/>
                <a:sym typeface="Arial"/>
              </a:rPr>
              <a:t>Round 1</a:t>
            </a:r>
            <a:endParaRPr b="0" i="0" sz="13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F4FAFF"/>
              </a:buClr>
              <a:buSzPts val="1300"/>
              <a:buFont typeface="Arial"/>
              <a:buNone/>
            </a:pPr>
            <a:r>
              <a:rPr b="1" i="0" lang="en-US" sz="1300" u="none" cap="none" strike="noStrike">
                <a:solidFill>
                  <a:srgbClr val="F4FAFF"/>
                </a:solidFill>
                <a:latin typeface="Arial"/>
                <a:ea typeface="Arial"/>
                <a:cs typeface="Arial"/>
                <a:sym typeface="Arial"/>
              </a:rPr>
              <a:t>POC</a:t>
            </a:r>
            <a:endParaRPr b="0" i="0" sz="1300" u="none" cap="none" strike="noStrike">
              <a:solidFill>
                <a:schemeClr val="dk1"/>
              </a:solidFill>
              <a:latin typeface="Arial"/>
              <a:ea typeface="Arial"/>
              <a:cs typeface="Arial"/>
              <a:sym typeface="Arial"/>
            </a:endParaRPr>
          </a:p>
        </p:txBody>
      </p:sp>
      <p:sp>
        <p:nvSpPr>
          <p:cNvPr id="273" name="Google Shape;273;p8"/>
          <p:cNvSpPr/>
          <p:nvPr/>
        </p:nvSpPr>
        <p:spPr>
          <a:xfrm>
            <a:off x="3063250" y="1965950"/>
            <a:ext cx="1417200" cy="1005900"/>
          </a:xfrm>
          <a:prstGeom prst="roundRect">
            <a:avLst>
              <a:gd fmla="val 6316" name="adj"/>
            </a:avLst>
          </a:prstGeom>
          <a:solidFill>
            <a:srgbClr val="0E3144"/>
          </a:solidFill>
          <a:ln cap="flat" cmpd="sng" w="13950">
            <a:solidFill>
              <a:srgbClr val="31D7F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8"/>
          <p:cNvSpPr/>
          <p:nvPr/>
        </p:nvSpPr>
        <p:spPr>
          <a:xfrm>
            <a:off x="3136392" y="2057400"/>
            <a:ext cx="1133856" cy="685800"/>
          </a:xfrm>
          <a:prstGeom prst="rect">
            <a:avLst/>
          </a:prstGeom>
          <a:noFill/>
          <a:ln>
            <a:noFill/>
          </a:ln>
        </p:spPr>
        <p:txBody>
          <a:bodyPr anchorCtr="0" anchor="ctr" bIns="250" lIns="250" spcFirstLastPara="1" rIns="250" wrap="square" tIns="250">
            <a:normAutofit/>
          </a:bodyPr>
          <a:lstStyle/>
          <a:p>
            <a:pPr indent="0" lvl="0" marL="0" marR="0" rtl="0" algn="ctr">
              <a:lnSpc>
                <a:spcPct val="100000"/>
              </a:lnSpc>
              <a:spcBef>
                <a:spcPts val="0"/>
              </a:spcBef>
              <a:spcAft>
                <a:spcPts val="0"/>
              </a:spcAft>
              <a:buClr>
                <a:srgbClr val="F4FAFF"/>
              </a:buClr>
              <a:buSzPts val="1300"/>
              <a:buFont typeface="Arial"/>
              <a:buNone/>
            </a:pPr>
            <a:r>
              <a:rPr b="1" i="0" lang="en-US" sz="1300" u="none" cap="none" strike="noStrike">
                <a:solidFill>
                  <a:srgbClr val="F4FAFF"/>
                </a:solidFill>
                <a:latin typeface="Arial"/>
                <a:ea typeface="Arial"/>
                <a:cs typeface="Arial"/>
                <a:sym typeface="Arial"/>
              </a:rPr>
              <a:t>Round 2</a:t>
            </a:r>
            <a:endParaRPr b="0" i="0" sz="13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F4FAFF"/>
              </a:buClr>
              <a:buSzPts val="1300"/>
              <a:buFont typeface="Arial"/>
              <a:buNone/>
            </a:pPr>
            <a:r>
              <a:rPr b="1" i="0" lang="en-US" sz="1300" u="none" cap="none" strike="noStrike">
                <a:solidFill>
                  <a:srgbClr val="F4FAFF"/>
                </a:solidFill>
                <a:latin typeface="Arial"/>
                <a:ea typeface="Arial"/>
                <a:cs typeface="Arial"/>
                <a:sym typeface="Arial"/>
              </a:rPr>
              <a:t>MVP</a:t>
            </a:r>
            <a:endParaRPr b="0" i="0" sz="1300" u="none" cap="none" strike="noStrike">
              <a:solidFill>
                <a:schemeClr val="dk1"/>
              </a:solidFill>
              <a:latin typeface="Arial"/>
              <a:ea typeface="Arial"/>
              <a:cs typeface="Arial"/>
              <a:sym typeface="Arial"/>
            </a:endParaRPr>
          </a:p>
        </p:txBody>
      </p:sp>
      <p:sp>
        <p:nvSpPr>
          <p:cNvPr id="275" name="Google Shape;275;p8"/>
          <p:cNvSpPr/>
          <p:nvPr/>
        </p:nvSpPr>
        <p:spPr>
          <a:xfrm>
            <a:off x="5349250" y="1965950"/>
            <a:ext cx="1497600" cy="1005900"/>
          </a:xfrm>
          <a:prstGeom prst="roundRect">
            <a:avLst>
              <a:gd fmla="val 6316" name="adj"/>
            </a:avLst>
          </a:prstGeom>
          <a:solidFill>
            <a:srgbClr val="10332B"/>
          </a:solidFill>
          <a:ln cap="flat" cmpd="sng" w="13950">
            <a:solidFill>
              <a:srgbClr val="2EEA9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8"/>
          <p:cNvSpPr/>
          <p:nvPr/>
        </p:nvSpPr>
        <p:spPr>
          <a:xfrm>
            <a:off x="5422392" y="2057400"/>
            <a:ext cx="1133856" cy="685800"/>
          </a:xfrm>
          <a:prstGeom prst="rect">
            <a:avLst/>
          </a:prstGeom>
          <a:noFill/>
          <a:ln>
            <a:noFill/>
          </a:ln>
        </p:spPr>
        <p:txBody>
          <a:bodyPr anchorCtr="0" anchor="ctr" bIns="250" lIns="250" spcFirstLastPara="1" rIns="250" wrap="square" tIns="250">
            <a:normAutofit/>
          </a:bodyPr>
          <a:lstStyle/>
          <a:p>
            <a:pPr indent="0" lvl="0" marL="0" marR="0" rtl="0" algn="ctr">
              <a:lnSpc>
                <a:spcPct val="100000"/>
              </a:lnSpc>
              <a:spcBef>
                <a:spcPts val="0"/>
              </a:spcBef>
              <a:spcAft>
                <a:spcPts val="0"/>
              </a:spcAft>
              <a:buClr>
                <a:srgbClr val="F4FAFF"/>
              </a:buClr>
              <a:buSzPts val="1300"/>
              <a:buFont typeface="Arial"/>
              <a:buNone/>
            </a:pPr>
            <a:r>
              <a:rPr b="1" i="0" lang="en-US" sz="1300" u="none" cap="none" strike="noStrike">
                <a:solidFill>
                  <a:srgbClr val="F4FAFF"/>
                </a:solidFill>
                <a:latin typeface="Arial"/>
                <a:ea typeface="Arial"/>
                <a:cs typeface="Arial"/>
                <a:sym typeface="Arial"/>
              </a:rPr>
              <a:t>60-day</a:t>
            </a:r>
            <a:endParaRPr b="0" i="0" sz="13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F4FAFF"/>
              </a:buClr>
              <a:buSzPts val="1300"/>
              <a:buFont typeface="Arial"/>
              <a:buNone/>
            </a:pPr>
            <a:r>
              <a:rPr b="1" i="0" lang="en-US" sz="1300" u="none" cap="none" strike="noStrike">
                <a:solidFill>
                  <a:srgbClr val="F4FAFF"/>
                </a:solidFill>
                <a:latin typeface="Arial"/>
                <a:ea typeface="Arial"/>
                <a:cs typeface="Arial"/>
                <a:sym typeface="Arial"/>
              </a:rPr>
              <a:t>Pilot</a:t>
            </a:r>
            <a:endParaRPr b="0" i="0" sz="1300" u="none" cap="none" strike="noStrike">
              <a:solidFill>
                <a:schemeClr val="dk1"/>
              </a:solidFill>
              <a:latin typeface="Arial"/>
              <a:ea typeface="Arial"/>
              <a:cs typeface="Arial"/>
              <a:sym typeface="Arial"/>
            </a:endParaRPr>
          </a:p>
        </p:txBody>
      </p:sp>
      <p:sp>
        <p:nvSpPr>
          <p:cNvPr id="277" name="Google Shape;277;p8"/>
          <p:cNvSpPr/>
          <p:nvPr/>
        </p:nvSpPr>
        <p:spPr>
          <a:xfrm>
            <a:off x="7635250" y="1965950"/>
            <a:ext cx="1820100" cy="1005900"/>
          </a:xfrm>
          <a:prstGeom prst="roundRect">
            <a:avLst>
              <a:gd fmla="val 6316" name="adj"/>
            </a:avLst>
          </a:prstGeom>
          <a:solidFill>
            <a:srgbClr val="2B2713"/>
          </a:solidFill>
          <a:ln cap="flat" cmpd="sng" w="13950">
            <a:solidFill>
              <a:srgbClr val="F6B84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8"/>
          <p:cNvSpPr/>
          <p:nvPr/>
        </p:nvSpPr>
        <p:spPr>
          <a:xfrm>
            <a:off x="7708392" y="2057400"/>
            <a:ext cx="1271016" cy="685800"/>
          </a:xfrm>
          <a:prstGeom prst="rect">
            <a:avLst/>
          </a:prstGeom>
          <a:noFill/>
          <a:ln>
            <a:noFill/>
          </a:ln>
        </p:spPr>
        <p:txBody>
          <a:bodyPr anchorCtr="0" anchor="ctr" bIns="250" lIns="250" spcFirstLastPara="1" rIns="250" wrap="square" tIns="250">
            <a:normAutofit/>
          </a:bodyPr>
          <a:lstStyle/>
          <a:p>
            <a:pPr indent="0" lvl="0" marL="0" marR="0" rtl="0" algn="ctr">
              <a:lnSpc>
                <a:spcPct val="100000"/>
              </a:lnSpc>
              <a:spcBef>
                <a:spcPts val="0"/>
              </a:spcBef>
              <a:spcAft>
                <a:spcPts val="0"/>
              </a:spcAft>
              <a:buClr>
                <a:srgbClr val="F4FAFF"/>
              </a:buClr>
              <a:buSzPts val="1250"/>
              <a:buFont typeface="Arial"/>
              <a:buNone/>
            </a:pPr>
            <a:r>
              <a:rPr b="1" i="0" lang="en-US" sz="1250" u="none" cap="none" strike="noStrike">
                <a:solidFill>
                  <a:srgbClr val="F4FAFF"/>
                </a:solidFill>
                <a:latin typeface="Arial"/>
                <a:ea typeface="Arial"/>
                <a:cs typeface="Arial"/>
                <a:sym typeface="Arial"/>
              </a:rPr>
              <a:t>Production</a:t>
            </a:r>
            <a:endParaRPr b="0" i="0" sz="125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F4FAFF"/>
              </a:buClr>
              <a:buSzPts val="1250"/>
              <a:buFont typeface="Arial"/>
              <a:buNone/>
            </a:pPr>
            <a:r>
              <a:rPr b="1" i="0" lang="en-US" sz="1250" u="none" cap="none" strike="noStrike">
                <a:solidFill>
                  <a:srgbClr val="F4FAFF"/>
                </a:solidFill>
                <a:latin typeface="Arial"/>
                <a:ea typeface="Arial"/>
                <a:cs typeface="Arial"/>
                <a:sym typeface="Arial"/>
              </a:rPr>
              <a:t>Decision</a:t>
            </a:r>
            <a:endParaRPr b="0" i="0" sz="1250" u="none" cap="none" strike="noStrike">
              <a:solidFill>
                <a:schemeClr val="dk1"/>
              </a:solidFill>
              <a:latin typeface="Arial"/>
              <a:ea typeface="Arial"/>
              <a:cs typeface="Arial"/>
              <a:sym typeface="Arial"/>
            </a:endParaRPr>
          </a:p>
        </p:txBody>
      </p:sp>
      <p:sp>
        <p:nvSpPr>
          <p:cNvPr id="279" name="Google Shape;279;p8"/>
          <p:cNvSpPr/>
          <p:nvPr/>
        </p:nvSpPr>
        <p:spPr>
          <a:xfrm>
            <a:off x="749808" y="3383280"/>
            <a:ext cx="5029200" cy="2148840"/>
          </a:xfrm>
          <a:prstGeom prst="roundRect">
            <a:avLst>
              <a:gd fmla="val 2979" name="adj"/>
            </a:avLst>
          </a:prstGeom>
          <a:solidFill>
            <a:srgbClr val="092C27"/>
          </a:solidFill>
          <a:ln cap="flat" cmpd="sng" w="11425">
            <a:solidFill>
              <a:srgbClr val="2EEA9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8"/>
          <p:cNvSpPr/>
          <p:nvPr/>
        </p:nvSpPr>
        <p:spPr>
          <a:xfrm>
            <a:off x="914400" y="3511296"/>
            <a:ext cx="4700016" cy="32004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4FAFF"/>
              </a:buClr>
              <a:buSzPts val="1600"/>
              <a:buFont typeface="Arial"/>
              <a:buNone/>
            </a:pPr>
            <a:r>
              <a:rPr b="1" i="0" lang="en-US" sz="1600" u="none" cap="none" strike="noStrike">
                <a:solidFill>
                  <a:srgbClr val="F4FAFF"/>
                </a:solidFill>
                <a:latin typeface="Arial"/>
                <a:ea typeface="Arial"/>
                <a:cs typeface="Arial"/>
                <a:sym typeface="Arial"/>
              </a:rPr>
              <a:t>Pilot greenlight criteria</a:t>
            </a:r>
            <a:endParaRPr b="0" i="0" sz="1600" u="none" cap="none" strike="noStrike">
              <a:solidFill>
                <a:schemeClr val="dk1"/>
              </a:solidFill>
              <a:latin typeface="Arial"/>
              <a:ea typeface="Arial"/>
              <a:cs typeface="Arial"/>
              <a:sym typeface="Arial"/>
            </a:endParaRPr>
          </a:p>
        </p:txBody>
      </p:sp>
      <p:sp>
        <p:nvSpPr>
          <p:cNvPr id="281" name="Google Shape;281;p8"/>
          <p:cNvSpPr/>
          <p:nvPr/>
        </p:nvSpPr>
        <p:spPr>
          <a:xfrm>
            <a:off x="1005850" y="3831325"/>
            <a:ext cx="4434900" cy="1563600"/>
          </a:xfrm>
          <a:prstGeom prst="rect">
            <a:avLst/>
          </a:prstGeom>
          <a:noFill/>
          <a:ln>
            <a:noFill/>
          </a:ln>
        </p:spPr>
        <p:txBody>
          <a:bodyPr anchorCtr="0" anchor="t" bIns="500" lIns="500" spcFirstLastPara="1" rIns="500" wrap="square" tIns="500">
            <a:norm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4FA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4FAFF"/>
                </a:solidFill>
                <a:latin typeface="Arial"/>
                <a:ea typeface="Arial"/>
                <a:cs typeface="Arial"/>
                <a:sym typeface="Arial"/>
              </a:rPr>
              <a:t>Time reduction &gt;= 30-40%</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4FAFF"/>
                </a:solidFill>
                <a:latin typeface="Arial"/>
                <a:ea typeface="Arial"/>
                <a:cs typeface="Arial"/>
                <a:sym typeface="Arial"/>
              </a:rPr>
              <a:t>Priority accuracy &gt;= 80%</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4FAFF"/>
                </a:solidFill>
                <a:latin typeface="Arial"/>
                <a:ea typeface="Arial"/>
                <a:cs typeface="Arial"/>
                <a:sym typeface="Arial"/>
              </a:rPr>
              <a:t>Risk type accuracy &gt;= 85%</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4FAFF"/>
                </a:solidFill>
                <a:latin typeface="Arial"/>
                <a:ea typeface="Arial"/>
                <a:cs typeface="Arial"/>
                <a:sym typeface="Arial"/>
              </a:rPr>
              <a:t>Escalation accuracy &gt;= 90%</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4FAFF"/>
                </a:solidFill>
                <a:latin typeface="Arial"/>
                <a:ea typeface="Arial"/>
                <a:cs typeface="Arial"/>
                <a:sym typeface="Arial"/>
              </a:rPr>
              <a:t>Processing success &gt;= 95%</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4FAFF"/>
                </a:solidFill>
                <a:latin typeface="Arial"/>
                <a:ea typeface="Arial"/>
                <a:cs typeface="Arial"/>
                <a:sym typeface="Arial"/>
              </a:rPr>
              <a:t>0 critical compliance incidents</a:t>
            </a:r>
            <a:endParaRPr b="0" i="0" sz="1400" u="none" cap="none" strike="noStrike">
              <a:solidFill>
                <a:schemeClr val="dk1"/>
              </a:solidFill>
              <a:latin typeface="Arial"/>
              <a:ea typeface="Arial"/>
              <a:cs typeface="Arial"/>
              <a:sym typeface="Arial"/>
            </a:endParaRPr>
          </a:p>
        </p:txBody>
      </p:sp>
      <p:sp>
        <p:nvSpPr>
          <p:cNvPr id="282" name="Google Shape;282;p8"/>
          <p:cNvSpPr/>
          <p:nvPr/>
        </p:nvSpPr>
        <p:spPr>
          <a:xfrm>
            <a:off x="6080750" y="3383275"/>
            <a:ext cx="3220200" cy="914400"/>
          </a:xfrm>
          <a:prstGeom prst="roundRect">
            <a:avLst>
              <a:gd fmla="val 7000" name="adj"/>
            </a:avLst>
          </a:prstGeom>
          <a:solidFill>
            <a:srgbClr val="0A2738"/>
          </a:solidFill>
          <a:ln cap="flat" cmpd="sng" w="11425">
            <a:solidFill>
              <a:srgbClr val="31D7F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8"/>
          <p:cNvSpPr/>
          <p:nvPr/>
        </p:nvSpPr>
        <p:spPr>
          <a:xfrm>
            <a:off x="6245350" y="3383425"/>
            <a:ext cx="2505300" cy="3657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4FAFF"/>
              </a:buClr>
              <a:buSzPts val="1500"/>
              <a:buFont typeface="Arial"/>
              <a:buNone/>
            </a:pPr>
            <a:r>
              <a:rPr b="1" i="0" lang="en-US" sz="1500" u="none" cap="none" strike="noStrike">
                <a:solidFill>
                  <a:srgbClr val="F4FAFF"/>
                </a:solidFill>
                <a:latin typeface="Arial"/>
                <a:ea typeface="Arial"/>
                <a:cs typeface="Arial"/>
                <a:sym typeface="Arial"/>
              </a:rPr>
              <a:t>Commercial model</a:t>
            </a:r>
            <a:endParaRPr b="0" i="0" sz="1500" u="none" cap="none" strike="noStrike">
              <a:solidFill>
                <a:schemeClr val="dk1"/>
              </a:solidFill>
              <a:latin typeface="Arial"/>
              <a:ea typeface="Arial"/>
              <a:cs typeface="Arial"/>
              <a:sym typeface="Arial"/>
            </a:endParaRPr>
          </a:p>
        </p:txBody>
      </p:sp>
      <p:sp>
        <p:nvSpPr>
          <p:cNvPr id="284" name="Google Shape;284;p8"/>
          <p:cNvSpPr/>
          <p:nvPr/>
        </p:nvSpPr>
        <p:spPr>
          <a:xfrm>
            <a:off x="6245350" y="3672063"/>
            <a:ext cx="2957400" cy="800700"/>
          </a:xfrm>
          <a:prstGeom prst="rect">
            <a:avLst/>
          </a:prstGeom>
          <a:noFill/>
          <a:ln>
            <a:noFill/>
          </a:ln>
        </p:spPr>
        <p:txBody>
          <a:bodyPr anchorCtr="0" anchor="t" bIns="250" lIns="250" spcFirstLastPara="1" rIns="250" wrap="square" tIns="250">
            <a:normAutofit/>
          </a:bodyPr>
          <a:lstStyle/>
          <a:p>
            <a:pPr indent="0" lvl="0" marL="0" marR="0" rtl="0" algn="l">
              <a:lnSpc>
                <a:spcPct val="100000"/>
              </a:lnSpc>
              <a:spcBef>
                <a:spcPts val="0"/>
              </a:spcBef>
              <a:spcAft>
                <a:spcPts val="0"/>
              </a:spcAft>
              <a:buClr>
                <a:srgbClr val="A7BED1"/>
              </a:buClr>
              <a:buSzPts val="1120"/>
              <a:buFont typeface="Arial"/>
              <a:buNone/>
            </a:pPr>
            <a:r>
              <a:rPr b="0" i="0" lang="en-US" sz="1400" u="none" cap="none" strike="noStrike">
                <a:solidFill>
                  <a:srgbClr val="A7BED1"/>
                </a:solidFill>
                <a:latin typeface="Arial"/>
                <a:ea typeface="Arial"/>
                <a:cs typeface="Arial"/>
                <a:sym typeface="Arial"/>
              </a:rPr>
              <a:t>Internal pilot first; future SaaS or managed service for investment research teams</a:t>
            </a:r>
            <a:endParaRPr b="0" i="0" sz="1400" u="none" cap="none" strike="noStrike">
              <a:solidFill>
                <a:schemeClr val="dk1"/>
              </a:solidFill>
              <a:latin typeface="Arial"/>
              <a:ea typeface="Arial"/>
              <a:cs typeface="Arial"/>
              <a:sym typeface="Arial"/>
            </a:endParaRPr>
          </a:p>
        </p:txBody>
      </p:sp>
      <p:sp>
        <p:nvSpPr>
          <p:cNvPr id="285" name="Google Shape;285;p8"/>
          <p:cNvSpPr/>
          <p:nvPr/>
        </p:nvSpPr>
        <p:spPr>
          <a:xfrm>
            <a:off x="6080750" y="4526275"/>
            <a:ext cx="3220200" cy="1005900"/>
          </a:xfrm>
          <a:prstGeom prst="roundRect">
            <a:avLst>
              <a:gd fmla="val 6364" name="adj"/>
            </a:avLst>
          </a:prstGeom>
          <a:solidFill>
            <a:srgbClr val="0A2536"/>
          </a:solidFill>
          <a:ln cap="flat" cmpd="sng" w="11425">
            <a:solidFill>
              <a:srgbClr val="1B83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8"/>
          <p:cNvSpPr/>
          <p:nvPr/>
        </p:nvSpPr>
        <p:spPr>
          <a:xfrm>
            <a:off x="6245350" y="4599625"/>
            <a:ext cx="2505300" cy="2193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4FAFF"/>
              </a:buClr>
              <a:buSzPts val="1500"/>
              <a:buFont typeface="Arial"/>
              <a:buNone/>
            </a:pPr>
            <a:r>
              <a:rPr b="1" i="0" lang="en-US" sz="1500" u="none" cap="none" strike="noStrike">
                <a:solidFill>
                  <a:srgbClr val="F4FAFF"/>
                </a:solidFill>
                <a:latin typeface="Arial"/>
                <a:ea typeface="Arial"/>
                <a:cs typeface="Arial"/>
                <a:sym typeface="Arial"/>
              </a:rPr>
              <a:t>Decision principle</a:t>
            </a:r>
            <a:endParaRPr b="0" i="0" sz="1500" u="none" cap="none" strike="noStrike">
              <a:solidFill>
                <a:schemeClr val="dk1"/>
              </a:solidFill>
              <a:latin typeface="Arial"/>
              <a:ea typeface="Arial"/>
              <a:cs typeface="Arial"/>
              <a:sym typeface="Arial"/>
            </a:endParaRPr>
          </a:p>
        </p:txBody>
      </p:sp>
      <p:sp>
        <p:nvSpPr>
          <p:cNvPr id="287" name="Google Shape;287;p8"/>
          <p:cNvSpPr/>
          <p:nvPr/>
        </p:nvSpPr>
        <p:spPr>
          <a:xfrm>
            <a:off x="6245350" y="4947050"/>
            <a:ext cx="2505300" cy="447900"/>
          </a:xfrm>
          <a:prstGeom prst="rect">
            <a:avLst/>
          </a:prstGeom>
          <a:noFill/>
          <a:ln>
            <a:noFill/>
          </a:ln>
        </p:spPr>
        <p:txBody>
          <a:bodyPr anchorCtr="0" anchor="t" bIns="250" lIns="250" spcFirstLastPara="1" rIns="250" wrap="square" tIns="250">
            <a:normAutofit/>
          </a:bodyPr>
          <a:lstStyle/>
          <a:p>
            <a:pPr indent="0" lvl="0" marL="0" marR="0" rtl="0" algn="l">
              <a:lnSpc>
                <a:spcPct val="100000"/>
              </a:lnSpc>
              <a:spcBef>
                <a:spcPts val="0"/>
              </a:spcBef>
              <a:spcAft>
                <a:spcPts val="0"/>
              </a:spcAft>
              <a:buClr>
                <a:srgbClr val="A7BED1"/>
              </a:buClr>
              <a:buSzPts val="1400"/>
              <a:buFont typeface="Arial"/>
              <a:buNone/>
            </a:pPr>
            <a:r>
              <a:rPr b="0" i="0" lang="en-US" sz="1500" u="none" cap="none" strike="noStrike">
                <a:solidFill>
                  <a:srgbClr val="A7BED1"/>
                </a:solidFill>
                <a:latin typeface="Arial"/>
                <a:ea typeface="Arial"/>
                <a:cs typeface="Arial"/>
                <a:sym typeface="Arial"/>
              </a:rPr>
              <a:t>Chleo decides after evidence — not hype</a:t>
            </a:r>
            <a:endParaRPr b="0" i="0" sz="15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1724"/>
        </a:solidFill>
      </p:bgPr>
    </p:bg>
    <p:spTree>
      <p:nvGrpSpPr>
        <p:cNvPr id="292" name="Shape 292"/>
        <p:cNvGrpSpPr/>
        <p:nvPr/>
      </p:nvGrpSpPr>
      <p:grpSpPr>
        <a:xfrm>
          <a:off x="0" y="0"/>
          <a:ext cx="0" cy="0"/>
          <a:chOff x="0" y="0"/>
          <a:chExt cx="0" cy="0"/>
        </a:xfrm>
      </p:grpSpPr>
      <p:pic>
        <p:nvPicPr>
          <p:cNvPr descr="/mnt/data/finradar_logo_watermark_dark.png" id="293" name="Google Shape;293;p9"/>
          <p:cNvPicPr preferRelativeResize="0"/>
          <p:nvPr/>
        </p:nvPicPr>
        <p:blipFill rotWithShape="1">
          <a:blip r:embed="rId3">
            <a:alphaModFix/>
          </a:blip>
          <a:srcRect b="0" l="0" r="0" t="0"/>
          <a:stretch/>
        </p:blipFill>
        <p:spPr>
          <a:xfrm>
            <a:off x="10561320" y="502920"/>
            <a:ext cx="685800" cy="685800"/>
          </a:xfrm>
          <a:prstGeom prst="rect">
            <a:avLst/>
          </a:prstGeom>
          <a:noFill/>
          <a:ln>
            <a:noFill/>
          </a:ln>
        </p:spPr>
      </p:pic>
      <p:sp>
        <p:nvSpPr>
          <p:cNvPr id="294" name="Google Shape;294;p9"/>
          <p:cNvSpPr/>
          <p:nvPr/>
        </p:nvSpPr>
        <p:spPr>
          <a:xfrm>
            <a:off x="393192" y="228600"/>
            <a:ext cx="2743200" cy="219456"/>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31D7F7"/>
              </a:buClr>
              <a:buSzPts val="950"/>
              <a:buFont typeface="Arial"/>
              <a:buNone/>
            </a:pPr>
            <a:r>
              <a:rPr b="1" i="0" lang="en-US" sz="1200" u="none" cap="none" strike="noStrike">
                <a:solidFill>
                  <a:srgbClr val="31D7F7"/>
                </a:solidFill>
                <a:latin typeface="Arial"/>
                <a:ea typeface="Arial"/>
                <a:cs typeface="Arial"/>
                <a:sym typeface="Arial"/>
              </a:rPr>
              <a:t>FinRadar AI | Round 2</a:t>
            </a:r>
            <a:endParaRPr b="0" i="0" sz="1200" u="none" cap="none" strike="noStrike">
              <a:solidFill>
                <a:schemeClr val="dk1"/>
              </a:solidFill>
              <a:latin typeface="Arial"/>
              <a:ea typeface="Arial"/>
              <a:cs typeface="Arial"/>
              <a:sym typeface="Arial"/>
            </a:endParaRPr>
          </a:p>
        </p:txBody>
      </p:sp>
      <p:pic>
        <p:nvPicPr>
          <p:cNvPr descr="/mnt/data/ironhack-logo.png" id="295" name="Google Shape;295;p9"/>
          <p:cNvPicPr preferRelativeResize="0"/>
          <p:nvPr/>
        </p:nvPicPr>
        <p:blipFill rotWithShape="1">
          <a:blip r:embed="rId4">
            <a:alphaModFix/>
          </a:blip>
          <a:srcRect b="0" l="0" r="0" t="0"/>
          <a:stretch/>
        </p:blipFill>
        <p:spPr>
          <a:xfrm>
            <a:off x="10469880" y="173736"/>
            <a:ext cx="1234440" cy="201168"/>
          </a:xfrm>
          <a:prstGeom prst="rect">
            <a:avLst/>
          </a:prstGeom>
          <a:noFill/>
          <a:ln>
            <a:noFill/>
          </a:ln>
        </p:spPr>
      </p:pic>
      <p:cxnSp>
        <p:nvCxnSpPr>
          <p:cNvPr id="296" name="Google Shape;296;p9"/>
          <p:cNvCxnSpPr/>
          <p:nvPr/>
        </p:nvCxnSpPr>
        <p:spPr>
          <a:xfrm>
            <a:off x="393192" y="6473952"/>
            <a:ext cx="11384280" cy="0"/>
          </a:xfrm>
          <a:prstGeom prst="straightConnector1">
            <a:avLst/>
          </a:prstGeom>
          <a:noFill/>
          <a:ln cap="flat" cmpd="sng" w="12700">
            <a:solidFill>
              <a:srgbClr val="1A3949"/>
            </a:solidFill>
            <a:prstDash val="solid"/>
            <a:round/>
            <a:headEnd len="sm" w="sm" type="none"/>
            <a:tailEnd len="sm" w="sm" type="none"/>
          </a:ln>
        </p:spPr>
      </p:cxnSp>
      <p:sp>
        <p:nvSpPr>
          <p:cNvPr id="297" name="Google Shape;297;p9"/>
          <p:cNvSpPr/>
          <p:nvPr/>
        </p:nvSpPr>
        <p:spPr>
          <a:xfrm>
            <a:off x="393192" y="6528816"/>
            <a:ext cx="2377440" cy="201168"/>
          </a:xfrm>
          <a:prstGeom prst="rect">
            <a:avLst/>
          </a:prstGeom>
          <a:noFill/>
          <a:ln>
            <a:noFill/>
          </a:ln>
        </p:spPr>
        <p:txBody>
          <a:bodyPr anchorCtr="0" anchor="ctr" bIns="500" lIns="500" spcFirstLastPara="1" rIns="500" wrap="square" tIns="500">
            <a:normAutofit/>
          </a:bodyPr>
          <a:lstStyle/>
          <a:p>
            <a:pPr indent="0" lvl="0" marL="0" marR="0" rtl="0" algn="l">
              <a:lnSpc>
                <a:spcPct val="100000"/>
              </a:lnSpc>
              <a:spcBef>
                <a:spcPts val="0"/>
              </a:spcBef>
              <a:spcAft>
                <a:spcPts val="0"/>
              </a:spcAft>
              <a:buClr>
                <a:srgbClr val="A7BED1"/>
              </a:buClr>
              <a:buSzPts val="900"/>
              <a:buFont typeface="Arial"/>
              <a:buNone/>
            </a:pPr>
            <a:r>
              <a:rPr b="0" i="0" lang="en-US" sz="1200" u="none" cap="none" strike="noStrike">
                <a:solidFill>
                  <a:srgbClr val="A7BED1"/>
                </a:solidFill>
                <a:latin typeface="Arial"/>
                <a:ea typeface="Arial"/>
                <a:cs typeface="Arial"/>
                <a:sym typeface="Arial"/>
              </a:rPr>
              <a:t>AI Assists - Humans Decide</a:t>
            </a:r>
            <a:endParaRPr b="0" i="0" sz="1200" u="none" cap="none" strike="noStrike">
              <a:solidFill>
                <a:schemeClr val="dk1"/>
              </a:solidFill>
              <a:latin typeface="Arial"/>
              <a:ea typeface="Arial"/>
              <a:cs typeface="Arial"/>
              <a:sym typeface="Arial"/>
            </a:endParaRPr>
          </a:p>
        </p:txBody>
      </p:sp>
      <p:sp>
        <p:nvSpPr>
          <p:cNvPr id="298" name="Google Shape;298;p9"/>
          <p:cNvSpPr/>
          <p:nvPr/>
        </p:nvSpPr>
        <p:spPr>
          <a:xfrm>
            <a:off x="11475720" y="6528816"/>
            <a:ext cx="320040" cy="201168"/>
          </a:xfrm>
          <a:prstGeom prst="rect">
            <a:avLst/>
          </a:prstGeom>
          <a:noFill/>
          <a:ln>
            <a:noFill/>
          </a:ln>
        </p:spPr>
        <p:txBody>
          <a:bodyPr anchorCtr="0" anchor="ctr" bIns="500" lIns="500" spcFirstLastPara="1" rIns="500" wrap="square" tIns="500">
            <a:normAutofit/>
          </a:bodyPr>
          <a:lstStyle/>
          <a:p>
            <a:pPr indent="0" lvl="0" marL="0" marR="0" rtl="0" algn="r">
              <a:lnSpc>
                <a:spcPct val="100000"/>
              </a:lnSpc>
              <a:spcBef>
                <a:spcPts val="0"/>
              </a:spcBef>
              <a:spcAft>
                <a:spcPts val="0"/>
              </a:spcAft>
              <a:buClr>
                <a:srgbClr val="A7BED1"/>
              </a:buClr>
              <a:buSzPts val="900"/>
              <a:buFont typeface="Arial"/>
              <a:buNone/>
            </a:pPr>
            <a:r>
              <a:rPr b="0" i="0" lang="en-US" sz="1400" u="none" cap="none" strike="noStrike">
                <a:solidFill>
                  <a:srgbClr val="000000"/>
                </a:solidFill>
                <a:latin typeface="Arial"/>
                <a:ea typeface="Arial"/>
                <a:cs typeface="Arial"/>
                <a:sym typeface="Arial"/>
              </a:rPr>
              <a:t>10</a:t>
            </a:r>
            <a:endParaRPr b="0" i="0" sz="900" u="none" cap="none" strike="noStrike">
              <a:solidFill>
                <a:schemeClr val="dk1"/>
              </a:solidFill>
              <a:latin typeface="Arial"/>
              <a:ea typeface="Arial"/>
              <a:cs typeface="Arial"/>
              <a:sym typeface="Arial"/>
            </a:endParaRPr>
          </a:p>
        </p:txBody>
      </p:sp>
      <p:sp>
        <p:nvSpPr>
          <p:cNvPr id="299" name="Google Shape;299;p9"/>
          <p:cNvSpPr/>
          <p:nvPr/>
        </p:nvSpPr>
        <p:spPr>
          <a:xfrm>
            <a:off x="640075" y="548650"/>
            <a:ext cx="10177200" cy="6858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4FAFF"/>
              </a:buClr>
              <a:buSzPts val="2700"/>
              <a:buFont typeface="Arial"/>
              <a:buNone/>
            </a:pPr>
            <a:r>
              <a:rPr b="1" i="0" lang="en-US" sz="2400" u="none" cap="none" strike="noStrike">
                <a:solidFill>
                  <a:srgbClr val="F4FAFF"/>
                </a:solidFill>
                <a:latin typeface="Arial"/>
                <a:ea typeface="Arial"/>
                <a:cs typeface="Arial"/>
                <a:sym typeface="Arial"/>
              </a:rPr>
              <a:t>MVP Demo + Evaluation: from workflow to analyst-facing product</a:t>
            </a:r>
            <a:endParaRPr b="0" i="0" sz="2400" u="none" cap="none" strike="noStrike">
              <a:solidFill>
                <a:schemeClr val="dk1"/>
              </a:solidFill>
              <a:latin typeface="Arial"/>
              <a:ea typeface="Arial"/>
              <a:cs typeface="Arial"/>
              <a:sym typeface="Arial"/>
            </a:endParaRPr>
          </a:p>
        </p:txBody>
      </p:sp>
      <p:sp>
        <p:nvSpPr>
          <p:cNvPr id="300" name="Google Shape;300;p9"/>
          <p:cNvSpPr/>
          <p:nvPr/>
        </p:nvSpPr>
        <p:spPr>
          <a:xfrm>
            <a:off x="594300" y="1298450"/>
            <a:ext cx="10012800" cy="2559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A7BED1"/>
              </a:buClr>
              <a:buSzPts val="1220"/>
              <a:buFont typeface="Arial"/>
              <a:buNone/>
            </a:pPr>
            <a:r>
              <a:rPr b="1" i="0" lang="en-US" sz="1400" u="none" cap="none" strike="noStrike">
                <a:solidFill>
                  <a:srgbClr val="A7BED1"/>
                </a:solidFill>
                <a:latin typeface="Arial"/>
                <a:ea typeface="Arial"/>
                <a:cs typeface="Arial"/>
                <a:sym typeface="Arial"/>
              </a:rPr>
              <a:t>Demo path: search ticker → retrieve live news → analyst selects article → structured AI analysis → review outcome.</a:t>
            </a:r>
            <a:endParaRPr b="1" i="0" sz="1400" u="none" cap="none" strike="noStrike">
              <a:solidFill>
                <a:schemeClr val="dk1"/>
              </a:solidFill>
              <a:latin typeface="Arial"/>
              <a:ea typeface="Arial"/>
              <a:cs typeface="Arial"/>
              <a:sym typeface="Arial"/>
            </a:endParaRPr>
          </a:p>
        </p:txBody>
      </p:sp>
      <p:sp>
        <p:nvSpPr>
          <p:cNvPr id="301" name="Google Shape;301;p9"/>
          <p:cNvSpPr/>
          <p:nvPr/>
        </p:nvSpPr>
        <p:spPr>
          <a:xfrm>
            <a:off x="594360" y="1682496"/>
            <a:ext cx="3291840" cy="1874520"/>
          </a:xfrm>
          <a:prstGeom prst="roundRect">
            <a:avLst>
              <a:gd fmla="val 2927" name="adj"/>
            </a:avLst>
          </a:prstGeom>
          <a:solidFill>
            <a:srgbClr val="06111A"/>
          </a:solidFill>
          <a:ln cap="flat" cmpd="sng" w="10150">
            <a:solidFill>
              <a:srgbClr val="1B83F6"/>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mnt/data/2d95e50c-a8e6-4335-bec1-c7b77e27016a.png" id="302" name="Google Shape;302;p9"/>
          <p:cNvPicPr preferRelativeResize="0"/>
          <p:nvPr/>
        </p:nvPicPr>
        <p:blipFill rotWithShape="1">
          <a:blip r:embed="rId5">
            <a:alphaModFix/>
          </a:blip>
          <a:srcRect b="5180" l="0" r="0" t="5180"/>
          <a:stretch/>
        </p:blipFill>
        <p:spPr>
          <a:xfrm>
            <a:off x="594300" y="1664250"/>
            <a:ext cx="3291901" cy="2007000"/>
          </a:xfrm>
          <a:prstGeom prst="rect">
            <a:avLst/>
          </a:prstGeom>
          <a:noFill/>
          <a:ln>
            <a:noFill/>
          </a:ln>
        </p:spPr>
      </p:pic>
      <p:sp>
        <p:nvSpPr>
          <p:cNvPr id="303" name="Google Shape;303;p9"/>
          <p:cNvSpPr/>
          <p:nvPr/>
        </p:nvSpPr>
        <p:spPr>
          <a:xfrm>
            <a:off x="704088" y="3154680"/>
            <a:ext cx="3072384" cy="256032"/>
          </a:xfrm>
          <a:prstGeom prst="roundRect">
            <a:avLst>
              <a:gd fmla="val 14286" name="adj"/>
            </a:avLst>
          </a:prstGeom>
          <a:solidFill>
            <a:srgbClr val="05131D">
              <a:alpha val="85098"/>
            </a:srgbClr>
          </a:solidFill>
          <a:ln cap="flat" cmpd="sng" w="12700">
            <a:solidFill>
              <a:srgbClr val="05131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9"/>
          <p:cNvSpPr/>
          <p:nvPr/>
        </p:nvSpPr>
        <p:spPr>
          <a:xfrm>
            <a:off x="758952" y="3218688"/>
            <a:ext cx="2962656" cy="128016"/>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A7BED1"/>
              </a:buClr>
              <a:buSzPts val="760"/>
              <a:buFont typeface="Arial"/>
              <a:buNone/>
            </a:pPr>
            <a:r>
              <a:rPr b="1" i="0" lang="en-US" sz="760" u="none" cap="none" strike="noStrike">
                <a:solidFill>
                  <a:srgbClr val="A7BED1"/>
                </a:solidFill>
                <a:latin typeface="Arial"/>
                <a:ea typeface="Arial"/>
                <a:cs typeface="Arial"/>
                <a:sym typeface="Arial"/>
              </a:rPr>
              <a:t>1. Human selection before AI</a:t>
            </a:r>
            <a:endParaRPr b="0" i="0" sz="760" u="none" cap="none" strike="noStrike">
              <a:solidFill>
                <a:schemeClr val="dk1"/>
              </a:solidFill>
              <a:latin typeface="Arial"/>
              <a:ea typeface="Arial"/>
              <a:cs typeface="Arial"/>
              <a:sym typeface="Arial"/>
            </a:endParaRPr>
          </a:p>
        </p:txBody>
      </p:sp>
      <p:sp>
        <p:nvSpPr>
          <p:cNvPr id="305" name="Google Shape;305;p9"/>
          <p:cNvSpPr/>
          <p:nvPr/>
        </p:nvSpPr>
        <p:spPr>
          <a:xfrm>
            <a:off x="4069080" y="1682496"/>
            <a:ext cx="3291840" cy="1874520"/>
          </a:xfrm>
          <a:prstGeom prst="roundRect">
            <a:avLst>
              <a:gd fmla="val 2927" name="adj"/>
            </a:avLst>
          </a:prstGeom>
          <a:solidFill>
            <a:srgbClr val="06111A"/>
          </a:solidFill>
          <a:ln cap="flat" cmpd="sng" w="10150">
            <a:solidFill>
              <a:srgbClr val="2EEA90"/>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mnt/data/0541f229-b43a-4846-9f90-bbfae6800d83.png" id="306" name="Google Shape;306;p9"/>
          <p:cNvPicPr preferRelativeResize="0"/>
          <p:nvPr/>
        </p:nvPicPr>
        <p:blipFill rotWithShape="1">
          <a:blip r:embed="rId6">
            <a:alphaModFix/>
          </a:blip>
          <a:srcRect b="3272" l="0" r="0" t="3272"/>
          <a:stretch/>
        </p:blipFill>
        <p:spPr>
          <a:xfrm>
            <a:off x="4023350" y="1682500"/>
            <a:ext cx="3337573" cy="2007024"/>
          </a:xfrm>
          <a:prstGeom prst="rect">
            <a:avLst/>
          </a:prstGeom>
          <a:noFill/>
          <a:ln>
            <a:noFill/>
          </a:ln>
        </p:spPr>
      </p:pic>
      <p:sp>
        <p:nvSpPr>
          <p:cNvPr id="307" name="Google Shape;307;p9"/>
          <p:cNvSpPr/>
          <p:nvPr/>
        </p:nvSpPr>
        <p:spPr>
          <a:xfrm>
            <a:off x="4178808" y="3154680"/>
            <a:ext cx="3072384" cy="256032"/>
          </a:xfrm>
          <a:prstGeom prst="roundRect">
            <a:avLst>
              <a:gd fmla="val 14286" name="adj"/>
            </a:avLst>
          </a:prstGeom>
          <a:solidFill>
            <a:srgbClr val="05131D">
              <a:alpha val="85098"/>
            </a:srgbClr>
          </a:solidFill>
          <a:ln cap="flat" cmpd="sng" w="12700">
            <a:solidFill>
              <a:srgbClr val="05131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9"/>
          <p:cNvSpPr/>
          <p:nvPr/>
        </p:nvSpPr>
        <p:spPr>
          <a:xfrm>
            <a:off x="4233672" y="3218688"/>
            <a:ext cx="2962656" cy="128016"/>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A7BED1"/>
              </a:buClr>
              <a:buSzPts val="760"/>
              <a:buFont typeface="Arial"/>
              <a:buNone/>
            </a:pPr>
            <a:r>
              <a:rPr b="1" i="0" lang="en-US" sz="760" u="none" cap="none" strike="noStrike">
                <a:solidFill>
                  <a:srgbClr val="A7BED1"/>
                </a:solidFill>
                <a:latin typeface="Arial"/>
                <a:ea typeface="Arial"/>
                <a:cs typeface="Arial"/>
                <a:sym typeface="Arial"/>
              </a:rPr>
              <a:t>2. Structured analyst review</a:t>
            </a:r>
            <a:endParaRPr b="0" i="0" sz="760" u="none" cap="none" strike="noStrike">
              <a:solidFill>
                <a:schemeClr val="dk1"/>
              </a:solidFill>
              <a:latin typeface="Arial"/>
              <a:ea typeface="Arial"/>
              <a:cs typeface="Arial"/>
              <a:sym typeface="Arial"/>
            </a:endParaRPr>
          </a:p>
        </p:txBody>
      </p:sp>
      <p:sp>
        <p:nvSpPr>
          <p:cNvPr id="309" name="Google Shape;309;p9"/>
          <p:cNvSpPr/>
          <p:nvPr/>
        </p:nvSpPr>
        <p:spPr>
          <a:xfrm>
            <a:off x="7543800" y="1682500"/>
            <a:ext cx="3291900" cy="2007000"/>
          </a:xfrm>
          <a:prstGeom prst="roundRect">
            <a:avLst>
              <a:gd fmla="val 2927" name="adj"/>
            </a:avLst>
          </a:prstGeom>
          <a:solidFill>
            <a:srgbClr val="06111A"/>
          </a:solidFill>
          <a:ln cap="flat" cmpd="sng" w="10150">
            <a:solidFill>
              <a:srgbClr val="FF5A64"/>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mnt/data/185da6e5-c027-4d4f-a8bb-7f634c4b2c5c.png" id="310" name="Google Shape;310;p9"/>
          <p:cNvPicPr preferRelativeResize="0"/>
          <p:nvPr/>
        </p:nvPicPr>
        <p:blipFill rotWithShape="1">
          <a:blip r:embed="rId7">
            <a:alphaModFix/>
          </a:blip>
          <a:srcRect b="0" l="3240" r="3240" t="0"/>
          <a:stretch/>
        </p:blipFill>
        <p:spPr>
          <a:xfrm>
            <a:off x="7562075" y="1682500"/>
            <a:ext cx="3291849" cy="2071025"/>
          </a:xfrm>
          <a:prstGeom prst="rect">
            <a:avLst/>
          </a:prstGeom>
          <a:noFill/>
          <a:ln>
            <a:noFill/>
          </a:ln>
        </p:spPr>
      </p:pic>
      <p:sp>
        <p:nvSpPr>
          <p:cNvPr id="311" name="Google Shape;311;p9"/>
          <p:cNvSpPr/>
          <p:nvPr/>
        </p:nvSpPr>
        <p:spPr>
          <a:xfrm>
            <a:off x="7653528" y="3154680"/>
            <a:ext cx="3072384" cy="256032"/>
          </a:xfrm>
          <a:prstGeom prst="roundRect">
            <a:avLst>
              <a:gd fmla="val 14286" name="adj"/>
            </a:avLst>
          </a:prstGeom>
          <a:solidFill>
            <a:srgbClr val="05131D">
              <a:alpha val="85098"/>
            </a:srgbClr>
          </a:solidFill>
          <a:ln cap="flat" cmpd="sng" w="12700">
            <a:solidFill>
              <a:srgbClr val="05131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9"/>
          <p:cNvSpPr/>
          <p:nvPr/>
        </p:nvSpPr>
        <p:spPr>
          <a:xfrm>
            <a:off x="7708392" y="3218688"/>
            <a:ext cx="2962656" cy="128016"/>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A7BED1"/>
              </a:buClr>
              <a:buSzPts val="760"/>
              <a:buFont typeface="Arial"/>
              <a:buNone/>
            </a:pPr>
            <a:r>
              <a:rPr b="1" i="0" lang="en-US" sz="760" u="none" cap="none" strike="noStrike">
                <a:solidFill>
                  <a:srgbClr val="A7BED1"/>
                </a:solidFill>
                <a:latin typeface="Arial"/>
                <a:ea typeface="Arial"/>
                <a:cs typeface="Arial"/>
                <a:sym typeface="Arial"/>
              </a:rPr>
              <a:t>3. Risk alert fallback path</a:t>
            </a:r>
            <a:endParaRPr b="0" i="0" sz="760" u="none" cap="none" strike="noStrike">
              <a:solidFill>
                <a:schemeClr val="dk1"/>
              </a:solidFill>
              <a:latin typeface="Arial"/>
              <a:ea typeface="Arial"/>
              <a:cs typeface="Arial"/>
              <a:sym typeface="Arial"/>
            </a:endParaRPr>
          </a:p>
        </p:txBody>
      </p:sp>
      <p:sp>
        <p:nvSpPr>
          <p:cNvPr id="313" name="Google Shape;313;p9"/>
          <p:cNvSpPr/>
          <p:nvPr/>
        </p:nvSpPr>
        <p:spPr>
          <a:xfrm>
            <a:off x="594360" y="4005073"/>
            <a:ext cx="10241400" cy="1463100"/>
          </a:xfrm>
          <a:prstGeom prst="roundRect">
            <a:avLst>
              <a:gd fmla="val 4375" name="adj"/>
            </a:avLst>
          </a:prstGeom>
          <a:solidFill>
            <a:srgbClr val="0C2A3A"/>
          </a:solidFill>
          <a:ln cap="flat" cmpd="sng" w="11425">
            <a:solidFill>
              <a:srgbClr val="31D7F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9"/>
          <p:cNvSpPr/>
          <p:nvPr/>
        </p:nvSpPr>
        <p:spPr>
          <a:xfrm>
            <a:off x="758950" y="4041649"/>
            <a:ext cx="9912000" cy="4479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4FAFF"/>
              </a:buClr>
              <a:buSzPts val="1600"/>
              <a:buFont typeface="Arial"/>
              <a:buNone/>
            </a:pPr>
            <a:r>
              <a:rPr b="1" i="0" lang="en-US" sz="1600" u="none" cap="none" strike="noStrike">
                <a:solidFill>
                  <a:srgbClr val="F4FAFF"/>
                </a:solidFill>
                <a:latin typeface="Arial"/>
                <a:ea typeface="Arial"/>
                <a:cs typeface="Arial"/>
                <a:sym typeface="Arial"/>
              </a:rPr>
              <a:t>Evaluation evidence</a:t>
            </a:r>
            <a:endParaRPr b="0" i="0" sz="1600" u="none" cap="none" strike="noStrike">
              <a:solidFill>
                <a:schemeClr val="dk1"/>
              </a:solidFill>
              <a:latin typeface="Arial"/>
              <a:ea typeface="Arial"/>
              <a:cs typeface="Arial"/>
              <a:sym typeface="Arial"/>
            </a:endParaRPr>
          </a:p>
        </p:txBody>
      </p:sp>
      <p:sp>
        <p:nvSpPr>
          <p:cNvPr id="315" name="Google Shape;315;p9"/>
          <p:cNvSpPr/>
          <p:nvPr/>
        </p:nvSpPr>
        <p:spPr>
          <a:xfrm>
            <a:off x="914400" y="4498848"/>
            <a:ext cx="1481328" cy="804672"/>
          </a:xfrm>
          <a:prstGeom prst="rect">
            <a:avLst/>
          </a:prstGeom>
          <a:solidFill>
            <a:srgbClr val="0C2A3A"/>
          </a:solidFill>
          <a:ln cap="flat" cmpd="sng" w="12700">
            <a:solidFill>
              <a:srgbClr val="31D7F7"/>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625" lIns="625" spcFirstLastPara="1" rIns="625" wrap="square" tIns="625">
            <a:normAutofit/>
          </a:bodyPr>
          <a:lstStyle/>
          <a:p>
            <a:pPr indent="0" lvl="0" marL="0" marR="0" rtl="0" algn="ctr">
              <a:lnSpc>
                <a:spcPct val="100000"/>
              </a:lnSpc>
              <a:spcBef>
                <a:spcPts val="0"/>
              </a:spcBef>
              <a:spcAft>
                <a:spcPts val="0"/>
              </a:spcAft>
              <a:buClr>
                <a:srgbClr val="31D7F7"/>
              </a:buClr>
              <a:buSzPts val="1130"/>
              <a:buFont typeface="Arial"/>
              <a:buNone/>
            </a:pPr>
            <a:r>
              <a:rPr b="1" i="0" lang="en-US" sz="1130" u="none" cap="none" strike="noStrike">
                <a:solidFill>
                  <a:srgbClr val="31D7F7"/>
                </a:solidFill>
                <a:latin typeface="Arial"/>
                <a:ea typeface="Arial"/>
                <a:cs typeface="Arial"/>
                <a:sym typeface="Arial"/>
              </a:rPr>
              <a:t>90.0%</a:t>
            </a:r>
            <a:endParaRPr b="0" i="0" sz="113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31D7F7"/>
              </a:buClr>
              <a:buSzPts val="1130"/>
              <a:buFont typeface="Arial"/>
              <a:buNone/>
            </a:pPr>
            <a:r>
              <a:rPr b="1" i="0" lang="en-US" sz="1130" u="none" cap="none" strike="noStrike">
                <a:solidFill>
                  <a:srgbClr val="31D7F7"/>
                </a:solidFill>
                <a:latin typeface="Arial"/>
                <a:ea typeface="Arial"/>
                <a:cs typeface="Arial"/>
                <a:sym typeface="Arial"/>
              </a:rPr>
              <a:t>Business Area</a:t>
            </a:r>
            <a:endParaRPr b="0" i="0" sz="1130" u="none" cap="none" strike="noStrike">
              <a:solidFill>
                <a:schemeClr val="dk1"/>
              </a:solidFill>
              <a:latin typeface="Arial"/>
              <a:ea typeface="Arial"/>
              <a:cs typeface="Arial"/>
              <a:sym typeface="Arial"/>
            </a:endParaRPr>
          </a:p>
        </p:txBody>
      </p:sp>
      <p:sp>
        <p:nvSpPr>
          <p:cNvPr id="316" name="Google Shape;316;p9"/>
          <p:cNvSpPr/>
          <p:nvPr/>
        </p:nvSpPr>
        <p:spPr>
          <a:xfrm>
            <a:off x="2788920" y="4498848"/>
            <a:ext cx="1481328" cy="804672"/>
          </a:xfrm>
          <a:prstGeom prst="rect">
            <a:avLst/>
          </a:prstGeom>
          <a:solidFill>
            <a:srgbClr val="0C2A3A"/>
          </a:solidFill>
          <a:ln cap="flat" cmpd="sng" w="12700">
            <a:solidFill>
              <a:srgbClr val="F6B84A"/>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625" lIns="625" spcFirstLastPara="1" rIns="625" wrap="square" tIns="625">
            <a:normAutofit/>
          </a:bodyPr>
          <a:lstStyle/>
          <a:p>
            <a:pPr indent="0" lvl="0" marL="0" marR="0" rtl="0" algn="ctr">
              <a:lnSpc>
                <a:spcPct val="100000"/>
              </a:lnSpc>
              <a:spcBef>
                <a:spcPts val="0"/>
              </a:spcBef>
              <a:spcAft>
                <a:spcPts val="0"/>
              </a:spcAft>
              <a:buClr>
                <a:srgbClr val="F6B84A"/>
              </a:buClr>
              <a:buSzPts val="1130"/>
              <a:buFont typeface="Arial"/>
              <a:buNone/>
            </a:pPr>
            <a:r>
              <a:rPr b="1" i="0" lang="en-US" sz="1130" u="none" cap="none" strike="noStrike">
                <a:solidFill>
                  <a:srgbClr val="F6B84A"/>
                </a:solidFill>
                <a:latin typeface="Arial"/>
                <a:ea typeface="Arial"/>
                <a:cs typeface="Arial"/>
                <a:sym typeface="Arial"/>
              </a:rPr>
              <a:t>86.7%</a:t>
            </a:r>
            <a:endParaRPr b="0" i="0" sz="113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F6B84A"/>
              </a:buClr>
              <a:buSzPts val="1130"/>
              <a:buFont typeface="Arial"/>
              <a:buNone/>
            </a:pPr>
            <a:r>
              <a:rPr b="1" i="0" lang="en-US" sz="1130" u="none" cap="none" strike="noStrike">
                <a:solidFill>
                  <a:srgbClr val="F6B84A"/>
                </a:solidFill>
                <a:latin typeface="Arial"/>
                <a:ea typeface="Arial"/>
                <a:cs typeface="Arial"/>
                <a:sym typeface="Arial"/>
              </a:rPr>
              <a:t>Priority</a:t>
            </a:r>
            <a:endParaRPr b="0" i="0" sz="1130" u="none" cap="none" strike="noStrike">
              <a:solidFill>
                <a:schemeClr val="dk1"/>
              </a:solidFill>
              <a:latin typeface="Arial"/>
              <a:ea typeface="Arial"/>
              <a:cs typeface="Arial"/>
              <a:sym typeface="Arial"/>
            </a:endParaRPr>
          </a:p>
        </p:txBody>
      </p:sp>
      <p:sp>
        <p:nvSpPr>
          <p:cNvPr id="317" name="Google Shape;317;p9"/>
          <p:cNvSpPr/>
          <p:nvPr/>
        </p:nvSpPr>
        <p:spPr>
          <a:xfrm>
            <a:off x="4663440" y="4498848"/>
            <a:ext cx="1481328" cy="804672"/>
          </a:xfrm>
          <a:prstGeom prst="rect">
            <a:avLst/>
          </a:prstGeom>
          <a:solidFill>
            <a:srgbClr val="0C2A3A"/>
          </a:solidFill>
          <a:ln cap="flat" cmpd="sng" w="12700">
            <a:solidFill>
              <a:srgbClr val="2EEA90"/>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625" lIns="625" spcFirstLastPara="1" rIns="625" wrap="square" tIns="625">
            <a:normAutofit/>
          </a:bodyPr>
          <a:lstStyle/>
          <a:p>
            <a:pPr indent="0" lvl="0" marL="0" marR="0" rtl="0" algn="ctr">
              <a:lnSpc>
                <a:spcPct val="100000"/>
              </a:lnSpc>
              <a:spcBef>
                <a:spcPts val="0"/>
              </a:spcBef>
              <a:spcAft>
                <a:spcPts val="0"/>
              </a:spcAft>
              <a:buClr>
                <a:srgbClr val="2EEA90"/>
              </a:buClr>
              <a:buSzPts val="1130"/>
              <a:buFont typeface="Arial"/>
              <a:buNone/>
            </a:pPr>
            <a:r>
              <a:rPr b="1" i="0" lang="en-US" sz="1130" u="none" cap="none" strike="noStrike">
                <a:solidFill>
                  <a:srgbClr val="2EEA90"/>
                </a:solidFill>
                <a:latin typeface="Arial"/>
                <a:ea typeface="Arial"/>
                <a:cs typeface="Arial"/>
                <a:sym typeface="Arial"/>
              </a:rPr>
              <a:t>93.3%</a:t>
            </a:r>
            <a:endParaRPr b="0" i="0" sz="113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2EEA90"/>
              </a:buClr>
              <a:buSzPts val="1130"/>
              <a:buFont typeface="Arial"/>
              <a:buNone/>
            </a:pPr>
            <a:r>
              <a:rPr b="1" i="0" lang="en-US" sz="1130" u="none" cap="none" strike="noStrike">
                <a:solidFill>
                  <a:srgbClr val="2EEA90"/>
                </a:solidFill>
                <a:latin typeface="Arial"/>
                <a:ea typeface="Arial"/>
                <a:cs typeface="Arial"/>
                <a:sym typeface="Arial"/>
              </a:rPr>
              <a:t>Risk Type</a:t>
            </a:r>
            <a:endParaRPr b="0" i="0" sz="1130" u="none" cap="none" strike="noStrike">
              <a:solidFill>
                <a:schemeClr val="dk1"/>
              </a:solidFill>
              <a:latin typeface="Arial"/>
              <a:ea typeface="Arial"/>
              <a:cs typeface="Arial"/>
              <a:sym typeface="Arial"/>
            </a:endParaRPr>
          </a:p>
        </p:txBody>
      </p:sp>
      <p:sp>
        <p:nvSpPr>
          <p:cNvPr id="318" name="Google Shape;318;p9"/>
          <p:cNvSpPr/>
          <p:nvPr/>
        </p:nvSpPr>
        <p:spPr>
          <a:xfrm>
            <a:off x="6537949" y="4498850"/>
            <a:ext cx="1641000" cy="804600"/>
          </a:xfrm>
          <a:prstGeom prst="rect">
            <a:avLst/>
          </a:prstGeom>
          <a:solidFill>
            <a:srgbClr val="0C2A3A"/>
          </a:solidFill>
          <a:ln cap="flat" cmpd="sng" w="12700">
            <a:solidFill>
              <a:srgbClr val="2EEA90"/>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625" lIns="625" spcFirstLastPara="1" rIns="625" wrap="square" tIns="625">
            <a:normAutofit/>
          </a:bodyPr>
          <a:lstStyle/>
          <a:p>
            <a:pPr indent="0" lvl="0" marL="0" marR="0" rtl="0" algn="ctr">
              <a:lnSpc>
                <a:spcPct val="100000"/>
              </a:lnSpc>
              <a:spcBef>
                <a:spcPts val="0"/>
              </a:spcBef>
              <a:spcAft>
                <a:spcPts val="0"/>
              </a:spcAft>
              <a:buClr>
                <a:srgbClr val="2EEA90"/>
              </a:buClr>
              <a:buSzPts val="1130"/>
              <a:buFont typeface="Arial"/>
              <a:buNone/>
            </a:pPr>
            <a:r>
              <a:rPr b="1" i="0" lang="en-US" sz="1130" u="none" cap="none" strike="noStrike">
                <a:solidFill>
                  <a:srgbClr val="2EEA90"/>
                </a:solidFill>
                <a:latin typeface="Arial"/>
                <a:ea typeface="Arial"/>
                <a:cs typeface="Arial"/>
                <a:sym typeface="Arial"/>
              </a:rPr>
              <a:t>100%</a:t>
            </a:r>
            <a:endParaRPr b="0" i="0" sz="113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2EEA90"/>
              </a:buClr>
              <a:buSzPts val="1130"/>
              <a:buFont typeface="Arial"/>
              <a:buNone/>
            </a:pPr>
            <a:r>
              <a:rPr b="1" i="0" lang="en-US" sz="1130" u="none" cap="none" strike="noStrike">
                <a:solidFill>
                  <a:srgbClr val="2EEA90"/>
                </a:solidFill>
                <a:latin typeface="Arial"/>
                <a:ea typeface="Arial"/>
                <a:cs typeface="Arial"/>
                <a:sym typeface="Arial"/>
              </a:rPr>
              <a:t>Escalation</a:t>
            </a:r>
            <a:endParaRPr b="0" i="0" sz="1130" u="none" cap="none" strike="noStrike">
              <a:solidFill>
                <a:schemeClr val="dk1"/>
              </a:solidFill>
              <a:latin typeface="Arial"/>
              <a:ea typeface="Arial"/>
              <a:cs typeface="Arial"/>
              <a:sym typeface="Arial"/>
            </a:endParaRPr>
          </a:p>
        </p:txBody>
      </p:sp>
      <p:sp>
        <p:nvSpPr>
          <p:cNvPr id="319" name="Google Shape;319;p9"/>
          <p:cNvSpPr/>
          <p:nvPr/>
        </p:nvSpPr>
        <p:spPr>
          <a:xfrm>
            <a:off x="8585825" y="4498850"/>
            <a:ext cx="1795200" cy="804600"/>
          </a:xfrm>
          <a:prstGeom prst="rect">
            <a:avLst/>
          </a:prstGeom>
          <a:solidFill>
            <a:srgbClr val="0C2A3A"/>
          </a:solidFill>
          <a:ln cap="flat" cmpd="sng" w="12700">
            <a:solidFill>
              <a:srgbClr val="1B83F6"/>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625" lIns="625" spcFirstLastPara="1" rIns="625" wrap="square" tIns="625">
            <a:normAutofit/>
          </a:bodyPr>
          <a:lstStyle/>
          <a:p>
            <a:pPr indent="0" lvl="0" marL="0" marR="0" rtl="0" algn="ctr">
              <a:lnSpc>
                <a:spcPct val="100000"/>
              </a:lnSpc>
              <a:spcBef>
                <a:spcPts val="0"/>
              </a:spcBef>
              <a:spcAft>
                <a:spcPts val="0"/>
              </a:spcAft>
              <a:buClr>
                <a:srgbClr val="1B83F6"/>
              </a:buClr>
              <a:buSzPts val="1130"/>
              <a:buFont typeface="Arial"/>
              <a:buNone/>
            </a:pPr>
            <a:r>
              <a:rPr b="1" i="0" lang="en-US" sz="1000" u="none" cap="none" strike="noStrike">
                <a:solidFill>
                  <a:srgbClr val="1B83F6"/>
                </a:solidFill>
                <a:latin typeface="Arial"/>
                <a:ea typeface="Arial"/>
                <a:cs typeface="Arial"/>
                <a:sym typeface="Arial"/>
              </a:rPr>
              <a:t>80.0%</a:t>
            </a:r>
            <a:endParaRPr b="0"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1B83F6"/>
              </a:buClr>
              <a:buSzPts val="1130"/>
              <a:buFont typeface="Arial"/>
              <a:buNone/>
            </a:pPr>
            <a:r>
              <a:rPr b="1" i="0" lang="en-US" sz="1000" u="none" cap="none" strike="noStrike">
                <a:solidFill>
                  <a:srgbClr val="1B83F6"/>
                </a:solidFill>
                <a:latin typeface="Arial"/>
                <a:ea typeface="Arial"/>
                <a:cs typeface="Arial"/>
                <a:sym typeface="Arial"/>
              </a:rPr>
              <a:t>Consistency</a:t>
            </a:r>
            <a:endParaRPr b="1" i="0" sz="1000" u="none" cap="none" strike="noStrike">
              <a:solidFill>
                <a:srgbClr val="1B83F6"/>
              </a:solidFill>
              <a:latin typeface="Arial"/>
              <a:ea typeface="Arial"/>
              <a:cs typeface="Arial"/>
              <a:sym typeface="Arial"/>
            </a:endParaRPr>
          </a:p>
          <a:p>
            <a:pPr indent="0" lvl="0" marL="0" marR="0" rtl="0" algn="ctr">
              <a:lnSpc>
                <a:spcPct val="100000"/>
              </a:lnSpc>
              <a:spcBef>
                <a:spcPts val="0"/>
              </a:spcBef>
              <a:spcAft>
                <a:spcPts val="0"/>
              </a:spcAft>
              <a:buClr>
                <a:srgbClr val="1B83F6"/>
              </a:buClr>
              <a:buSzPts val="1130"/>
              <a:buFont typeface="Arial"/>
              <a:buNone/>
            </a:pPr>
            <a:r>
              <a:rPr b="1" i="0" lang="en-US" sz="1000" u="none" cap="none" strike="noStrike">
                <a:solidFill>
                  <a:srgbClr val="1B83F6"/>
                </a:solidFill>
                <a:latin typeface="Arial"/>
                <a:ea typeface="Arial"/>
                <a:cs typeface="Arial"/>
                <a:sym typeface="Arial"/>
              </a:rPr>
              <a:t>(10 test cases × 3 repeated runs = 30 AI calls)</a:t>
            </a:r>
            <a:endParaRPr b="0" i="0" sz="1000" u="none" cap="none" strike="noStrike">
              <a:solidFill>
                <a:schemeClr val="dk1"/>
              </a:solidFill>
              <a:latin typeface="Arial"/>
              <a:ea typeface="Arial"/>
              <a:cs typeface="Arial"/>
              <a:sym typeface="Arial"/>
            </a:endParaRPr>
          </a:p>
        </p:txBody>
      </p:sp>
      <p:sp>
        <p:nvSpPr>
          <p:cNvPr id="320" name="Google Shape;320;p9"/>
          <p:cNvSpPr/>
          <p:nvPr/>
        </p:nvSpPr>
        <p:spPr>
          <a:xfrm>
            <a:off x="932700" y="5769889"/>
            <a:ext cx="9509700" cy="5019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A7BED1"/>
              </a:buClr>
              <a:buSzPts val="1150"/>
              <a:buFont typeface="Arial"/>
              <a:buNone/>
            </a:pPr>
            <a:r>
              <a:rPr b="0" i="0" lang="en-US" sz="1400" u="none" cap="none" strike="noStrike">
                <a:solidFill>
                  <a:srgbClr val="A7BED1"/>
                </a:solidFill>
                <a:latin typeface="Arial"/>
                <a:ea typeface="Arial"/>
                <a:cs typeface="Arial"/>
                <a:sym typeface="Arial"/>
              </a:rPr>
              <a:t>Strict Target Accuracy: 23.3%; alias-aware matching reached 80.0%. Small test sets mean pilot validation is still required.</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1724"/>
        </a:solidFill>
      </p:bgPr>
    </p:bg>
    <p:spTree>
      <p:nvGrpSpPr>
        <p:cNvPr id="325" name="Shape 325"/>
        <p:cNvGrpSpPr/>
        <p:nvPr/>
      </p:nvGrpSpPr>
      <p:grpSpPr>
        <a:xfrm>
          <a:off x="0" y="0"/>
          <a:ext cx="0" cy="0"/>
          <a:chOff x="0" y="0"/>
          <a:chExt cx="0" cy="0"/>
        </a:xfrm>
      </p:grpSpPr>
      <p:pic>
        <p:nvPicPr>
          <p:cNvPr descr="/mnt/data/finradar_logo_watermark_dark.png" id="326" name="Google Shape;326;p10"/>
          <p:cNvPicPr preferRelativeResize="0"/>
          <p:nvPr/>
        </p:nvPicPr>
        <p:blipFill rotWithShape="1">
          <a:blip r:embed="rId3">
            <a:alphaModFix/>
          </a:blip>
          <a:srcRect b="0" l="0" r="0" t="0"/>
          <a:stretch/>
        </p:blipFill>
        <p:spPr>
          <a:xfrm>
            <a:off x="10561320" y="502920"/>
            <a:ext cx="685800" cy="685800"/>
          </a:xfrm>
          <a:prstGeom prst="rect">
            <a:avLst/>
          </a:prstGeom>
          <a:noFill/>
          <a:ln>
            <a:noFill/>
          </a:ln>
        </p:spPr>
      </p:pic>
      <p:sp>
        <p:nvSpPr>
          <p:cNvPr id="327" name="Google Shape;327;p10"/>
          <p:cNvSpPr/>
          <p:nvPr/>
        </p:nvSpPr>
        <p:spPr>
          <a:xfrm>
            <a:off x="393192" y="228600"/>
            <a:ext cx="2743200" cy="219456"/>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31D7F7"/>
              </a:buClr>
              <a:buSzPts val="950"/>
              <a:buFont typeface="Arial"/>
              <a:buNone/>
            </a:pPr>
            <a:r>
              <a:rPr b="1" i="0" lang="en-US" sz="1200" u="none" cap="none" strike="noStrike">
                <a:solidFill>
                  <a:srgbClr val="31D7F7"/>
                </a:solidFill>
                <a:latin typeface="Arial"/>
                <a:ea typeface="Arial"/>
                <a:cs typeface="Arial"/>
                <a:sym typeface="Arial"/>
              </a:rPr>
              <a:t>FinRadar AI | Round 2</a:t>
            </a:r>
            <a:endParaRPr b="0" i="0" sz="1200" u="none" cap="none" strike="noStrike">
              <a:solidFill>
                <a:schemeClr val="dk1"/>
              </a:solidFill>
              <a:latin typeface="Arial"/>
              <a:ea typeface="Arial"/>
              <a:cs typeface="Arial"/>
              <a:sym typeface="Arial"/>
            </a:endParaRPr>
          </a:p>
        </p:txBody>
      </p:sp>
      <p:pic>
        <p:nvPicPr>
          <p:cNvPr descr="/mnt/data/ironhack-logo.png" id="328" name="Google Shape;328;p10"/>
          <p:cNvPicPr preferRelativeResize="0"/>
          <p:nvPr/>
        </p:nvPicPr>
        <p:blipFill rotWithShape="1">
          <a:blip r:embed="rId4">
            <a:alphaModFix/>
          </a:blip>
          <a:srcRect b="0" l="0" r="0" t="0"/>
          <a:stretch/>
        </p:blipFill>
        <p:spPr>
          <a:xfrm>
            <a:off x="10469880" y="173736"/>
            <a:ext cx="1234440" cy="201168"/>
          </a:xfrm>
          <a:prstGeom prst="rect">
            <a:avLst/>
          </a:prstGeom>
          <a:noFill/>
          <a:ln>
            <a:noFill/>
          </a:ln>
        </p:spPr>
      </p:pic>
      <p:cxnSp>
        <p:nvCxnSpPr>
          <p:cNvPr id="329" name="Google Shape;329;p10"/>
          <p:cNvCxnSpPr/>
          <p:nvPr/>
        </p:nvCxnSpPr>
        <p:spPr>
          <a:xfrm>
            <a:off x="393192" y="6473952"/>
            <a:ext cx="11384280" cy="0"/>
          </a:xfrm>
          <a:prstGeom prst="straightConnector1">
            <a:avLst/>
          </a:prstGeom>
          <a:noFill/>
          <a:ln cap="flat" cmpd="sng" w="12700">
            <a:solidFill>
              <a:srgbClr val="1A3949"/>
            </a:solidFill>
            <a:prstDash val="solid"/>
            <a:round/>
            <a:headEnd len="sm" w="sm" type="none"/>
            <a:tailEnd len="sm" w="sm" type="none"/>
          </a:ln>
        </p:spPr>
      </p:cxnSp>
      <p:sp>
        <p:nvSpPr>
          <p:cNvPr id="330" name="Google Shape;330;p10"/>
          <p:cNvSpPr/>
          <p:nvPr/>
        </p:nvSpPr>
        <p:spPr>
          <a:xfrm>
            <a:off x="530350" y="6342429"/>
            <a:ext cx="2240400" cy="310800"/>
          </a:xfrm>
          <a:prstGeom prst="rect">
            <a:avLst/>
          </a:prstGeom>
          <a:noFill/>
          <a:ln>
            <a:noFill/>
          </a:ln>
        </p:spPr>
        <p:txBody>
          <a:bodyPr anchorCtr="0" anchor="ctr" bIns="500" lIns="500" spcFirstLastPara="1" rIns="500" wrap="square" tIns="500">
            <a:normAutofit/>
          </a:bodyPr>
          <a:lstStyle/>
          <a:p>
            <a:pPr indent="0" lvl="0" marL="0" marR="0" rtl="0" algn="l">
              <a:lnSpc>
                <a:spcPct val="100000"/>
              </a:lnSpc>
              <a:spcBef>
                <a:spcPts val="0"/>
              </a:spcBef>
              <a:spcAft>
                <a:spcPts val="0"/>
              </a:spcAft>
              <a:buClr>
                <a:srgbClr val="A7BED1"/>
              </a:buClr>
              <a:buSzPts val="900"/>
              <a:buFont typeface="Arial"/>
              <a:buNone/>
            </a:pPr>
            <a:r>
              <a:rPr b="0" i="0" lang="en-US" sz="900" u="none" cap="none" strike="noStrike">
                <a:solidFill>
                  <a:srgbClr val="A7BED1"/>
                </a:solidFill>
                <a:latin typeface="Arial"/>
                <a:ea typeface="Arial"/>
                <a:cs typeface="Arial"/>
                <a:sym typeface="Arial"/>
              </a:rPr>
              <a:t>AI Assists - Humans Decide</a:t>
            </a:r>
            <a:endParaRPr b="0" i="0" sz="900" u="none" cap="none" strike="noStrike">
              <a:solidFill>
                <a:schemeClr val="dk1"/>
              </a:solidFill>
              <a:latin typeface="Arial"/>
              <a:ea typeface="Arial"/>
              <a:cs typeface="Arial"/>
              <a:sym typeface="Arial"/>
            </a:endParaRPr>
          </a:p>
        </p:txBody>
      </p:sp>
      <p:sp>
        <p:nvSpPr>
          <p:cNvPr id="331" name="Google Shape;331;p10"/>
          <p:cNvSpPr/>
          <p:nvPr/>
        </p:nvSpPr>
        <p:spPr>
          <a:xfrm>
            <a:off x="11475720" y="6528816"/>
            <a:ext cx="320040" cy="201168"/>
          </a:xfrm>
          <a:prstGeom prst="rect">
            <a:avLst/>
          </a:prstGeom>
          <a:noFill/>
          <a:ln>
            <a:noFill/>
          </a:ln>
        </p:spPr>
        <p:txBody>
          <a:bodyPr anchorCtr="0" anchor="ctr" bIns="500" lIns="500" spcFirstLastPara="1" rIns="500" wrap="square" tIns="500">
            <a:normAutofit/>
          </a:bodyPr>
          <a:lstStyle/>
          <a:p>
            <a:pPr indent="0" lvl="0" marL="0" marR="0" rtl="0" algn="r">
              <a:lnSpc>
                <a:spcPct val="100000"/>
              </a:lnSpc>
              <a:spcBef>
                <a:spcPts val="0"/>
              </a:spcBef>
              <a:spcAft>
                <a:spcPts val="0"/>
              </a:spcAft>
              <a:buClr>
                <a:srgbClr val="A7BED1"/>
              </a:buClr>
              <a:buSzPts val="900"/>
              <a:buFont typeface="Arial"/>
              <a:buNone/>
            </a:pPr>
            <a:r>
              <a:rPr b="0" i="0" lang="en-US" sz="1400" u="none" cap="none" strike="noStrike">
                <a:solidFill>
                  <a:srgbClr val="000000"/>
                </a:solidFill>
                <a:latin typeface="Arial"/>
                <a:ea typeface="Arial"/>
                <a:cs typeface="Arial"/>
                <a:sym typeface="Arial"/>
              </a:rPr>
              <a:t>11</a:t>
            </a:r>
            <a:endParaRPr b="0" i="0" sz="900" u="none" cap="none" strike="noStrike">
              <a:solidFill>
                <a:schemeClr val="dk1"/>
              </a:solidFill>
              <a:latin typeface="Arial"/>
              <a:ea typeface="Arial"/>
              <a:cs typeface="Arial"/>
              <a:sym typeface="Arial"/>
            </a:endParaRPr>
          </a:p>
        </p:txBody>
      </p:sp>
      <p:sp>
        <p:nvSpPr>
          <p:cNvPr id="332" name="Google Shape;332;p10"/>
          <p:cNvSpPr/>
          <p:nvPr/>
        </p:nvSpPr>
        <p:spPr>
          <a:xfrm>
            <a:off x="530350" y="658375"/>
            <a:ext cx="5669400" cy="6585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4FAFF"/>
              </a:buClr>
              <a:buSzPts val="3400"/>
              <a:buFont typeface="Arial"/>
              <a:buNone/>
            </a:pPr>
            <a:r>
              <a:rPr b="1" i="0" lang="en-US" sz="3400" u="none" cap="none" strike="noStrike">
                <a:solidFill>
                  <a:srgbClr val="F4FAFF"/>
                </a:solidFill>
                <a:latin typeface="Arial"/>
                <a:ea typeface="Arial"/>
                <a:cs typeface="Arial"/>
                <a:sym typeface="Arial"/>
              </a:rPr>
              <a:t>Recommendation to Chleo</a:t>
            </a:r>
            <a:endParaRPr b="0" i="0" sz="3400" u="none" cap="none" strike="noStrike">
              <a:solidFill>
                <a:schemeClr val="dk1"/>
              </a:solidFill>
              <a:latin typeface="Arial"/>
              <a:ea typeface="Arial"/>
              <a:cs typeface="Arial"/>
              <a:sym typeface="Arial"/>
            </a:endParaRPr>
          </a:p>
        </p:txBody>
      </p:sp>
      <p:sp>
        <p:nvSpPr>
          <p:cNvPr id="333" name="Google Shape;333;p10"/>
          <p:cNvSpPr/>
          <p:nvPr/>
        </p:nvSpPr>
        <p:spPr>
          <a:xfrm>
            <a:off x="530352" y="1664208"/>
            <a:ext cx="7040880" cy="658368"/>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D7E8FA"/>
              </a:buClr>
              <a:buSzPts val="2300"/>
              <a:buFont typeface="Arial"/>
              <a:buNone/>
            </a:pPr>
            <a:r>
              <a:rPr b="1" i="0" lang="en-US" sz="2300" u="none" cap="none" strike="noStrike">
                <a:solidFill>
                  <a:srgbClr val="D7E8FA"/>
                </a:solidFill>
                <a:latin typeface="Arial"/>
                <a:ea typeface="Arial"/>
                <a:cs typeface="Arial"/>
                <a:sym typeface="Arial"/>
              </a:rPr>
              <a:t>Proceed to a controlled 60-day analyst pilot — not autonomous production deployment.</a:t>
            </a:r>
            <a:endParaRPr b="0" i="0" sz="2300" u="none" cap="none" strike="noStrike">
              <a:solidFill>
                <a:schemeClr val="dk1"/>
              </a:solidFill>
              <a:latin typeface="Arial"/>
              <a:ea typeface="Arial"/>
              <a:cs typeface="Arial"/>
              <a:sym typeface="Arial"/>
            </a:endParaRPr>
          </a:p>
        </p:txBody>
      </p:sp>
      <p:sp>
        <p:nvSpPr>
          <p:cNvPr id="334" name="Google Shape;334;p10"/>
          <p:cNvSpPr/>
          <p:nvPr/>
        </p:nvSpPr>
        <p:spPr>
          <a:xfrm>
            <a:off x="8458200" y="1298448"/>
            <a:ext cx="1828800" cy="1828800"/>
          </a:xfrm>
          <a:prstGeom prst="roundRect">
            <a:avLst>
              <a:gd fmla="val 3000" name="adj"/>
            </a:avLst>
          </a:prstGeom>
          <a:solidFill>
            <a:srgbClr val="061724">
              <a:alpha val="0"/>
            </a:srgbClr>
          </a:solidFill>
          <a:ln cap="flat" cmpd="sng" w="10150">
            <a:solidFill>
              <a:srgbClr val="173545"/>
            </a:solidFill>
            <a:prstDash val="solid"/>
            <a:round/>
            <a:headEnd len="sm" w="sm" type="none"/>
            <a:tailEnd len="sm" w="sm" type="none"/>
          </a:ln>
          <a:effectLst>
            <a:outerShdw blurRad="25400" rotWithShape="0" algn="bl" dir="2700000" dist="50800">
              <a:srgbClr val="000000">
                <a:alpha val="2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mnt/data/finradar_logo_transparent.png" id="335" name="Google Shape;335;p10"/>
          <p:cNvPicPr preferRelativeResize="0"/>
          <p:nvPr/>
        </p:nvPicPr>
        <p:blipFill rotWithShape="1">
          <a:blip r:embed="rId5">
            <a:alphaModFix/>
          </a:blip>
          <a:srcRect b="0" l="0" r="0" t="0"/>
          <a:stretch/>
        </p:blipFill>
        <p:spPr>
          <a:xfrm>
            <a:off x="7646725" y="931225"/>
            <a:ext cx="4389125" cy="5059087"/>
          </a:xfrm>
          <a:prstGeom prst="rect">
            <a:avLst/>
          </a:prstGeom>
          <a:noFill/>
          <a:ln>
            <a:noFill/>
          </a:ln>
        </p:spPr>
      </p:pic>
      <p:sp>
        <p:nvSpPr>
          <p:cNvPr id="336" name="Google Shape;336;p10"/>
          <p:cNvSpPr/>
          <p:nvPr/>
        </p:nvSpPr>
        <p:spPr>
          <a:xfrm>
            <a:off x="530352" y="2743200"/>
            <a:ext cx="6766560" cy="713232"/>
          </a:xfrm>
          <a:prstGeom prst="roundRect">
            <a:avLst>
              <a:gd fmla="val 8974" name="adj"/>
            </a:avLst>
          </a:prstGeom>
          <a:solidFill>
            <a:srgbClr val="0D3146"/>
          </a:solidFill>
          <a:ln cap="flat" cmpd="sng" w="11425">
            <a:solidFill>
              <a:srgbClr val="1B83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10"/>
          <p:cNvSpPr/>
          <p:nvPr/>
        </p:nvSpPr>
        <p:spPr>
          <a:xfrm>
            <a:off x="694950" y="2743198"/>
            <a:ext cx="6437400" cy="4479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4FAFF"/>
              </a:buClr>
              <a:buSzPts val="1350"/>
              <a:buFont typeface="Arial"/>
              <a:buNone/>
            </a:pPr>
            <a:r>
              <a:rPr b="1" i="0" lang="en-US" sz="1350" u="none" cap="none" strike="noStrike">
                <a:solidFill>
                  <a:srgbClr val="F4FAFF"/>
                </a:solidFill>
                <a:latin typeface="Arial"/>
                <a:ea typeface="Arial"/>
                <a:cs typeface="Arial"/>
                <a:sym typeface="Arial"/>
              </a:rPr>
              <a:t>Business value</a:t>
            </a:r>
            <a:endParaRPr b="0" i="0" sz="1350" u="none" cap="none" strike="noStrike">
              <a:solidFill>
                <a:schemeClr val="dk1"/>
              </a:solidFill>
              <a:latin typeface="Arial"/>
              <a:ea typeface="Arial"/>
              <a:cs typeface="Arial"/>
              <a:sym typeface="Arial"/>
            </a:endParaRPr>
          </a:p>
        </p:txBody>
      </p:sp>
      <p:sp>
        <p:nvSpPr>
          <p:cNvPr id="338" name="Google Shape;338;p10"/>
          <p:cNvSpPr/>
          <p:nvPr/>
        </p:nvSpPr>
        <p:spPr>
          <a:xfrm>
            <a:off x="694950" y="3118130"/>
            <a:ext cx="6437400" cy="201300"/>
          </a:xfrm>
          <a:prstGeom prst="rect">
            <a:avLst/>
          </a:prstGeom>
          <a:noFill/>
          <a:ln>
            <a:noFill/>
          </a:ln>
        </p:spPr>
        <p:txBody>
          <a:bodyPr anchorCtr="0" anchor="t" bIns="250" lIns="250" spcFirstLastPara="1" rIns="250" wrap="square" tIns="250">
            <a:normAutofit/>
          </a:bodyPr>
          <a:lstStyle/>
          <a:p>
            <a:pPr indent="0" lvl="0" marL="0" marR="0" rtl="0" algn="l">
              <a:lnSpc>
                <a:spcPct val="100000"/>
              </a:lnSpc>
              <a:spcBef>
                <a:spcPts val="0"/>
              </a:spcBef>
              <a:spcAft>
                <a:spcPts val="0"/>
              </a:spcAft>
              <a:buClr>
                <a:srgbClr val="A7BED1"/>
              </a:buClr>
              <a:buSzPts val="1450"/>
              <a:buFont typeface="Arial"/>
              <a:buNone/>
            </a:pPr>
            <a:r>
              <a:rPr b="0" i="0" lang="en-US" sz="1450" u="none" cap="none" strike="noStrike">
                <a:solidFill>
                  <a:srgbClr val="A7BED1"/>
                </a:solidFill>
                <a:latin typeface="Arial"/>
                <a:ea typeface="Arial"/>
                <a:cs typeface="Arial"/>
                <a:sym typeface="Arial"/>
              </a:rPr>
              <a:t>Reduce repetitive news-triage work and surface risk signals faster.</a:t>
            </a:r>
            <a:endParaRPr b="0" i="0" sz="1450" u="none" cap="none" strike="noStrike">
              <a:solidFill>
                <a:schemeClr val="dk1"/>
              </a:solidFill>
              <a:latin typeface="Arial"/>
              <a:ea typeface="Arial"/>
              <a:cs typeface="Arial"/>
              <a:sym typeface="Arial"/>
            </a:endParaRPr>
          </a:p>
        </p:txBody>
      </p:sp>
      <p:sp>
        <p:nvSpPr>
          <p:cNvPr id="339" name="Google Shape;339;p10"/>
          <p:cNvSpPr/>
          <p:nvPr/>
        </p:nvSpPr>
        <p:spPr>
          <a:xfrm>
            <a:off x="530352" y="3730752"/>
            <a:ext cx="6766560" cy="713232"/>
          </a:xfrm>
          <a:prstGeom prst="roundRect">
            <a:avLst>
              <a:gd fmla="val 8974" name="adj"/>
            </a:avLst>
          </a:prstGeom>
          <a:solidFill>
            <a:srgbClr val="0D3146"/>
          </a:solidFill>
          <a:ln cap="flat" cmpd="sng" w="11425">
            <a:solidFill>
              <a:srgbClr val="31D7F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10"/>
          <p:cNvSpPr/>
          <p:nvPr/>
        </p:nvSpPr>
        <p:spPr>
          <a:xfrm>
            <a:off x="694950" y="3730898"/>
            <a:ext cx="6437400" cy="4479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4FAFF"/>
              </a:buClr>
              <a:buSzPts val="1350"/>
              <a:buFont typeface="Arial"/>
              <a:buNone/>
            </a:pPr>
            <a:r>
              <a:rPr b="1" i="0" lang="en-US" sz="1350" u="none" cap="none" strike="noStrike">
                <a:solidFill>
                  <a:srgbClr val="F4FAFF"/>
                </a:solidFill>
                <a:latin typeface="Arial"/>
                <a:ea typeface="Arial"/>
                <a:cs typeface="Arial"/>
                <a:sym typeface="Arial"/>
              </a:rPr>
              <a:t>Compliance posture</a:t>
            </a:r>
            <a:endParaRPr b="0" i="0" sz="1350" u="none" cap="none" strike="noStrike">
              <a:solidFill>
                <a:schemeClr val="dk1"/>
              </a:solidFill>
              <a:latin typeface="Arial"/>
              <a:ea typeface="Arial"/>
              <a:cs typeface="Arial"/>
              <a:sym typeface="Arial"/>
            </a:endParaRPr>
          </a:p>
        </p:txBody>
      </p:sp>
      <p:sp>
        <p:nvSpPr>
          <p:cNvPr id="341" name="Google Shape;341;p10"/>
          <p:cNvSpPr/>
          <p:nvPr/>
        </p:nvSpPr>
        <p:spPr>
          <a:xfrm>
            <a:off x="694950" y="4123951"/>
            <a:ext cx="6437400" cy="183000"/>
          </a:xfrm>
          <a:prstGeom prst="rect">
            <a:avLst/>
          </a:prstGeom>
          <a:noFill/>
          <a:ln>
            <a:noFill/>
          </a:ln>
        </p:spPr>
        <p:txBody>
          <a:bodyPr anchorCtr="0" anchor="t" bIns="250" lIns="250" spcFirstLastPara="1" rIns="250" wrap="square" tIns="250">
            <a:normAutofit/>
          </a:bodyPr>
          <a:lstStyle/>
          <a:p>
            <a:pPr indent="0" lvl="0" marL="0" marR="0" rtl="0" algn="l">
              <a:lnSpc>
                <a:spcPct val="100000"/>
              </a:lnSpc>
              <a:spcBef>
                <a:spcPts val="0"/>
              </a:spcBef>
              <a:spcAft>
                <a:spcPts val="0"/>
              </a:spcAft>
              <a:buClr>
                <a:srgbClr val="A7BED1"/>
              </a:buClr>
              <a:buSzPts val="1450"/>
              <a:buFont typeface="Arial"/>
              <a:buNone/>
            </a:pPr>
            <a:r>
              <a:rPr b="0" i="0" lang="en-US" sz="1450" u="none" cap="none" strike="noStrike">
                <a:solidFill>
                  <a:srgbClr val="A7BED1"/>
                </a:solidFill>
                <a:latin typeface="Arial"/>
                <a:ea typeface="Arial"/>
                <a:cs typeface="Arial"/>
                <a:sym typeface="Arial"/>
              </a:rPr>
              <a:t>Current intended use is analyst assistance with human review and clear limits.</a:t>
            </a:r>
            <a:endParaRPr b="0" i="0" sz="1450" u="none" cap="none" strike="noStrike">
              <a:solidFill>
                <a:schemeClr val="dk1"/>
              </a:solidFill>
              <a:latin typeface="Arial"/>
              <a:ea typeface="Arial"/>
              <a:cs typeface="Arial"/>
              <a:sym typeface="Arial"/>
            </a:endParaRPr>
          </a:p>
        </p:txBody>
      </p:sp>
      <p:sp>
        <p:nvSpPr>
          <p:cNvPr id="342" name="Google Shape;342;p10"/>
          <p:cNvSpPr/>
          <p:nvPr/>
        </p:nvSpPr>
        <p:spPr>
          <a:xfrm>
            <a:off x="530352" y="4718304"/>
            <a:ext cx="6766560" cy="713232"/>
          </a:xfrm>
          <a:prstGeom prst="roundRect">
            <a:avLst>
              <a:gd fmla="val 8974" name="adj"/>
            </a:avLst>
          </a:prstGeom>
          <a:solidFill>
            <a:srgbClr val="0D3146"/>
          </a:solidFill>
          <a:ln cap="flat" cmpd="sng" w="11425">
            <a:solidFill>
              <a:srgbClr val="2EEA9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10"/>
          <p:cNvSpPr/>
          <p:nvPr/>
        </p:nvSpPr>
        <p:spPr>
          <a:xfrm>
            <a:off x="694950" y="4718446"/>
            <a:ext cx="6437400" cy="4479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F4FAFF"/>
              </a:buClr>
              <a:buSzPts val="1350"/>
              <a:buFont typeface="Arial"/>
              <a:buNone/>
            </a:pPr>
            <a:r>
              <a:rPr b="1" i="0" lang="en-US" sz="1800" u="none" cap="none" strike="noStrike">
                <a:solidFill>
                  <a:srgbClr val="F4FAFF"/>
                </a:solidFill>
                <a:latin typeface="Arial"/>
                <a:ea typeface="Arial"/>
                <a:cs typeface="Arial"/>
                <a:sym typeface="Arial"/>
              </a:rPr>
              <a:t>Next step</a:t>
            </a:r>
            <a:endParaRPr b="0" i="0" sz="1800" u="none" cap="none" strike="noStrike">
              <a:solidFill>
                <a:schemeClr val="dk1"/>
              </a:solidFill>
              <a:latin typeface="Arial"/>
              <a:ea typeface="Arial"/>
              <a:cs typeface="Arial"/>
              <a:sym typeface="Arial"/>
            </a:endParaRPr>
          </a:p>
        </p:txBody>
      </p:sp>
      <p:sp>
        <p:nvSpPr>
          <p:cNvPr id="344" name="Google Shape;344;p10"/>
          <p:cNvSpPr/>
          <p:nvPr/>
        </p:nvSpPr>
        <p:spPr>
          <a:xfrm>
            <a:off x="694950" y="5074923"/>
            <a:ext cx="6437400" cy="219600"/>
          </a:xfrm>
          <a:prstGeom prst="rect">
            <a:avLst/>
          </a:prstGeom>
          <a:noFill/>
          <a:ln>
            <a:noFill/>
          </a:ln>
        </p:spPr>
        <p:txBody>
          <a:bodyPr anchorCtr="0" anchor="t" bIns="250" lIns="250" spcFirstLastPara="1" rIns="250" wrap="square" tIns="250">
            <a:normAutofit/>
          </a:bodyPr>
          <a:lstStyle/>
          <a:p>
            <a:pPr indent="0" lvl="0" marL="0" marR="0" rtl="0" algn="l">
              <a:lnSpc>
                <a:spcPct val="100000"/>
              </a:lnSpc>
              <a:spcBef>
                <a:spcPts val="0"/>
              </a:spcBef>
              <a:spcAft>
                <a:spcPts val="0"/>
              </a:spcAft>
              <a:buClr>
                <a:srgbClr val="A7BED1"/>
              </a:buClr>
              <a:buSzPts val="1450"/>
              <a:buFont typeface="Arial"/>
              <a:buNone/>
            </a:pPr>
            <a:r>
              <a:rPr b="0" i="0" lang="en-US" sz="1450" u="none" cap="none" strike="noStrike">
                <a:solidFill>
                  <a:srgbClr val="A7BED1"/>
                </a:solidFill>
                <a:latin typeface="Arial"/>
                <a:ea typeface="Arial"/>
                <a:cs typeface="Arial"/>
                <a:sym typeface="Arial"/>
              </a:rPr>
              <a:t>Validate ROI, accuracy, workflow adoption and governance before production.</a:t>
            </a:r>
            <a:endParaRPr b="0" i="0" sz="1450" u="none" cap="none" strike="noStrike">
              <a:solidFill>
                <a:schemeClr val="dk1"/>
              </a:solidFill>
              <a:latin typeface="Arial"/>
              <a:ea typeface="Arial"/>
              <a:cs typeface="Arial"/>
              <a:sym typeface="Arial"/>
            </a:endParaRPr>
          </a:p>
        </p:txBody>
      </p:sp>
      <p:sp>
        <p:nvSpPr>
          <p:cNvPr id="345" name="Google Shape;345;p10"/>
          <p:cNvSpPr/>
          <p:nvPr/>
        </p:nvSpPr>
        <p:spPr>
          <a:xfrm>
            <a:off x="530352" y="5897880"/>
            <a:ext cx="4389120" cy="310896"/>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31D7F7"/>
              </a:buClr>
              <a:buSzPts val="2200"/>
              <a:buFont typeface="Arial"/>
              <a:buNone/>
            </a:pPr>
            <a:r>
              <a:rPr b="1" i="0" lang="en-US" sz="2200" u="none" cap="none" strike="noStrike">
                <a:solidFill>
                  <a:srgbClr val="31D7F7"/>
                </a:solidFill>
                <a:latin typeface="Arial"/>
                <a:ea typeface="Arial"/>
                <a:cs typeface="Arial"/>
                <a:sym typeface="Arial"/>
              </a:rPr>
              <a:t>AI Assists - Humans Decide</a:t>
            </a:r>
            <a:endParaRPr b="0" i="0" sz="2200" u="none" cap="none" strike="noStrike">
              <a:solidFill>
                <a:schemeClr val="dk1"/>
              </a:solidFill>
              <a:latin typeface="Arial"/>
              <a:ea typeface="Arial"/>
              <a:cs typeface="Arial"/>
              <a:sym typeface="Arial"/>
            </a:endParaRPr>
          </a:p>
        </p:txBody>
      </p:sp>
      <p:sp>
        <p:nvSpPr>
          <p:cNvPr id="346" name="Google Shape;346;p10"/>
          <p:cNvSpPr/>
          <p:nvPr/>
        </p:nvSpPr>
        <p:spPr>
          <a:xfrm>
            <a:off x="530350" y="6291075"/>
            <a:ext cx="2834700" cy="362100"/>
          </a:xfrm>
          <a:prstGeom prst="rect">
            <a:avLst/>
          </a:prstGeom>
          <a:noFill/>
          <a:ln>
            <a:noFill/>
          </a:ln>
        </p:spPr>
        <p:txBody>
          <a:bodyPr anchorCtr="0" anchor="ctr" bIns="0" lIns="0" spcFirstLastPara="1" rIns="0" wrap="square" tIns="0">
            <a:normAutofit/>
          </a:bodyPr>
          <a:lstStyle/>
          <a:p>
            <a:pPr indent="0" lvl="0" marL="0" marR="0" rtl="0" algn="l">
              <a:lnSpc>
                <a:spcPct val="100000"/>
              </a:lnSpc>
              <a:spcBef>
                <a:spcPts val="0"/>
              </a:spcBef>
              <a:spcAft>
                <a:spcPts val="0"/>
              </a:spcAft>
              <a:buClr>
                <a:srgbClr val="A7BED1"/>
              </a:buClr>
              <a:buSzPts val="1000"/>
              <a:buFont typeface="Arial"/>
              <a:buNone/>
            </a:pPr>
            <a:r>
              <a:t/>
            </a:r>
            <a:endParaRPr b="0" i="0" sz="12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2026-09-03T23:43:24Z</dcterms:created>
  <dc:creator>Parisa Dehghani</dc:creator>
</cp:coreProperties>
</file>